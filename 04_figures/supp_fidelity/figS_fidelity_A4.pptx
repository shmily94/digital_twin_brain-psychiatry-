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fidelity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614837" y="2984531"/>
            <a:ext cx="231457" cy="119186"/>
          </a:xfrm>
          <a:prstGeom prst="rect">
            <a:avLst/>
          </a:prstGeom>
          <a:noFill/>
        </p:spPr>
        <p:txBody>
          <a:bodyPr wrap="none" anchor="ctr" lIns="0" rIns="0" tIns="0" bIns="0">
            <a:noAutofit/>
          </a:bodyPr>
          <a:lstStyle/>
          <a:p>
            <a:pPr algn="ctr"/>
            <a:r>
              <a:rPr sz="800" b="0" i="0">
                <a:solidFill>
                  <a:srgbClr val="000000"/>
                </a:solidFill>
                <a:latin typeface="Arial"/>
              </a:rPr>
              <a:t>MID</a:t>
            </a:r>
          </a:p>
        </p:txBody>
      </p:sp>
      <p:sp>
        <p:nvSpPr>
          <p:cNvPr id="4" name="TextBox 3"/>
          <p:cNvSpPr txBox="1"/>
          <p:nvPr/>
        </p:nvSpPr>
        <p:spPr>
          <a:xfrm>
            <a:off x="2733489" y="2984531"/>
            <a:ext cx="242887" cy="119186"/>
          </a:xfrm>
          <a:prstGeom prst="rect">
            <a:avLst/>
          </a:prstGeom>
          <a:noFill/>
        </p:spPr>
        <p:txBody>
          <a:bodyPr wrap="none" anchor="ctr" lIns="0" rIns="0" tIns="0" bIns="0">
            <a:noAutofit/>
          </a:bodyPr>
          <a:lstStyle/>
          <a:p>
            <a:pPr algn="ctr"/>
            <a:r>
              <a:rPr sz="800" b="0" i="0">
                <a:solidFill>
                  <a:srgbClr val="000000"/>
                </a:solidFill>
                <a:latin typeface="Arial"/>
              </a:rPr>
              <a:t>SST</a:t>
            </a:r>
          </a:p>
        </p:txBody>
      </p:sp>
      <p:sp>
        <p:nvSpPr>
          <p:cNvPr id="5" name="TextBox 4"/>
          <p:cNvSpPr txBox="1"/>
          <p:nvPr/>
        </p:nvSpPr>
        <p:spPr>
          <a:xfrm rot="16200000">
            <a:off x="-120485" y="1626428"/>
            <a:ext cx="1880235" cy="347143"/>
          </a:xfrm>
          <a:prstGeom prst="rect">
            <a:avLst/>
          </a:prstGeom>
          <a:noFill/>
        </p:spPr>
        <p:txBody>
          <a:bodyPr wrap="none" anchor="ctr" lIns="0" rIns="0" tIns="0" bIns="0">
            <a:noAutofit/>
          </a:bodyPr>
          <a:lstStyle/>
          <a:p>
            <a:pPr algn="ctr"/>
            <a:r>
              <a:rPr sz="1000" b="0" i="0">
                <a:solidFill>
                  <a:srgbClr val="000000"/>
                </a:solidFill>
                <a:latin typeface="Arial"/>
              </a:rPr>
              <a:t>Simulated-empirical BOLD
correlation</a:t>
            </a:r>
          </a:p>
        </p:txBody>
      </p:sp>
      <p:sp>
        <p:nvSpPr>
          <p:cNvPr id="6" name="TextBox 5"/>
          <p:cNvSpPr txBox="1"/>
          <p:nvPr/>
        </p:nvSpPr>
        <p:spPr>
          <a:xfrm>
            <a:off x="966744" y="2903097"/>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7" name="TextBox 6"/>
          <p:cNvSpPr txBox="1"/>
          <p:nvPr/>
        </p:nvSpPr>
        <p:spPr>
          <a:xfrm>
            <a:off x="966744" y="2442297"/>
            <a:ext cx="171450" cy="119186"/>
          </a:xfrm>
          <a:prstGeom prst="rect">
            <a:avLst/>
          </a:prstGeom>
          <a:noFill/>
        </p:spPr>
        <p:txBody>
          <a:bodyPr wrap="none" anchor="ctr" lIns="0" rIns="0" tIns="0" bIns="0">
            <a:noAutofit/>
          </a:bodyPr>
          <a:lstStyle/>
          <a:p>
            <a:pPr algn="r"/>
            <a:r>
              <a:rPr sz="800" b="0" i="0">
                <a:solidFill>
                  <a:srgbClr val="000000"/>
                </a:solidFill>
                <a:latin typeface="Arial"/>
              </a:rPr>
              <a:t>0.2</a:t>
            </a:r>
          </a:p>
        </p:txBody>
      </p:sp>
      <p:sp>
        <p:nvSpPr>
          <p:cNvPr id="8" name="TextBox 7"/>
          <p:cNvSpPr txBox="1"/>
          <p:nvPr/>
        </p:nvSpPr>
        <p:spPr>
          <a:xfrm>
            <a:off x="966744" y="1981497"/>
            <a:ext cx="171450" cy="119186"/>
          </a:xfrm>
          <a:prstGeom prst="rect">
            <a:avLst/>
          </a:prstGeom>
          <a:noFill/>
        </p:spPr>
        <p:txBody>
          <a:bodyPr wrap="none" anchor="ctr" lIns="0" rIns="0" tIns="0" bIns="0">
            <a:noAutofit/>
          </a:bodyPr>
          <a:lstStyle/>
          <a:p>
            <a:pPr algn="r"/>
            <a:r>
              <a:rPr sz="800" b="0" i="0">
                <a:solidFill>
                  <a:srgbClr val="000000"/>
                </a:solidFill>
                <a:latin typeface="Arial"/>
              </a:rPr>
              <a:t>0.4</a:t>
            </a:r>
          </a:p>
        </p:txBody>
      </p:sp>
      <p:sp>
        <p:nvSpPr>
          <p:cNvPr id="9" name="TextBox 8"/>
          <p:cNvSpPr txBox="1"/>
          <p:nvPr/>
        </p:nvSpPr>
        <p:spPr>
          <a:xfrm>
            <a:off x="966744" y="1520697"/>
            <a:ext cx="171450" cy="119186"/>
          </a:xfrm>
          <a:prstGeom prst="rect">
            <a:avLst/>
          </a:prstGeom>
          <a:noFill/>
        </p:spPr>
        <p:txBody>
          <a:bodyPr wrap="none" anchor="ctr" lIns="0" rIns="0" tIns="0" bIns="0">
            <a:noAutofit/>
          </a:bodyPr>
          <a:lstStyle/>
          <a:p>
            <a:pPr algn="r"/>
            <a:r>
              <a:rPr sz="800" b="0" i="0">
                <a:solidFill>
                  <a:srgbClr val="000000"/>
                </a:solidFill>
                <a:latin typeface="Arial"/>
              </a:rPr>
              <a:t>0.6</a:t>
            </a:r>
          </a:p>
        </p:txBody>
      </p:sp>
      <p:sp>
        <p:nvSpPr>
          <p:cNvPr id="10" name="TextBox 9"/>
          <p:cNvSpPr txBox="1"/>
          <p:nvPr/>
        </p:nvSpPr>
        <p:spPr>
          <a:xfrm>
            <a:off x="966744" y="1059897"/>
            <a:ext cx="171450" cy="119186"/>
          </a:xfrm>
          <a:prstGeom prst="rect">
            <a:avLst/>
          </a:prstGeom>
          <a:noFill/>
        </p:spPr>
        <p:txBody>
          <a:bodyPr wrap="none" anchor="ctr" lIns="0" rIns="0" tIns="0" bIns="0">
            <a:noAutofit/>
          </a:bodyPr>
          <a:lstStyle/>
          <a:p>
            <a:pPr algn="r"/>
            <a:r>
              <a:rPr sz="800" b="0" i="0">
                <a:solidFill>
                  <a:srgbClr val="000000"/>
                </a:solidFill>
                <a:latin typeface="Arial"/>
              </a:rPr>
              <a:t>0.8</a:t>
            </a:r>
          </a:p>
        </p:txBody>
      </p:sp>
      <p:sp>
        <p:nvSpPr>
          <p:cNvPr id="11" name="TextBox 10"/>
          <p:cNvSpPr txBox="1"/>
          <p:nvPr/>
        </p:nvSpPr>
        <p:spPr>
          <a:xfrm>
            <a:off x="966744" y="599097"/>
            <a:ext cx="17145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12" name="TextBox 11"/>
          <p:cNvSpPr txBox="1"/>
          <p:nvPr/>
        </p:nvSpPr>
        <p:spPr>
          <a:xfrm>
            <a:off x="1194990" y="3135921"/>
            <a:ext cx="1082992" cy="119186"/>
          </a:xfrm>
          <a:prstGeom prst="rect">
            <a:avLst/>
          </a:prstGeom>
          <a:noFill/>
        </p:spPr>
        <p:txBody>
          <a:bodyPr wrap="none" anchor="ctr" lIns="0" rIns="0" tIns="0" bIns="0">
            <a:noAutofit/>
          </a:bodyPr>
          <a:lstStyle/>
          <a:p>
            <a:pPr algn="l"/>
            <a:r>
              <a:rPr sz="800" b="0" i="0">
                <a:solidFill>
                  <a:srgbClr val="000000"/>
                </a:solidFill>
                <a:latin typeface="Arial"/>
              </a:rPr>
              <a:t>Assimilated regions</a:t>
            </a:r>
          </a:p>
        </p:txBody>
      </p:sp>
      <p:sp>
        <p:nvSpPr>
          <p:cNvPr id="13" name="TextBox 12"/>
          <p:cNvSpPr txBox="1"/>
          <p:nvPr/>
        </p:nvSpPr>
        <p:spPr>
          <a:xfrm>
            <a:off x="1236710" y="3256670"/>
            <a:ext cx="665797" cy="119186"/>
          </a:xfrm>
          <a:prstGeom prst="rect">
            <a:avLst/>
          </a:prstGeom>
          <a:noFill/>
        </p:spPr>
        <p:txBody>
          <a:bodyPr wrap="none" anchor="ctr" lIns="0" rIns="0" tIns="0" bIns="0">
            <a:noAutofit/>
          </a:bodyPr>
          <a:lstStyle/>
          <a:p>
            <a:pPr algn="l"/>
            <a:r>
              <a:rPr sz="800" b="0" i="0">
                <a:solidFill>
                  <a:srgbClr val="000000"/>
                </a:solidFill>
                <a:latin typeface="Arial"/>
              </a:rPr>
              <a:t>Whole brain</a:t>
            </a:r>
          </a:p>
        </p:txBody>
      </p:sp>
      <p:sp>
        <p:nvSpPr>
          <p:cNvPr id="14" name="TextBox 13"/>
          <p:cNvSpPr txBox="1"/>
          <p:nvPr/>
        </p:nvSpPr>
        <p:spPr>
          <a:xfrm>
            <a:off x="5076084" y="2760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15" name="TextBox 14"/>
          <p:cNvSpPr txBox="1"/>
          <p:nvPr/>
        </p:nvSpPr>
        <p:spPr>
          <a:xfrm>
            <a:off x="5790225" y="2760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16" name="TextBox 15"/>
          <p:cNvSpPr txBox="1"/>
          <p:nvPr/>
        </p:nvSpPr>
        <p:spPr>
          <a:xfrm>
            <a:off x="6504366" y="2760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17" name="TextBox 16"/>
          <p:cNvSpPr txBox="1"/>
          <p:nvPr/>
        </p:nvSpPr>
        <p:spPr>
          <a:xfrm>
            <a:off x="5076084" y="2248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18" name="TextBox 17"/>
          <p:cNvSpPr txBox="1"/>
          <p:nvPr/>
        </p:nvSpPr>
        <p:spPr>
          <a:xfrm>
            <a:off x="5790225" y="2248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19" name="TextBox 18"/>
          <p:cNvSpPr txBox="1"/>
          <p:nvPr/>
        </p:nvSpPr>
        <p:spPr>
          <a:xfrm>
            <a:off x="6504366" y="2248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20" name="TextBox 19"/>
          <p:cNvSpPr txBox="1"/>
          <p:nvPr/>
        </p:nvSpPr>
        <p:spPr>
          <a:xfrm>
            <a:off x="5076084" y="1736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21" name="TextBox 20"/>
          <p:cNvSpPr txBox="1"/>
          <p:nvPr/>
        </p:nvSpPr>
        <p:spPr>
          <a:xfrm>
            <a:off x="5790225" y="1736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22" name="TextBox 21"/>
          <p:cNvSpPr txBox="1"/>
          <p:nvPr/>
        </p:nvSpPr>
        <p:spPr>
          <a:xfrm>
            <a:off x="6504366" y="1736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23" name="TextBox 22"/>
          <p:cNvSpPr txBox="1"/>
          <p:nvPr/>
        </p:nvSpPr>
        <p:spPr>
          <a:xfrm>
            <a:off x="5076084" y="1224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24" name="TextBox 23"/>
          <p:cNvSpPr txBox="1"/>
          <p:nvPr/>
        </p:nvSpPr>
        <p:spPr>
          <a:xfrm>
            <a:off x="5790225" y="1224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25" name="TextBox 24"/>
          <p:cNvSpPr txBox="1"/>
          <p:nvPr/>
        </p:nvSpPr>
        <p:spPr>
          <a:xfrm>
            <a:off x="6504366" y="1224881"/>
            <a:ext cx="145732" cy="119186"/>
          </a:xfrm>
          <a:prstGeom prst="rect">
            <a:avLst/>
          </a:prstGeom>
          <a:noFill/>
        </p:spPr>
        <p:txBody>
          <a:bodyPr wrap="none" anchor="ctr" lIns="0" rIns="0" tIns="0" bIns="0">
            <a:noAutofit/>
          </a:bodyPr>
          <a:lstStyle/>
          <a:p>
            <a:pPr algn="ctr"/>
            <a:r>
              <a:rPr sz="800" b="0" i="0">
                <a:solidFill>
                  <a:srgbClr val="000000"/>
                </a:solidFill>
                <a:latin typeface="Arial"/>
              </a:rPr>
              <a:t>***</a:t>
            </a:r>
          </a:p>
        </p:txBody>
      </p:sp>
      <p:sp>
        <p:nvSpPr>
          <p:cNvPr id="26" name="TextBox 25"/>
          <p:cNvSpPr txBox="1"/>
          <p:nvPr/>
        </p:nvSpPr>
        <p:spPr>
          <a:xfrm>
            <a:off x="4947497" y="2984531"/>
            <a:ext cx="402907" cy="119186"/>
          </a:xfrm>
          <a:prstGeom prst="rect">
            <a:avLst/>
          </a:prstGeom>
          <a:noFill/>
        </p:spPr>
        <p:txBody>
          <a:bodyPr wrap="none" anchor="ctr" lIns="0" rIns="0" tIns="0" bIns="0">
            <a:noAutofit/>
          </a:bodyPr>
          <a:lstStyle/>
          <a:p>
            <a:pPr algn="ctr"/>
            <a:r>
              <a:rPr sz="800" b="0" i="0">
                <a:solidFill>
                  <a:srgbClr val="000000"/>
                </a:solidFill>
                <a:latin typeface="Arial"/>
              </a:rPr>
              <a:t>Big win</a:t>
            </a:r>
          </a:p>
        </p:txBody>
      </p:sp>
      <p:sp>
        <p:nvSpPr>
          <p:cNvPr id="27" name="TextBox 26"/>
          <p:cNvSpPr txBox="1"/>
          <p:nvPr/>
        </p:nvSpPr>
        <p:spPr>
          <a:xfrm>
            <a:off x="5594486" y="2984531"/>
            <a:ext cx="537210" cy="119186"/>
          </a:xfrm>
          <a:prstGeom prst="rect">
            <a:avLst/>
          </a:prstGeom>
          <a:noFill/>
        </p:spPr>
        <p:txBody>
          <a:bodyPr wrap="none" anchor="ctr" lIns="0" rIns="0" tIns="0" bIns="0">
            <a:noAutofit/>
          </a:bodyPr>
          <a:lstStyle/>
          <a:p>
            <a:pPr algn="ctr"/>
            <a:r>
              <a:rPr sz="800" b="0" i="0">
                <a:solidFill>
                  <a:srgbClr val="000000"/>
                </a:solidFill>
                <a:latin typeface="Arial"/>
              </a:rPr>
              <a:t>Small win</a:t>
            </a:r>
          </a:p>
        </p:txBody>
      </p:sp>
      <p:sp>
        <p:nvSpPr>
          <p:cNvPr id="28" name="TextBox 27"/>
          <p:cNvSpPr txBox="1"/>
          <p:nvPr/>
        </p:nvSpPr>
        <p:spPr>
          <a:xfrm>
            <a:off x="6385780" y="2984531"/>
            <a:ext cx="382905" cy="119186"/>
          </a:xfrm>
          <a:prstGeom prst="rect">
            <a:avLst/>
          </a:prstGeom>
          <a:noFill/>
        </p:spPr>
        <p:txBody>
          <a:bodyPr wrap="none" anchor="ctr" lIns="0" rIns="0" tIns="0" bIns="0">
            <a:noAutofit/>
          </a:bodyPr>
          <a:lstStyle/>
          <a:p>
            <a:pPr algn="ctr"/>
            <a:r>
              <a:rPr sz="800" b="0" i="0">
                <a:solidFill>
                  <a:srgbClr val="000000"/>
                </a:solidFill>
                <a:latin typeface="Arial"/>
              </a:rPr>
              <a:t>No win</a:t>
            </a:r>
          </a:p>
        </p:txBody>
      </p:sp>
      <p:sp>
        <p:nvSpPr>
          <p:cNvPr id="29" name="TextBox 28"/>
          <p:cNvSpPr txBox="1"/>
          <p:nvPr/>
        </p:nvSpPr>
        <p:spPr>
          <a:xfrm>
            <a:off x="4162814" y="2444274"/>
            <a:ext cx="554355" cy="276448"/>
          </a:xfrm>
          <a:prstGeom prst="rect">
            <a:avLst/>
          </a:prstGeom>
          <a:noFill/>
        </p:spPr>
        <p:txBody>
          <a:bodyPr wrap="none" anchor="ctr" lIns="0" rIns="0" tIns="0" bIns="0">
            <a:noAutofit/>
          </a:bodyPr>
          <a:lstStyle/>
          <a:p>
            <a:pPr algn="r"/>
            <a:r>
              <a:rPr sz="800" b="0" i="0">
                <a:solidFill>
                  <a:srgbClr val="000000"/>
                </a:solidFill>
                <a:latin typeface="Arial"/>
              </a:rPr>
              <a:t>Simulated
feedback</a:t>
            </a:r>
          </a:p>
        </p:txBody>
      </p:sp>
      <p:sp>
        <p:nvSpPr>
          <p:cNvPr id="30" name="TextBox 29"/>
          <p:cNvSpPr txBox="1"/>
          <p:nvPr/>
        </p:nvSpPr>
        <p:spPr>
          <a:xfrm>
            <a:off x="4095948" y="1932274"/>
            <a:ext cx="628650" cy="276448"/>
          </a:xfrm>
          <a:prstGeom prst="rect">
            <a:avLst/>
          </a:prstGeom>
          <a:noFill/>
        </p:spPr>
        <p:txBody>
          <a:bodyPr wrap="none" anchor="ctr" lIns="0" rIns="0" tIns="0" bIns="0">
            <a:noAutofit/>
          </a:bodyPr>
          <a:lstStyle/>
          <a:p>
            <a:pPr algn="r"/>
            <a:r>
              <a:rPr sz="800" b="0" i="0">
                <a:solidFill>
                  <a:srgbClr val="000000"/>
                </a:solidFill>
                <a:latin typeface="Arial"/>
              </a:rPr>
              <a:t>Simulated
anticipation</a:t>
            </a:r>
          </a:p>
        </p:txBody>
      </p:sp>
      <p:sp>
        <p:nvSpPr>
          <p:cNvPr id="31" name="TextBox 30"/>
          <p:cNvSpPr txBox="1"/>
          <p:nvPr/>
        </p:nvSpPr>
        <p:spPr>
          <a:xfrm>
            <a:off x="4196246" y="1420274"/>
            <a:ext cx="517207" cy="276448"/>
          </a:xfrm>
          <a:prstGeom prst="rect">
            <a:avLst/>
          </a:prstGeom>
          <a:noFill/>
        </p:spPr>
        <p:txBody>
          <a:bodyPr wrap="none" anchor="ctr" lIns="0" rIns="0" tIns="0" bIns="0">
            <a:noAutofit/>
          </a:bodyPr>
          <a:lstStyle/>
          <a:p>
            <a:pPr algn="r"/>
            <a:r>
              <a:rPr sz="800" b="0" i="0">
                <a:solidFill>
                  <a:srgbClr val="000000"/>
                </a:solidFill>
                <a:latin typeface="Arial"/>
              </a:rPr>
              <a:t>Empirical
feedback</a:t>
            </a:r>
          </a:p>
        </p:txBody>
      </p:sp>
      <p:sp>
        <p:nvSpPr>
          <p:cNvPr id="32" name="TextBox 31"/>
          <p:cNvSpPr txBox="1"/>
          <p:nvPr/>
        </p:nvSpPr>
        <p:spPr>
          <a:xfrm>
            <a:off x="4095948" y="908274"/>
            <a:ext cx="628650" cy="276448"/>
          </a:xfrm>
          <a:prstGeom prst="rect">
            <a:avLst/>
          </a:prstGeom>
          <a:noFill/>
        </p:spPr>
        <p:txBody>
          <a:bodyPr wrap="none" anchor="ctr" lIns="0" rIns="0" tIns="0" bIns="0">
            <a:noAutofit/>
          </a:bodyPr>
          <a:lstStyle/>
          <a:p>
            <a:pPr algn="r"/>
            <a:r>
              <a:rPr sz="800" b="0" i="0">
                <a:solidFill>
                  <a:srgbClr val="000000"/>
                </a:solidFill>
                <a:latin typeface="Arial"/>
              </a:rPr>
              <a:t>Empirical
anticipation</a:t>
            </a:r>
          </a:p>
        </p:txBody>
      </p:sp>
      <p:sp>
        <p:nvSpPr>
          <p:cNvPr id="33" name="TextBox 32"/>
          <p:cNvSpPr txBox="1"/>
          <p:nvPr/>
        </p:nvSpPr>
        <p:spPr>
          <a:xfrm>
            <a:off x="4015838" y="2967729"/>
            <a:ext cx="374332" cy="119186"/>
          </a:xfrm>
          <a:prstGeom prst="rect">
            <a:avLst/>
          </a:prstGeom>
          <a:noFill/>
        </p:spPr>
        <p:txBody>
          <a:bodyPr wrap="none" anchor="ctr" lIns="0" rIns="0" tIns="0" bIns="0">
            <a:noAutofit/>
          </a:bodyPr>
          <a:lstStyle/>
          <a:p>
            <a:pPr algn="l"/>
            <a:r>
              <a:rPr sz="800" b="0" i="0">
                <a:solidFill>
                  <a:srgbClr val="000000"/>
                </a:solidFill>
                <a:latin typeface="Arial"/>
              </a:rPr>
              <a:t>r = 0.2</a:t>
            </a:r>
          </a:p>
        </p:txBody>
      </p:sp>
      <p:sp>
        <p:nvSpPr>
          <p:cNvPr id="34" name="TextBox 33"/>
          <p:cNvSpPr txBox="1"/>
          <p:nvPr/>
        </p:nvSpPr>
        <p:spPr>
          <a:xfrm>
            <a:off x="4015838" y="3108798"/>
            <a:ext cx="374332" cy="119186"/>
          </a:xfrm>
          <a:prstGeom prst="rect">
            <a:avLst/>
          </a:prstGeom>
          <a:noFill/>
        </p:spPr>
        <p:txBody>
          <a:bodyPr wrap="none" anchor="ctr" lIns="0" rIns="0" tIns="0" bIns="0">
            <a:noAutofit/>
          </a:bodyPr>
          <a:lstStyle/>
          <a:p>
            <a:pPr algn="l"/>
            <a:r>
              <a:rPr sz="800" b="0" i="0">
                <a:solidFill>
                  <a:srgbClr val="000000"/>
                </a:solidFill>
                <a:latin typeface="Arial"/>
              </a:rPr>
              <a:t>r = 0.4</a:t>
            </a:r>
          </a:p>
        </p:txBody>
      </p:sp>
      <p:sp>
        <p:nvSpPr>
          <p:cNvPr id="35" name="TextBox 34"/>
          <p:cNvSpPr txBox="1"/>
          <p:nvPr/>
        </p:nvSpPr>
        <p:spPr>
          <a:xfrm>
            <a:off x="530284" y="431122"/>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36" name="TextBox 35"/>
          <p:cNvSpPr txBox="1"/>
          <p:nvPr/>
        </p:nvSpPr>
        <p:spPr>
          <a:xfrm>
            <a:off x="3698723" y="431122"/>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37" name="TextBox 36"/>
          <p:cNvSpPr txBox="1"/>
          <p:nvPr/>
        </p:nvSpPr>
        <p:spPr>
          <a:xfrm>
            <a:off x="540000" y="3690000"/>
            <a:ext cx="6480000" cy="2302199"/>
          </a:xfrm>
          <a:prstGeom prst="rect">
            <a:avLst/>
          </a:prstGeom>
          <a:noFill/>
        </p:spPr>
        <p:txBody>
          <a:bodyPr wrap="square" lIns="0" rIns="0" tIns="0" bIns="0">
            <a:spAutoFit/>
          </a:bodyPr>
          <a:lstStyle/>
          <a:p>
            <a:pPr algn="l"/>
            <a:r>
              <a:rPr sz="800" b="1">
                <a:latin typeface="Arial"/>
              </a:rPr>
              <a:t>Supplementary Fig. S4 | Fidelity of the simulated regional BOLD signals and of the behaviour their connectivity predicts. </a:t>
            </a:r>
            <a:r>
              <a:rPr sz="800" b="0">
                <a:latin typeface="Arial"/>
              </a:rPr>
              <a:t>Both panels are the same n = 288 participants, the sample retained after the mean framewise displacement &lt; 0.5 mm criterion. Panel a is descriptive and carries no test; panel b carries only the significance symbol (*** P &lt; 0.001, ** P &lt; 0.01, * P &lt; 0.05, n.s. not significant). The coefficients are given below, and the per-participant BOLD correlations and all 32 prediction models are in bold_cc_n288.csv and cpm_predict_perf_n288.csv. </a:t>
            </a:r>
            <a:r>
              <a:rPr sz="800" b="1">
                <a:latin typeface="Arial"/>
              </a:rPr>
              <a:t>a,</a:t>
            </a:r>
            <a:r>
              <a:rPr sz="800" b="0">
                <a:latin typeface="Arial"/>
              </a:rPr>
              <a:t> correlation between the simulated and the empirical regional BOLD time series in each participant, evaluated over the regions whose empirical signals entered the data assimilation and over all regions of the brain, for the monetary incentive delay task (MID) and the stop-signal task (SST). Boxes are the median and interquartile range with whiskers at 1.5 x IQR, one point per participant. MID assimilated regions 0.899 +/- 0.014 (median 0.901, range 0.850 to 0.934), MID whole brain 0.394 +/- 0.068 (median 0.386, range 0.189 to 0.607); SST assimilated regions 0.910 +/- 0.017 (median 0.911, range 0.776 to 0.951), SST whole brain 0.426 +/- 0.093 (median 0.418, range 0.087 to 0.766). Within participant the assimilated regions exceed the whole brain by 0.505 +/- 0.061 in MID and 0.485 +/- 0.086 in SST. No test is reported for this difference because the two quantities are not comparable in kind: the assimilated signals are the fitting target of the assimilation, whereas the whole-brain value is the out-of-sample agreement over regions the model was never fitted to. </a:t>
            </a:r>
            <a:r>
              <a:rPr sz="800" b="1">
                <a:latin typeface="Arial"/>
              </a:rPr>
              <a:t>b,</a:t>
            </a:r>
            <a:r>
              <a:rPr sz="800" b="0">
                <a:latin typeface="Arial"/>
              </a:rPr>
              <a:t> connectome-based predictive modelling (CPM) of MID response time, trained and tested by leave-one-out cross-validation on whole-brain task-state functional connectivity with an edge-selection threshold of P &lt; 0.01; accuracy is Spearman's correlation between predicted and observed response time, averaged over the positive- and negative-edge models. Bubble area is proportional to r, open for empirical connectivity and filled for simulated. Empirical anticipation: big win r = 0.429 (P &lt; 0.001), small win r = 0.427 (P &lt; 0.001), no win r = 0.441 (P &lt; 0.001). Empirical feedback: big win r = 0.426 (P &lt; 0.001), small win r = 0.398 (P &lt; 0.001), no win r = 0.405 (P &lt; 0.001). Simulated anticipation: big win r = 0.474 (P &lt; 0.001), small win r = 0.500 (P &lt; 0.001), no win r = 0.446 (P &lt; 0.001). Simulated feedback: big win r = 0.475 (P &lt; 0.001), small win r = 0.495 (P &lt; 0.001), no win r = 0.463 (P &lt; 0.001). Response time is predicted well above chance from every one of the four connectivity sources and in all three conditions. </a:t>
            </a:r>
            <a:r>
              <a:rPr sz="800" b="0">
                <a:latin typeface="Arial"/>
              </a:rPr>
              <a:t>The prediction tests in b are two-sided and uncorrected. The accuracy (hit-rate) targets and the two difference contrasts (big-win minus no-win, small-win minus no-win) were fitted with the same pipeline and are tabulated in the source file; they are predicted far less well than response time from either connectivity source.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