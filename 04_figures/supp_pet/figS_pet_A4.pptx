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pet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99237" y="8838854"/>
            <a:ext cx="3057525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Hedges' g (negative profile − other regions)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7051" y="87213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84941" y="87213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4262" y="87213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2152" y="87213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0042" y="87213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931" y="87213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5821" y="87213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9681" y="588882"/>
            <a:ext cx="13687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5-HT1a · cumi · beliveau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8567" y="794667"/>
            <a:ext cx="11144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5-HT1a · way · savli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553" y="1000452"/>
            <a:ext cx="12344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az · beliveau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2276" y="1206237"/>
            <a:ext cx="11658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p943 · savli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827" y="1412022"/>
            <a:ext cx="134302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5-HT1b · p943 · gallezot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0863" y="1617807"/>
            <a:ext cx="102298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alt · savli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3964" y="1823592"/>
            <a:ext cx="13973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cimbi · beliveau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278" y="2029377"/>
            <a:ext cx="114585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5-HT2a · mdl · talbot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831" y="2235162"/>
            <a:ext cx="13030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5-HT4 · sb20 · beliveau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18" y="2440947"/>
            <a:ext cx="15544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5-HT6 · gsk · radhakrishnan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166" y="2646732"/>
            <a:ext cx="13093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dasb · beliveau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3475" y="2852517"/>
            <a:ext cx="10978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dasb · savli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457" y="3058302"/>
            <a:ext cx="1257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5-HTT · madam · fazio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253" y="3264087"/>
            <a:ext cx="13658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A4B2 · flubatine · hillmer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937" y="3469872"/>
            <a:ext cx="16373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CB1 · FMPEPd2 · laurikainen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399" y="3675657"/>
            <a:ext cx="134016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CB1 · omar · normandin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9118" y="3881442"/>
            <a:ext cx="12915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D1 · SCH23390 · kaller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966" y="4087227"/>
            <a:ext cx="13773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fallypride · jaworska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3435" y="4293012"/>
            <a:ext cx="10201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flb457 · smith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841" y="4498797"/>
            <a:ext cx="122301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flb457 · sandiego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681" y="4704582"/>
            <a:ext cx="13687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D2 · raclopride · alakurtti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2804" y="4910367"/>
            <a:ext cx="11541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DAT · fepe2i · sasaki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965" y="5116152"/>
            <a:ext cx="98842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DAT · fpcit · spect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98" y="5321937"/>
            <a:ext cx="1598056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FDOPA · fluorodopa · gomez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107" y="5527722"/>
            <a:ext cx="15960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GABA-A · flumazenil · dukart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490" y="5733507"/>
            <a:ext cx="19989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GABA-A (bz) · flumazenil · norgaard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9428" y="5939292"/>
            <a:ext cx="108013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H3 · cban · gallezot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5708" y="6145077"/>
            <a:ext cx="11287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M1 · lsn · naganawa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809" y="6350862"/>
            <a:ext cx="150304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MU · carfentanil · kantonen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72" y="6556647"/>
            <a:ext cx="14487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MU · carfentanil · turtonen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4813" y="6762432"/>
            <a:ext cx="10741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NAT · MRB · hesse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2252" y="6968217"/>
            <a:ext cx="97699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NAT · MRB · 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566" y="7174002"/>
            <a:ext cx="131887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NMDA · ge179 · galovic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911" y="7379787"/>
            <a:ext cx="1468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aghourian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5916" y="7585572"/>
            <a:ext cx="142848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tuominen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9073" y="7791357"/>
            <a:ext cx="130275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737373"/>
                </a:solidFill>
                <a:latin typeface="Arial"/>
              </a:rPr>
              <a:t>VAChT · feobv · bedard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09" y="7997142"/>
            <a:ext cx="137160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rosaneto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2551" y="8202927"/>
            <a:ext cx="1254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dubois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8843" y="8408712"/>
            <a:ext cx="12030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262626"/>
                </a:solidFill>
                <a:latin typeface="Arial"/>
              </a:rPr>
              <a:t>mGluR5 · abp · smart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0664" y="516762"/>
            <a:ext cx="534352" cy="13544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q &lt; 0.05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50954" y="659548"/>
            <a:ext cx="231457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n.s.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0000" y="9113400"/>
            <a:ext cx="6480000" cy="14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S10 | Receptor and transporter availability in the negative-profile regions, across 39 PET maps. </a:t>
            </a:r>
            <a:r>
              <a:rPr sz="800" b="0">
                <a:latin typeface="Arial"/>
              </a:rPr>
              <a:t>Each row is one PET map from the neuromaps collection. The unit of observation is one Shen-268 region: the 32 regions plotted as the negative profile are the nodes of its 29 edges, a superset of the 19 nodes of the 12-edge NP factor, and are compared with the remaining 236 regions. x, Hedges' g for the difference in mean regional value (negative profile minus other regions); a filled marker marks a map that survives correction, an open one a map that does not; the map name is printed in black or grey to match. The test is a permutation test on the difference in means: the region labels are reassigned at random 10,000 times with the group sizes held at 32 and 236, and the two-sided P value is (#|null| &gt;= |observed| + 1) / (10,000 + 1). P values are corrected across all 39 maps with the Benjamini-Hochberg FDR, and 11 maps reach q &lt; 0.05, all of them in the direction of higher availability in the negative-profile regions: 5-HT1a way savli (g = 0.52, q = 0.030), 5-HT2a alt savli (g = 0.54, q = 0.030), 5-HT2a cimbi beliveau (g = 0.54, q = 0.030), 5-HT2a mdl talbot (g = 0.55, q = 0.030), M1 lsn naganawa (g = 0.57, q = 0.030), mGluR5 abp rosaneto (g = 0.54, q = 0.030), mGluR5 abp dubois (g = 0.58, q = 0.030), mGluR5 abp smart (g = 0.61, q = 0.030), 5-HT1a cumi beliveau (g = 0.50, q = 0.039), CB1 FMPEPd2 laurikainen (g = 0.49, q = 0.039), 5-HT6 gsk radhakrishnan (g = 0.49, q = 0.041). Every map is shown, so the selection is visible: the effect sizes of the maps that do not survive run from -0.30 to +0.41. The region set carries the negative-profile colour rather than the NP-factor blue of the main figures because it is defined on the 29-edge profile; repeating the test on the 19 NP-factor nodes alone leaves 6 maps below q = 0.05.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