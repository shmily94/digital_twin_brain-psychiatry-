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S_midnp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1373117" y="906370"/>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4" name="TextBox 3"/>
          <p:cNvSpPr txBox="1"/>
          <p:nvPr/>
        </p:nvSpPr>
        <p:spPr>
          <a:xfrm>
            <a:off x="1581948" y="707221"/>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5" name="TextBox 4"/>
          <p:cNvSpPr txBox="1"/>
          <p:nvPr/>
        </p:nvSpPr>
        <p:spPr>
          <a:xfrm rot="18900000">
            <a:off x="727111" y="2729648"/>
            <a:ext cx="608647" cy="148983"/>
          </a:xfrm>
          <a:prstGeom prst="rect">
            <a:avLst/>
          </a:prstGeom>
          <a:noFill/>
        </p:spPr>
        <p:txBody>
          <a:bodyPr wrap="none" anchor="ctr" lIns="0" rIns="0" tIns="0" bIns="0">
            <a:noAutofit/>
          </a:bodyPr>
          <a:lstStyle/>
          <a:p>
            <a:pPr algn="r"/>
            <a:r>
              <a:rPr sz="1000" b="0" i="0">
                <a:solidFill>
                  <a:srgbClr val="000000"/>
                </a:solidFill>
                <a:latin typeface="Arial"/>
              </a:rPr>
              <a:t>Baseline</a:t>
            </a:r>
          </a:p>
        </p:txBody>
      </p:sp>
      <p:sp>
        <p:nvSpPr>
          <p:cNvPr id="6" name="TextBox 5"/>
          <p:cNvSpPr txBox="1"/>
          <p:nvPr/>
        </p:nvSpPr>
        <p:spPr>
          <a:xfrm rot="18900000">
            <a:off x="1203214" y="2708533"/>
            <a:ext cx="533995" cy="148983"/>
          </a:xfrm>
          <a:prstGeom prst="rect">
            <a:avLst/>
          </a:prstGeom>
          <a:noFill/>
        </p:spPr>
        <p:txBody>
          <a:bodyPr wrap="none" anchor="ctr" lIns="0" rIns="0" tIns="0" bIns="0">
            <a:noAutofit/>
          </a:bodyPr>
          <a:lstStyle/>
          <a:p>
            <a:pPr algn="r"/>
            <a:r>
              <a:rPr sz="1000" b="0" i="0">
                <a:solidFill>
                  <a:srgbClr val="000000"/>
                </a:solidFill>
                <a:latin typeface="Arial"/>
              </a:rPr>
              <a:t>+AMPA</a:t>
            </a:r>
          </a:p>
        </p:txBody>
      </p:sp>
      <p:sp>
        <p:nvSpPr>
          <p:cNvPr id="7" name="TextBox 6"/>
          <p:cNvSpPr txBox="1"/>
          <p:nvPr/>
        </p:nvSpPr>
        <p:spPr>
          <a:xfrm rot="18900000">
            <a:off x="1492641" y="2754359"/>
            <a:ext cx="697230" cy="150566"/>
          </a:xfrm>
          <a:prstGeom prst="rect">
            <a:avLst/>
          </a:prstGeom>
          <a:noFill/>
        </p:spPr>
        <p:txBody>
          <a:bodyPr wrap="none" anchor="ctr" lIns="0" rIns="0" tIns="0" bIns="0">
            <a:noAutofit/>
          </a:bodyPr>
          <a:lstStyle/>
          <a:p>
            <a:pPr algn="r"/>
            <a:r>
              <a:rPr sz="1000" b="0" i="0">
                <a:solidFill>
                  <a:srgbClr val="000000"/>
                </a:solidFill>
                <a:latin typeface="Arial"/>
              </a:rPr>
              <a:t>+GABA-A</a:t>
            </a:r>
          </a:p>
        </p:txBody>
      </p:sp>
      <p:sp>
        <p:nvSpPr>
          <p:cNvPr id="8" name="TextBox 7"/>
          <p:cNvSpPr txBox="1"/>
          <p:nvPr/>
        </p:nvSpPr>
        <p:spPr>
          <a:xfrm rot="16200000">
            <a:off x="135211" y="1508716"/>
            <a:ext cx="1211580" cy="150566"/>
          </a:xfrm>
          <a:prstGeom prst="rect">
            <a:avLst/>
          </a:prstGeom>
          <a:noFill/>
        </p:spPr>
        <p:txBody>
          <a:bodyPr wrap="none" anchor="ctr" lIns="0" rIns="0" tIns="0" bIns="0">
            <a:noAutofit/>
          </a:bodyPr>
          <a:lstStyle/>
          <a:p>
            <a:pPr algn="ctr"/>
            <a:r>
              <a:rPr sz="1000" b="0" i="0">
                <a:solidFill>
                  <a:srgbClr val="000000"/>
                </a:solidFill>
                <a:latin typeface="Arial"/>
              </a:rPr>
              <a:t>MID summed FC</a:t>
            </a:r>
          </a:p>
        </p:txBody>
      </p:sp>
      <p:sp>
        <p:nvSpPr>
          <p:cNvPr id="9" name="TextBox 8"/>
          <p:cNvSpPr txBox="1"/>
          <p:nvPr/>
        </p:nvSpPr>
        <p:spPr>
          <a:xfrm>
            <a:off x="842026" y="2751649"/>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10" name="TextBox 9"/>
          <p:cNvSpPr txBox="1"/>
          <p:nvPr/>
        </p:nvSpPr>
        <p:spPr>
          <a:xfrm>
            <a:off x="842026" y="2356763"/>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1" name="TextBox 10"/>
          <p:cNvSpPr txBox="1"/>
          <p:nvPr/>
        </p:nvSpPr>
        <p:spPr>
          <a:xfrm>
            <a:off x="880602" y="1961877"/>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12" name="TextBox 11"/>
          <p:cNvSpPr txBox="1"/>
          <p:nvPr/>
        </p:nvSpPr>
        <p:spPr>
          <a:xfrm>
            <a:off x="880602" y="1566991"/>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13" name="TextBox 12"/>
          <p:cNvSpPr txBox="1"/>
          <p:nvPr/>
        </p:nvSpPr>
        <p:spPr>
          <a:xfrm>
            <a:off x="880602" y="1172105"/>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14" name="TextBox 13"/>
          <p:cNvSpPr txBox="1"/>
          <p:nvPr/>
        </p:nvSpPr>
        <p:spPr>
          <a:xfrm>
            <a:off x="880602" y="777219"/>
            <a:ext cx="68580"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15" name="TextBox 14"/>
          <p:cNvSpPr txBox="1"/>
          <p:nvPr/>
        </p:nvSpPr>
        <p:spPr>
          <a:xfrm>
            <a:off x="880602" y="382332"/>
            <a:ext cx="68580" cy="119186"/>
          </a:xfrm>
          <a:prstGeom prst="rect">
            <a:avLst/>
          </a:prstGeom>
          <a:noFill/>
        </p:spPr>
        <p:txBody>
          <a:bodyPr wrap="none" anchor="ctr" lIns="0" rIns="0" tIns="0" bIns="0">
            <a:noAutofit/>
          </a:bodyPr>
          <a:lstStyle/>
          <a:p>
            <a:pPr algn="r"/>
            <a:r>
              <a:rPr sz="800" b="0" i="0">
                <a:solidFill>
                  <a:srgbClr val="000000"/>
                </a:solidFill>
                <a:latin typeface="Arial"/>
              </a:rPr>
              <a:t>8</a:t>
            </a:r>
          </a:p>
        </p:txBody>
      </p:sp>
      <p:sp>
        <p:nvSpPr>
          <p:cNvPr id="16" name="TextBox 15"/>
          <p:cNvSpPr txBox="1"/>
          <p:nvPr/>
        </p:nvSpPr>
        <p:spPr>
          <a:xfrm>
            <a:off x="3621891" y="1096388"/>
            <a:ext cx="108585"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17" name="TextBox 16"/>
          <p:cNvSpPr txBox="1"/>
          <p:nvPr/>
        </p:nvSpPr>
        <p:spPr>
          <a:xfrm>
            <a:off x="3971002" y="912634"/>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18" name="TextBox 17"/>
          <p:cNvSpPr txBox="1"/>
          <p:nvPr/>
        </p:nvSpPr>
        <p:spPr>
          <a:xfrm>
            <a:off x="3748583" y="728879"/>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19" name="TextBox 18"/>
          <p:cNvSpPr txBox="1"/>
          <p:nvPr/>
        </p:nvSpPr>
        <p:spPr>
          <a:xfrm>
            <a:off x="3224292" y="653311"/>
            <a:ext cx="548640" cy="134084"/>
          </a:xfrm>
          <a:prstGeom prst="rect">
            <a:avLst/>
          </a:prstGeom>
          <a:noFill/>
        </p:spPr>
        <p:txBody>
          <a:bodyPr wrap="none" anchor="ctr" lIns="0" rIns="0" tIns="0" bIns="0">
            <a:noAutofit/>
          </a:bodyPr>
          <a:lstStyle/>
          <a:p>
            <a:pPr algn="l"/>
            <a:r>
              <a:rPr sz="900" b="0" i="0">
                <a:solidFill>
                  <a:srgbClr val="000000"/>
                </a:solidFill>
                <a:latin typeface="Arial"/>
              </a:rPr>
              <a:t>Baseline</a:t>
            </a:r>
          </a:p>
        </p:txBody>
      </p:sp>
      <p:sp>
        <p:nvSpPr>
          <p:cNvPr id="20" name="TextBox 19"/>
          <p:cNvSpPr txBox="1"/>
          <p:nvPr/>
        </p:nvSpPr>
        <p:spPr>
          <a:xfrm rot="18900000">
            <a:off x="3266510" y="2621811"/>
            <a:ext cx="228600" cy="150566"/>
          </a:xfrm>
          <a:prstGeom prst="rect">
            <a:avLst/>
          </a:prstGeom>
          <a:noFill/>
        </p:spPr>
        <p:txBody>
          <a:bodyPr wrap="none" anchor="ctr" lIns="0" rIns="0" tIns="0" bIns="0">
            <a:noAutofit/>
          </a:bodyPr>
          <a:lstStyle/>
          <a:p>
            <a:pPr algn="r"/>
            <a:r>
              <a:rPr sz="1000" b="0" i="0">
                <a:solidFill>
                  <a:srgbClr val="000000"/>
                </a:solidFill>
                <a:latin typeface="Arial"/>
              </a:rPr>
              <a:t>HC</a:t>
            </a:r>
          </a:p>
        </p:txBody>
      </p:sp>
      <p:sp>
        <p:nvSpPr>
          <p:cNvPr id="21" name="TextBox 20"/>
          <p:cNvSpPr txBox="1"/>
          <p:nvPr/>
        </p:nvSpPr>
        <p:spPr>
          <a:xfrm rot="18900000">
            <a:off x="3014626" y="2849265"/>
            <a:ext cx="1031557" cy="148983"/>
          </a:xfrm>
          <a:prstGeom prst="rect">
            <a:avLst/>
          </a:prstGeom>
          <a:noFill/>
        </p:spPr>
        <p:txBody>
          <a:bodyPr wrap="none" anchor="ctr" lIns="0" rIns="0" tIns="0" bIns="0">
            <a:noAutofit/>
          </a:bodyPr>
          <a:lstStyle/>
          <a:p>
            <a:pPr algn="r"/>
            <a:r>
              <a:rPr sz="1000" b="0" i="0">
                <a:solidFill>
                  <a:srgbClr val="000000"/>
                </a:solidFill>
                <a:latin typeface="Arial"/>
              </a:rPr>
              <a:t>High-symptom</a:t>
            </a:r>
          </a:p>
        </p:txBody>
      </p:sp>
      <p:sp>
        <p:nvSpPr>
          <p:cNvPr id="22" name="TextBox 21"/>
          <p:cNvSpPr txBox="1"/>
          <p:nvPr/>
        </p:nvSpPr>
        <p:spPr>
          <a:xfrm rot="18900000">
            <a:off x="3809198" y="2698128"/>
            <a:ext cx="497204" cy="148983"/>
          </a:xfrm>
          <a:prstGeom prst="rect">
            <a:avLst/>
          </a:prstGeom>
          <a:noFill/>
        </p:spPr>
        <p:txBody>
          <a:bodyPr wrap="none" anchor="ctr" lIns="0" rIns="0" tIns="0" bIns="0">
            <a:noAutofit/>
          </a:bodyPr>
          <a:lstStyle/>
          <a:p>
            <a:pPr algn="r"/>
            <a:r>
              <a:rPr sz="1000" b="0" i="0">
                <a:solidFill>
                  <a:srgbClr val="000000"/>
                </a:solidFill>
                <a:latin typeface="Arial"/>
              </a:rPr>
              <a:t>Patient</a:t>
            </a:r>
          </a:p>
        </p:txBody>
      </p:sp>
      <p:sp>
        <p:nvSpPr>
          <p:cNvPr id="23" name="TextBox 22"/>
          <p:cNvSpPr txBox="1"/>
          <p:nvPr/>
        </p:nvSpPr>
        <p:spPr>
          <a:xfrm rot="16200000">
            <a:off x="2429754" y="1508716"/>
            <a:ext cx="1211580" cy="150566"/>
          </a:xfrm>
          <a:prstGeom prst="rect">
            <a:avLst/>
          </a:prstGeom>
          <a:noFill/>
        </p:spPr>
        <p:txBody>
          <a:bodyPr wrap="none" anchor="ctr" lIns="0" rIns="0" tIns="0" bIns="0">
            <a:noAutofit/>
          </a:bodyPr>
          <a:lstStyle/>
          <a:p>
            <a:pPr algn="ctr"/>
            <a:r>
              <a:rPr sz="1000" b="0" i="0">
                <a:solidFill>
                  <a:srgbClr val="000000"/>
                </a:solidFill>
                <a:latin typeface="Arial"/>
              </a:rPr>
              <a:t>MID summed FC</a:t>
            </a:r>
          </a:p>
        </p:txBody>
      </p:sp>
      <p:sp>
        <p:nvSpPr>
          <p:cNvPr id="24" name="TextBox 23"/>
          <p:cNvSpPr txBox="1"/>
          <p:nvPr/>
        </p:nvSpPr>
        <p:spPr>
          <a:xfrm>
            <a:off x="3110026" y="2713783"/>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25" name="TextBox 24"/>
          <p:cNvSpPr txBox="1"/>
          <p:nvPr/>
        </p:nvSpPr>
        <p:spPr>
          <a:xfrm>
            <a:off x="3110026" y="2372195"/>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26" name="TextBox 25"/>
          <p:cNvSpPr txBox="1"/>
          <p:nvPr/>
        </p:nvSpPr>
        <p:spPr>
          <a:xfrm>
            <a:off x="3148603" y="2030606"/>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27" name="TextBox 26"/>
          <p:cNvSpPr txBox="1"/>
          <p:nvPr/>
        </p:nvSpPr>
        <p:spPr>
          <a:xfrm>
            <a:off x="3148603" y="1689017"/>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28" name="TextBox 27"/>
          <p:cNvSpPr txBox="1"/>
          <p:nvPr/>
        </p:nvSpPr>
        <p:spPr>
          <a:xfrm>
            <a:off x="3148603" y="1347429"/>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29" name="TextBox 28"/>
          <p:cNvSpPr txBox="1"/>
          <p:nvPr/>
        </p:nvSpPr>
        <p:spPr>
          <a:xfrm>
            <a:off x="3148603" y="1005840"/>
            <a:ext cx="68580"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30" name="TextBox 29"/>
          <p:cNvSpPr txBox="1"/>
          <p:nvPr/>
        </p:nvSpPr>
        <p:spPr>
          <a:xfrm>
            <a:off x="3148603" y="664252"/>
            <a:ext cx="68580" cy="119186"/>
          </a:xfrm>
          <a:prstGeom prst="rect">
            <a:avLst/>
          </a:prstGeom>
          <a:noFill/>
        </p:spPr>
        <p:txBody>
          <a:bodyPr wrap="none" anchor="ctr" lIns="0" rIns="0" tIns="0" bIns="0">
            <a:noAutofit/>
          </a:bodyPr>
          <a:lstStyle/>
          <a:p>
            <a:pPr algn="r"/>
            <a:r>
              <a:rPr sz="800" b="0" i="0">
                <a:solidFill>
                  <a:srgbClr val="000000"/>
                </a:solidFill>
                <a:latin typeface="Arial"/>
              </a:rPr>
              <a:t>8</a:t>
            </a:r>
          </a:p>
        </p:txBody>
      </p:sp>
      <p:sp>
        <p:nvSpPr>
          <p:cNvPr id="31" name="TextBox 30"/>
          <p:cNvSpPr txBox="1"/>
          <p:nvPr/>
        </p:nvSpPr>
        <p:spPr>
          <a:xfrm>
            <a:off x="3086881" y="322663"/>
            <a:ext cx="137160" cy="119186"/>
          </a:xfrm>
          <a:prstGeom prst="rect">
            <a:avLst/>
          </a:prstGeom>
          <a:noFill/>
        </p:spPr>
        <p:txBody>
          <a:bodyPr wrap="none" anchor="ctr" lIns="0" rIns="0" tIns="0" bIns="0">
            <a:noAutofit/>
          </a:bodyPr>
          <a:lstStyle/>
          <a:p>
            <a:pPr algn="r"/>
            <a:r>
              <a:rPr sz="800" b="0" i="0">
                <a:solidFill>
                  <a:srgbClr val="000000"/>
                </a:solidFill>
                <a:latin typeface="Arial"/>
              </a:rPr>
              <a:t>10</a:t>
            </a:r>
          </a:p>
        </p:txBody>
      </p:sp>
      <p:sp>
        <p:nvSpPr>
          <p:cNvPr id="32" name="TextBox 31"/>
          <p:cNvSpPr txBox="1"/>
          <p:nvPr/>
        </p:nvSpPr>
        <p:spPr>
          <a:xfrm>
            <a:off x="4833529" y="1096388"/>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33" name="TextBox 32"/>
          <p:cNvSpPr txBox="1"/>
          <p:nvPr/>
        </p:nvSpPr>
        <p:spPr>
          <a:xfrm>
            <a:off x="5298370" y="912634"/>
            <a:ext cx="54292"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34" name="TextBox 33"/>
          <p:cNvSpPr txBox="1"/>
          <p:nvPr/>
        </p:nvSpPr>
        <p:spPr>
          <a:xfrm>
            <a:off x="5021658" y="728879"/>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35" name="TextBox 34"/>
          <p:cNvSpPr txBox="1"/>
          <p:nvPr/>
        </p:nvSpPr>
        <p:spPr>
          <a:xfrm>
            <a:off x="4479499" y="653311"/>
            <a:ext cx="727323" cy="134084"/>
          </a:xfrm>
          <a:prstGeom prst="rect">
            <a:avLst/>
          </a:prstGeom>
          <a:noFill/>
        </p:spPr>
        <p:txBody>
          <a:bodyPr wrap="none" anchor="ctr" lIns="0" rIns="0" tIns="0" bIns="0">
            <a:noAutofit/>
          </a:bodyPr>
          <a:lstStyle/>
          <a:p>
            <a:pPr algn="l"/>
            <a:r>
              <a:rPr sz="900" b="0" i="0">
                <a:solidFill>
                  <a:srgbClr val="000000"/>
                </a:solidFill>
                <a:latin typeface="Arial"/>
              </a:rPr>
              <a:t>After AMPA</a:t>
            </a:r>
          </a:p>
        </p:txBody>
      </p:sp>
      <p:sp>
        <p:nvSpPr>
          <p:cNvPr id="36" name="TextBox 35"/>
          <p:cNvSpPr txBox="1"/>
          <p:nvPr/>
        </p:nvSpPr>
        <p:spPr>
          <a:xfrm rot="18900000">
            <a:off x="4539585" y="2621811"/>
            <a:ext cx="228600" cy="150566"/>
          </a:xfrm>
          <a:prstGeom prst="rect">
            <a:avLst/>
          </a:prstGeom>
          <a:noFill/>
        </p:spPr>
        <p:txBody>
          <a:bodyPr wrap="none" anchor="ctr" lIns="0" rIns="0" tIns="0" bIns="0">
            <a:noAutofit/>
          </a:bodyPr>
          <a:lstStyle/>
          <a:p>
            <a:pPr algn="r"/>
            <a:r>
              <a:rPr sz="1000" b="0" i="0">
                <a:solidFill>
                  <a:srgbClr val="000000"/>
                </a:solidFill>
                <a:latin typeface="Arial"/>
              </a:rPr>
              <a:t>HC</a:t>
            </a:r>
          </a:p>
        </p:txBody>
      </p:sp>
      <p:sp>
        <p:nvSpPr>
          <p:cNvPr id="37" name="TextBox 36"/>
          <p:cNvSpPr txBox="1"/>
          <p:nvPr/>
        </p:nvSpPr>
        <p:spPr>
          <a:xfrm rot="18900000">
            <a:off x="4287701" y="2849265"/>
            <a:ext cx="1031557" cy="148983"/>
          </a:xfrm>
          <a:prstGeom prst="rect">
            <a:avLst/>
          </a:prstGeom>
          <a:noFill/>
        </p:spPr>
        <p:txBody>
          <a:bodyPr wrap="none" anchor="ctr" lIns="0" rIns="0" tIns="0" bIns="0">
            <a:noAutofit/>
          </a:bodyPr>
          <a:lstStyle/>
          <a:p>
            <a:pPr algn="r"/>
            <a:r>
              <a:rPr sz="1000" b="0" i="0">
                <a:solidFill>
                  <a:srgbClr val="000000"/>
                </a:solidFill>
                <a:latin typeface="Arial"/>
              </a:rPr>
              <a:t>High-symptom</a:t>
            </a:r>
          </a:p>
        </p:txBody>
      </p:sp>
      <p:sp>
        <p:nvSpPr>
          <p:cNvPr id="38" name="TextBox 37"/>
          <p:cNvSpPr txBox="1"/>
          <p:nvPr/>
        </p:nvSpPr>
        <p:spPr>
          <a:xfrm rot="18900000">
            <a:off x="5082273" y="2698128"/>
            <a:ext cx="497204" cy="148983"/>
          </a:xfrm>
          <a:prstGeom prst="rect">
            <a:avLst/>
          </a:prstGeom>
          <a:noFill/>
        </p:spPr>
        <p:txBody>
          <a:bodyPr wrap="none" anchor="ctr" lIns="0" rIns="0" tIns="0" bIns="0">
            <a:noAutofit/>
          </a:bodyPr>
          <a:lstStyle/>
          <a:p>
            <a:pPr algn="r"/>
            <a:r>
              <a:rPr sz="1000" b="0" i="0">
                <a:solidFill>
                  <a:srgbClr val="000000"/>
                </a:solidFill>
                <a:latin typeface="Arial"/>
              </a:rPr>
              <a:t>Patient</a:t>
            </a:r>
          </a:p>
        </p:txBody>
      </p:sp>
      <p:sp>
        <p:nvSpPr>
          <p:cNvPr id="39" name="TextBox 38"/>
          <p:cNvSpPr txBox="1"/>
          <p:nvPr/>
        </p:nvSpPr>
        <p:spPr>
          <a:xfrm>
            <a:off x="6106604" y="1096388"/>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40" name="TextBox 39"/>
          <p:cNvSpPr txBox="1"/>
          <p:nvPr/>
        </p:nvSpPr>
        <p:spPr>
          <a:xfrm>
            <a:off x="6482862" y="912634"/>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41" name="TextBox 40"/>
          <p:cNvSpPr txBox="1"/>
          <p:nvPr/>
        </p:nvSpPr>
        <p:spPr>
          <a:xfrm>
            <a:off x="6294733" y="728879"/>
            <a:ext cx="231457" cy="134084"/>
          </a:xfrm>
          <a:prstGeom prst="rect">
            <a:avLst/>
          </a:prstGeom>
          <a:noFill/>
        </p:spPr>
        <p:txBody>
          <a:bodyPr wrap="none" anchor="ctr" lIns="0" rIns="0" tIns="0" bIns="0">
            <a:noAutofit/>
          </a:bodyPr>
          <a:lstStyle/>
          <a:p>
            <a:pPr algn="ctr"/>
            <a:r>
              <a:rPr sz="900" b="0" i="0">
                <a:solidFill>
                  <a:srgbClr val="000000"/>
                </a:solidFill>
                <a:latin typeface="Arial"/>
              </a:rPr>
              <a:t>n.s.</a:t>
            </a:r>
          </a:p>
        </p:txBody>
      </p:sp>
      <p:sp>
        <p:nvSpPr>
          <p:cNvPr id="42" name="TextBox 41"/>
          <p:cNvSpPr txBox="1"/>
          <p:nvPr/>
        </p:nvSpPr>
        <p:spPr>
          <a:xfrm>
            <a:off x="5737295" y="653140"/>
            <a:ext cx="880110" cy="135795"/>
          </a:xfrm>
          <a:prstGeom prst="rect">
            <a:avLst/>
          </a:prstGeom>
          <a:noFill/>
        </p:spPr>
        <p:txBody>
          <a:bodyPr wrap="none" anchor="ctr" lIns="0" rIns="0" tIns="0" bIns="0">
            <a:noAutofit/>
          </a:bodyPr>
          <a:lstStyle/>
          <a:p>
            <a:pPr algn="l"/>
            <a:r>
              <a:rPr sz="900" b="0" i="0">
                <a:solidFill>
                  <a:srgbClr val="000000"/>
                </a:solidFill>
                <a:latin typeface="Arial"/>
              </a:rPr>
              <a:t>After GABA-A</a:t>
            </a:r>
          </a:p>
        </p:txBody>
      </p:sp>
      <p:sp>
        <p:nvSpPr>
          <p:cNvPr id="43" name="TextBox 42"/>
          <p:cNvSpPr txBox="1"/>
          <p:nvPr/>
        </p:nvSpPr>
        <p:spPr>
          <a:xfrm rot="18900000">
            <a:off x="5812660" y="2621811"/>
            <a:ext cx="228600" cy="150566"/>
          </a:xfrm>
          <a:prstGeom prst="rect">
            <a:avLst/>
          </a:prstGeom>
          <a:noFill/>
        </p:spPr>
        <p:txBody>
          <a:bodyPr wrap="none" anchor="ctr" lIns="0" rIns="0" tIns="0" bIns="0">
            <a:noAutofit/>
          </a:bodyPr>
          <a:lstStyle/>
          <a:p>
            <a:pPr algn="r"/>
            <a:r>
              <a:rPr sz="1000" b="0" i="0">
                <a:solidFill>
                  <a:srgbClr val="000000"/>
                </a:solidFill>
                <a:latin typeface="Arial"/>
              </a:rPr>
              <a:t>HC</a:t>
            </a:r>
          </a:p>
        </p:txBody>
      </p:sp>
      <p:sp>
        <p:nvSpPr>
          <p:cNvPr id="44" name="TextBox 43"/>
          <p:cNvSpPr txBox="1"/>
          <p:nvPr/>
        </p:nvSpPr>
        <p:spPr>
          <a:xfrm rot="18900000">
            <a:off x="5560776" y="2849265"/>
            <a:ext cx="1031557" cy="148983"/>
          </a:xfrm>
          <a:prstGeom prst="rect">
            <a:avLst/>
          </a:prstGeom>
          <a:noFill/>
        </p:spPr>
        <p:txBody>
          <a:bodyPr wrap="none" anchor="ctr" lIns="0" rIns="0" tIns="0" bIns="0">
            <a:noAutofit/>
          </a:bodyPr>
          <a:lstStyle/>
          <a:p>
            <a:pPr algn="r"/>
            <a:r>
              <a:rPr sz="1000" b="0" i="0">
                <a:solidFill>
                  <a:srgbClr val="000000"/>
                </a:solidFill>
                <a:latin typeface="Arial"/>
              </a:rPr>
              <a:t>High-symptom</a:t>
            </a:r>
          </a:p>
        </p:txBody>
      </p:sp>
      <p:sp>
        <p:nvSpPr>
          <p:cNvPr id="45" name="TextBox 44"/>
          <p:cNvSpPr txBox="1"/>
          <p:nvPr/>
        </p:nvSpPr>
        <p:spPr>
          <a:xfrm rot="18900000">
            <a:off x="6355348" y="2698128"/>
            <a:ext cx="497204" cy="148983"/>
          </a:xfrm>
          <a:prstGeom prst="rect">
            <a:avLst/>
          </a:prstGeom>
          <a:noFill/>
        </p:spPr>
        <p:txBody>
          <a:bodyPr wrap="none" anchor="ctr" lIns="0" rIns="0" tIns="0" bIns="0">
            <a:noAutofit/>
          </a:bodyPr>
          <a:lstStyle/>
          <a:p>
            <a:pPr algn="r"/>
            <a:r>
              <a:rPr sz="1000" b="0" i="0">
                <a:solidFill>
                  <a:srgbClr val="000000"/>
                </a:solidFill>
                <a:latin typeface="Arial"/>
              </a:rPr>
              <a:t>Patient</a:t>
            </a:r>
          </a:p>
        </p:txBody>
      </p:sp>
      <p:sp>
        <p:nvSpPr>
          <p:cNvPr id="46" name="TextBox 45"/>
          <p:cNvSpPr txBox="1"/>
          <p:nvPr/>
        </p:nvSpPr>
        <p:spPr>
          <a:xfrm>
            <a:off x="932111" y="3761400"/>
            <a:ext cx="585787" cy="335212"/>
          </a:xfrm>
          <a:prstGeom prst="rect">
            <a:avLst/>
          </a:prstGeom>
          <a:noFill/>
        </p:spPr>
        <p:txBody>
          <a:bodyPr wrap="none" anchor="ctr" lIns="0" rIns="0" tIns="0" bIns="0">
            <a:noAutofit/>
          </a:bodyPr>
          <a:lstStyle/>
          <a:p>
            <a:pPr algn="l"/>
            <a:r>
              <a:rPr sz="900" b="0" i="0">
                <a:solidFill>
                  <a:srgbClr val="000000"/>
                </a:solidFill>
                <a:latin typeface="Arial"/>
              </a:rPr>
              <a:t>AMPA
r = −0.20</a:t>
            </a:r>
          </a:p>
        </p:txBody>
      </p:sp>
      <p:sp>
        <p:nvSpPr>
          <p:cNvPr id="47" name="TextBox 46"/>
          <p:cNvSpPr txBox="1"/>
          <p:nvPr/>
        </p:nvSpPr>
        <p:spPr>
          <a:xfrm>
            <a:off x="750132" y="5305126"/>
            <a:ext cx="1943100" cy="347143"/>
          </a:xfrm>
          <a:prstGeom prst="rect">
            <a:avLst/>
          </a:prstGeom>
          <a:noFill/>
        </p:spPr>
        <p:txBody>
          <a:bodyPr wrap="none" anchor="ctr" lIns="0" rIns="0" tIns="0" bIns="0">
            <a:noAutofit/>
          </a:bodyPr>
          <a:lstStyle/>
          <a:p>
            <a:pPr algn="ctr"/>
            <a:r>
              <a:rPr sz="1000" b="0" i="0">
                <a:solidFill>
                  <a:srgbClr val="000000"/>
                </a:solidFill>
                <a:latin typeface="Arial"/>
              </a:rPr>
              <a:t>Mean of baseline and
perturbed MID summed FC</a:t>
            </a:r>
          </a:p>
        </p:txBody>
      </p:sp>
      <p:sp>
        <p:nvSpPr>
          <p:cNvPr id="48" name="TextBox 47"/>
          <p:cNvSpPr txBox="1"/>
          <p:nvPr/>
        </p:nvSpPr>
        <p:spPr>
          <a:xfrm>
            <a:off x="543718" y="5207173"/>
            <a:ext cx="111442" cy="119186"/>
          </a:xfrm>
          <a:prstGeom prst="rect">
            <a:avLst/>
          </a:prstGeom>
          <a:noFill/>
        </p:spPr>
        <p:txBody>
          <a:bodyPr wrap="none" anchor="ctr" lIns="0" rIns="0" tIns="0" bIns="0">
            <a:noAutofit/>
          </a:bodyPr>
          <a:lstStyle/>
          <a:p>
            <a:pPr algn="ctr"/>
            <a:r>
              <a:rPr sz="800" b="0" i="0">
                <a:solidFill>
                  <a:srgbClr val="000000"/>
                </a:solidFill>
                <a:latin typeface="Arial"/>
              </a:rPr>
              <a:t>-2</a:t>
            </a:r>
          </a:p>
        </p:txBody>
      </p:sp>
      <p:sp>
        <p:nvSpPr>
          <p:cNvPr id="49" name="TextBox 48"/>
          <p:cNvSpPr txBox="1"/>
          <p:nvPr/>
        </p:nvSpPr>
        <p:spPr>
          <a:xfrm>
            <a:off x="1092839" y="5207173"/>
            <a:ext cx="111442" cy="119186"/>
          </a:xfrm>
          <a:prstGeom prst="rect">
            <a:avLst/>
          </a:prstGeom>
          <a:noFill/>
        </p:spPr>
        <p:txBody>
          <a:bodyPr wrap="none" anchor="ctr" lIns="0" rIns="0" tIns="0" bIns="0">
            <a:noAutofit/>
          </a:bodyPr>
          <a:lstStyle/>
          <a:p>
            <a:pPr algn="ctr"/>
            <a:r>
              <a:rPr sz="800" b="0" i="0">
                <a:solidFill>
                  <a:srgbClr val="000000"/>
                </a:solidFill>
                <a:latin typeface="Arial"/>
              </a:rPr>
              <a:t>-1</a:t>
            </a:r>
          </a:p>
        </p:txBody>
      </p:sp>
      <p:sp>
        <p:nvSpPr>
          <p:cNvPr id="50" name="TextBox 49"/>
          <p:cNvSpPr txBox="1"/>
          <p:nvPr/>
        </p:nvSpPr>
        <p:spPr>
          <a:xfrm>
            <a:off x="1663392" y="5207173"/>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51" name="TextBox 50"/>
          <p:cNvSpPr txBox="1"/>
          <p:nvPr/>
        </p:nvSpPr>
        <p:spPr>
          <a:xfrm>
            <a:off x="2212513" y="5207173"/>
            <a:ext cx="68580" cy="119186"/>
          </a:xfrm>
          <a:prstGeom prst="rect">
            <a:avLst/>
          </a:prstGeom>
          <a:noFill/>
        </p:spPr>
        <p:txBody>
          <a:bodyPr wrap="none" anchor="ctr" lIns="0" rIns="0" tIns="0" bIns="0">
            <a:noAutofit/>
          </a:bodyPr>
          <a:lstStyle/>
          <a:p>
            <a:pPr algn="ctr"/>
            <a:r>
              <a:rPr sz="800" b="0" i="0">
                <a:solidFill>
                  <a:srgbClr val="000000"/>
                </a:solidFill>
                <a:latin typeface="Arial"/>
              </a:rPr>
              <a:t>1</a:t>
            </a:r>
          </a:p>
        </p:txBody>
      </p:sp>
      <p:sp>
        <p:nvSpPr>
          <p:cNvPr id="52" name="TextBox 51"/>
          <p:cNvSpPr txBox="1"/>
          <p:nvPr/>
        </p:nvSpPr>
        <p:spPr>
          <a:xfrm>
            <a:off x="2761634" y="5207173"/>
            <a:ext cx="68580" cy="119186"/>
          </a:xfrm>
          <a:prstGeom prst="rect">
            <a:avLst/>
          </a:prstGeom>
          <a:noFill/>
        </p:spPr>
        <p:txBody>
          <a:bodyPr wrap="none" anchor="ctr" lIns="0" rIns="0" tIns="0" bIns="0">
            <a:noAutofit/>
          </a:bodyPr>
          <a:lstStyle/>
          <a:p>
            <a:pPr algn="ctr"/>
            <a:r>
              <a:rPr sz="800" b="0" i="0">
                <a:solidFill>
                  <a:srgbClr val="000000"/>
                </a:solidFill>
                <a:latin typeface="Arial"/>
              </a:rPr>
              <a:t>2</a:t>
            </a:r>
          </a:p>
        </p:txBody>
      </p:sp>
      <p:sp>
        <p:nvSpPr>
          <p:cNvPr id="53" name="TextBox 52"/>
          <p:cNvSpPr txBox="1"/>
          <p:nvPr/>
        </p:nvSpPr>
        <p:spPr>
          <a:xfrm rot="16200000">
            <a:off x="-250550" y="4389958"/>
            <a:ext cx="1983105" cy="150566"/>
          </a:xfrm>
          <a:prstGeom prst="rect">
            <a:avLst/>
          </a:prstGeom>
          <a:noFill/>
        </p:spPr>
        <p:txBody>
          <a:bodyPr wrap="none" anchor="ctr" lIns="0" rIns="0" tIns="0" bIns="0">
            <a:noAutofit/>
          </a:bodyPr>
          <a:lstStyle/>
          <a:p>
            <a:pPr algn="ctr"/>
            <a:r>
              <a:rPr sz="1000" b="0" i="0">
                <a:solidFill>
                  <a:srgbClr val="000000"/>
                </a:solidFill>
                <a:latin typeface="Arial"/>
              </a:rPr>
              <a:t>Change in MID summed FC</a:t>
            </a:r>
          </a:p>
        </p:txBody>
      </p:sp>
      <p:sp>
        <p:nvSpPr>
          <p:cNvPr id="54" name="TextBox 53"/>
          <p:cNvSpPr txBox="1"/>
          <p:nvPr/>
        </p:nvSpPr>
        <p:spPr>
          <a:xfrm>
            <a:off x="815483" y="5318580"/>
            <a:ext cx="111442"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55" name="TextBox 54"/>
          <p:cNvSpPr txBox="1"/>
          <p:nvPr/>
        </p:nvSpPr>
        <p:spPr>
          <a:xfrm>
            <a:off x="815483" y="5083045"/>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56" name="TextBox 55"/>
          <p:cNvSpPr txBox="1"/>
          <p:nvPr/>
        </p:nvSpPr>
        <p:spPr>
          <a:xfrm>
            <a:off x="815483" y="4847510"/>
            <a:ext cx="111442"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57" name="TextBox 56"/>
          <p:cNvSpPr txBox="1"/>
          <p:nvPr/>
        </p:nvSpPr>
        <p:spPr>
          <a:xfrm>
            <a:off x="854060" y="4611976"/>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58" name="TextBox 57"/>
          <p:cNvSpPr txBox="1"/>
          <p:nvPr/>
        </p:nvSpPr>
        <p:spPr>
          <a:xfrm>
            <a:off x="854060" y="4376441"/>
            <a:ext cx="68580"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59" name="TextBox 58"/>
          <p:cNvSpPr txBox="1"/>
          <p:nvPr/>
        </p:nvSpPr>
        <p:spPr>
          <a:xfrm>
            <a:off x="854060" y="4140906"/>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60" name="TextBox 59"/>
          <p:cNvSpPr txBox="1"/>
          <p:nvPr/>
        </p:nvSpPr>
        <p:spPr>
          <a:xfrm>
            <a:off x="854060" y="3905371"/>
            <a:ext cx="68580"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61" name="TextBox 60"/>
          <p:cNvSpPr txBox="1"/>
          <p:nvPr/>
        </p:nvSpPr>
        <p:spPr>
          <a:xfrm>
            <a:off x="854060" y="3669836"/>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62" name="TextBox 61"/>
          <p:cNvSpPr txBox="1"/>
          <p:nvPr/>
        </p:nvSpPr>
        <p:spPr>
          <a:xfrm>
            <a:off x="3201973" y="3761400"/>
            <a:ext cx="571500" cy="335212"/>
          </a:xfrm>
          <a:prstGeom prst="rect">
            <a:avLst/>
          </a:prstGeom>
          <a:noFill/>
        </p:spPr>
        <p:txBody>
          <a:bodyPr wrap="none" anchor="ctr" lIns="0" rIns="0" tIns="0" bIns="0">
            <a:noAutofit/>
          </a:bodyPr>
          <a:lstStyle/>
          <a:p>
            <a:pPr algn="l"/>
            <a:r>
              <a:rPr sz="900" b="0" i="0">
                <a:solidFill>
                  <a:srgbClr val="000000"/>
                </a:solidFill>
                <a:latin typeface="Arial"/>
              </a:rPr>
              <a:t>GABA−A
r = 0.57</a:t>
            </a:r>
          </a:p>
        </p:txBody>
      </p:sp>
      <p:sp>
        <p:nvSpPr>
          <p:cNvPr id="63" name="TextBox 62"/>
          <p:cNvSpPr txBox="1"/>
          <p:nvPr/>
        </p:nvSpPr>
        <p:spPr>
          <a:xfrm>
            <a:off x="3018566" y="5305126"/>
            <a:ext cx="1943100" cy="347143"/>
          </a:xfrm>
          <a:prstGeom prst="rect">
            <a:avLst/>
          </a:prstGeom>
          <a:noFill/>
        </p:spPr>
        <p:txBody>
          <a:bodyPr wrap="none" anchor="ctr" lIns="0" rIns="0" tIns="0" bIns="0">
            <a:noAutofit/>
          </a:bodyPr>
          <a:lstStyle/>
          <a:p>
            <a:pPr algn="ctr"/>
            <a:r>
              <a:rPr sz="1000" b="0" i="0">
                <a:solidFill>
                  <a:srgbClr val="000000"/>
                </a:solidFill>
                <a:latin typeface="Arial"/>
              </a:rPr>
              <a:t>Mean of baseline and
perturbed MID summed FC</a:t>
            </a:r>
          </a:p>
        </p:txBody>
      </p:sp>
      <p:sp>
        <p:nvSpPr>
          <p:cNvPr id="64" name="TextBox 63"/>
          <p:cNvSpPr txBox="1"/>
          <p:nvPr/>
        </p:nvSpPr>
        <p:spPr>
          <a:xfrm>
            <a:off x="2527177" y="5207173"/>
            <a:ext cx="111442" cy="119186"/>
          </a:xfrm>
          <a:prstGeom prst="rect">
            <a:avLst/>
          </a:prstGeom>
          <a:noFill/>
        </p:spPr>
        <p:txBody>
          <a:bodyPr wrap="none" anchor="ctr" lIns="0" rIns="0" tIns="0" bIns="0">
            <a:noAutofit/>
          </a:bodyPr>
          <a:lstStyle/>
          <a:p>
            <a:pPr algn="ctr"/>
            <a:r>
              <a:rPr sz="800" b="0" i="0">
                <a:solidFill>
                  <a:srgbClr val="000000"/>
                </a:solidFill>
                <a:latin typeface="Arial"/>
              </a:rPr>
              <a:t>-4</a:t>
            </a:r>
          </a:p>
        </p:txBody>
      </p:sp>
      <p:sp>
        <p:nvSpPr>
          <p:cNvPr id="65" name="TextBox 64"/>
          <p:cNvSpPr txBox="1"/>
          <p:nvPr/>
        </p:nvSpPr>
        <p:spPr>
          <a:xfrm>
            <a:off x="3188023" y="5207173"/>
            <a:ext cx="111442" cy="119186"/>
          </a:xfrm>
          <a:prstGeom prst="rect">
            <a:avLst/>
          </a:prstGeom>
          <a:noFill/>
        </p:spPr>
        <p:txBody>
          <a:bodyPr wrap="none" anchor="ctr" lIns="0" rIns="0" tIns="0" bIns="0">
            <a:noAutofit/>
          </a:bodyPr>
          <a:lstStyle/>
          <a:p>
            <a:pPr algn="ctr"/>
            <a:r>
              <a:rPr sz="800" b="0" i="0">
                <a:solidFill>
                  <a:srgbClr val="000000"/>
                </a:solidFill>
                <a:latin typeface="Arial"/>
              </a:rPr>
              <a:t>-2</a:t>
            </a:r>
          </a:p>
        </p:txBody>
      </p:sp>
      <p:sp>
        <p:nvSpPr>
          <p:cNvPr id="66" name="TextBox 65"/>
          <p:cNvSpPr txBox="1"/>
          <p:nvPr/>
        </p:nvSpPr>
        <p:spPr>
          <a:xfrm>
            <a:off x="3870300" y="5207173"/>
            <a:ext cx="68580" cy="119186"/>
          </a:xfrm>
          <a:prstGeom prst="rect">
            <a:avLst/>
          </a:prstGeom>
          <a:noFill/>
        </p:spPr>
        <p:txBody>
          <a:bodyPr wrap="none" anchor="ctr" lIns="0" rIns="0" tIns="0" bIns="0">
            <a:noAutofit/>
          </a:bodyPr>
          <a:lstStyle/>
          <a:p>
            <a:pPr algn="ctr"/>
            <a:r>
              <a:rPr sz="800" b="0" i="0">
                <a:solidFill>
                  <a:srgbClr val="000000"/>
                </a:solidFill>
                <a:latin typeface="Arial"/>
              </a:rPr>
              <a:t>0</a:t>
            </a:r>
          </a:p>
        </p:txBody>
      </p:sp>
      <p:sp>
        <p:nvSpPr>
          <p:cNvPr id="67" name="TextBox 66"/>
          <p:cNvSpPr txBox="1"/>
          <p:nvPr/>
        </p:nvSpPr>
        <p:spPr>
          <a:xfrm>
            <a:off x="4531145" y="5207173"/>
            <a:ext cx="68580" cy="119186"/>
          </a:xfrm>
          <a:prstGeom prst="rect">
            <a:avLst/>
          </a:prstGeom>
          <a:noFill/>
        </p:spPr>
        <p:txBody>
          <a:bodyPr wrap="none" anchor="ctr" lIns="0" rIns="0" tIns="0" bIns="0">
            <a:noAutofit/>
          </a:bodyPr>
          <a:lstStyle/>
          <a:p>
            <a:pPr algn="ctr"/>
            <a:r>
              <a:rPr sz="800" b="0" i="0">
                <a:solidFill>
                  <a:srgbClr val="000000"/>
                </a:solidFill>
                <a:latin typeface="Arial"/>
              </a:rPr>
              <a:t>2</a:t>
            </a:r>
          </a:p>
        </p:txBody>
      </p:sp>
      <p:sp>
        <p:nvSpPr>
          <p:cNvPr id="68" name="TextBox 67"/>
          <p:cNvSpPr txBox="1"/>
          <p:nvPr/>
        </p:nvSpPr>
        <p:spPr>
          <a:xfrm>
            <a:off x="5191991" y="5207173"/>
            <a:ext cx="68580" cy="119186"/>
          </a:xfrm>
          <a:prstGeom prst="rect">
            <a:avLst/>
          </a:prstGeom>
          <a:noFill/>
        </p:spPr>
        <p:txBody>
          <a:bodyPr wrap="none" anchor="ctr" lIns="0" rIns="0" tIns="0" bIns="0">
            <a:noAutofit/>
          </a:bodyPr>
          <a:lstStyle/>
          <a:p>
            <a:pPr algn="ctr"/>
            <a:r>
              <a:rPr sz="800" b="0" i="0">
                <a:solidFill>
                  <a:srgbClr val="000000"/>
                </a:solidFill>
                <a:latin typeface="Arial"/>
              </a:rPr>
              <a:t>4</a:t>
            </a:r>
          </a:p>
        </p:txBody>
      </p:sp>
      <p:sp>
        <p:nvSpPr>
          <p:cNvPr id="69" name="TextBox 68"/>
          <p:cNvSpPr txBox="1"/>
          <p:nvPr/>
        </p:nvSpPr>
        <p:spPr>
          <a:xfrm rot="16200000">
            <a:off x="2017882" y="4389958"/>
            <a:ext cx="1983105" cy="150566"/>
          </a:xfrm>
          <a:prstGeom prst="rect">
            <a:avLst/>
          </a:prstGeom>
          <a:noFill/>
        </p:spPr>
        <p:txBody>
          <a:bodyPr wrap="none" anchor="ctr" lIns="0" rIns="0" tIns="0" bIns="0">
            <a:noAutofit/>
          </a:bodyPr>
          <a:lstStyle/>
          <a:p>
            <a:pPr algn="ctr"/>
            <a:r>
              <a:rPr sz="1000" b="0" i="0">
                <a:solidFill>
                  <a:srgbClr val="000000"/>
                </a:solidFill>
                <a:latin typeface="Arial"/>
              </a:rPr>
              <a:t>Change in MID summed FC</a:t>
            </a:r>
          </a:p>
        </p:txBody>
      </p:sp>
      <p:sp>
        <p:nvSpPr>
          <p:cNvPr id="70" name="TextBox 69"/>
          <p:cNvSpPr txBox="1"/>
          <p:nvPr/>
        </p:nvSpPr>
        <p:spPr>
          <a:xfrm>
            <a:off x="3083917" y="5424066"/>
            <a:ext cx="111442"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71" name="TextBox 70"/>
          <p:cNvSpPr txBox="1"/>
          <p:nvPr/>
        </p:nvSpPr>
        <p:spPr>
          <a:xfrm>
            <a:off x="3083917" y="5087330"/>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72" name="TextBox 71"/>
          <p:cNvSpPr txBox="1"/>
          <p:nvPr/>
        </p:nvSpPr>
        <p:spPr>
          <a:xfrm>
            <a:off x="3122493" y="4750594"/>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73" name="TextBox 72"/>
          <p:cNvSpPr txBox="1"/>
          <p:nvPr/>
        </p:nvSpPr>
        <p:spPr>
          <a:xfrm>
            <a:off x="3122493" y="4413858"/>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74" name="TextBox 73"/>
          <p:cNvSpPr txBox="1"/>
          <p:nvPr/>
        </p:nvSpPr>
        <p:spPr>
          <a:xfrm>
            <a:off x="3122493" y="4077122"/>
            <a:ext cx="68580" cy="119186"/>
          </a:xfrm>
          <a:prstGeom prst="rect">
            <a:avLst/>
          </a:prstGeom>
          <a:noFill/>
        </p:spPr>
        <p:txBody>
          <a:bodyPr wrap="none" anchor="ctr" lIns="0" rIns="0" tIns="0" bIns="0">
            <a:noAutofit/>
          </a:bodyPr>
          <a:lstStyle/>
          <a:p>
            <a:pPr algn="r"/>
            <a:r>
              <a:rPr sz="800" b="0" i="0">
                <a:solidFill>
                  <a:srgbClr val="000000"/>
                </a:solidFill>
                <a:latin typeface="Arial"/>
              </a:rPr>
              <a:t>4</a:t>
            </a:r>
          </a:p>
        </p:txBody>
      </p:sp>
      <p:sp>
        <p:nvSpPr>
          <p:cNvPr id="75" name="TextBox 74"/>
          <p:cNvSpPr txBox="1"/>
          <p:nvPr/>
        </p:nvSpPr>
        <p:spPr>
          <a:xfrm>
            <a:off x="3122493" y="3740386"/>
            <a:ext cx="68580" cy="119186"/>
          </a:xfrm>
          <a:prstGeom prst="rect">
            <a:avLst/>
          </a:prstGeom>
          <a:noFill/>
        </p:spPr>
        <p:txBody>
          <a:bodyPr wrap="none" anchor="ctr" lIns="0" rIns="0" tIns="0" bIns="0">
            <a:noAutofit/>
          </a:bodyPr>
          <a:lstStyle/>
          <a:p>
            <a:pPr algn="r"/>
            <a:r>
              <a:rPr sz="800" b="0" i="0">
                <a:solidFill>
                  <a:srgbClr val="000000"/>
                </a:solidFill>
                <a:latin typeface="Arial"/>
              </a:rPr>
              <a:t>6</a:t>
            </a:r>
          </a:p>
        </p:txBody>
      </p:sp>
      <p:sp>
        <p:nvSpPr>
          <p:cNvPr id="76" name="TextBox 75"/>
          <p:cNvSpPr txBox="1"/>
          <p:nvPr/>
        </p:nvSpPr>
        <p:spPr>
          <a:xfrm>
            <a:off x="3122493" y="3403650"/>
            <a:ext cx="68580" cy="119186"/>
          </a:xfrm>
          <a:prstGeom prst="rect">
            <a:avLst/>
          </a:prstGeom>
          <a:noFill/>
        </p:spPr>
        <p:txBody>
          <a:bodyPr wrap="none" anchor="ctr" lIns="0" rIns="0" tIns="0" bIns="0">
            <a:noAutofit/>
          </a:bodyPr>
          <a:lstStyle/>
          <a:p>
            <a:pPr algn="r"/>
            <a:r>
              <a:rPr sz="800" b="0" i="0">
                <a:solidFill>
                  <a:srgbClr val="000000"/>
                </a:solidFill>
                <a:latin typeface="Arial"/>
              </a:rPr>
              <a:t>8</a:t>
            </a:r>
          </a:p>
        </p:txBody>
      </p:sp>
      <p:sp>
        <p:nvSpPr>
          <p:cNvPr id="77" name="TextBox 76"/>
          <p:cNvSpPr txBox="1"/>
          <p:nvPr/>
        </p:nvSpPr>
        <p:spPr>
          <a:xfrm>
            <a:off x="6177110" y="3837831"/>
            <a:ext cx="162877" cy="134084"/>
          </a:xfrm>
          <a:prstGeom prst="rect">
            <a:avLst/>
          </a:prstGeom>
          <a:noFill/>
        </p:spPr>
        <p:txBody>
          <a:bodyPr wrap="none" anchor="ctr" lIns="0" rIns="0" tIns="0" bIns="0">
            <a:noAutofit/>
          </a:bodyPr>
          <a:lstStyle/>
          <a:p>
            <a:pPr algn="ctr"/>
            <a:r>
              <a:rPr sz="900" b="0" i="0">
                <a:solidFill>
                  <a:srgbClr val="000000"/>
                </a:solidFill>
                <a:latin typeface="Arial"/>
              </a:rPr>
              <a:t>***</a:t>
            </a:r>
          </a:p>
        </p:txBody>
      </p:sp>
      <p:sp>
        <p:nvSpPr>
          <p:cNvPr id="78" name="TextBox 77"/>
          <p:cNvSpPr txBox="1"/>
          <p:nvPr/>
        </p:nvSpPr>
        <p:spPr>
          <a:xfrm>
            <a:off x="5651440" y="5204193"/>
            <a:ext cx="534352" cy="148983"/>
          </a:xfrm>
          <a:prstGeom prst="rect">
            <a:avLst/>
          </a:prstGeom>
          <a:noFill/>
        </p:spPr>
        <p:txBody>
          <a:bodyPr wrap="none" anchor="ctr" lIns="0" rIns="0" tIns="0" bIns="0">
            <a:noAutofit/>
          </a:bodyPr>
          <a:lstStyle/>
          <a:p>
            <a:pPr algn="ctr"/>
            <a:r>
              <a:rPr sz="1000" b="0" i="0">
                <a:solidFill>
                  <a:srgbClr val="000000"/>
                </a:solidFill>
                <a:latin typeface="Arial"/>
              </a:rPr>
              <a:t>both up</a:t>
            </a:r>
          </a:p>
        </p:txBody>
      </p:sp>
      <p:sp>
        <p:nvSpPr>
          <p:cNvPr id="79" name="TextBox 78"/>
          <p:cNvSpPr txBox="1"/>
          <p:nvPr/>
        </p:nvSpPr>
        <p:spPr>
          <a:xfrm>
            <a:off x="6257011" y="5204193"/>
            <a:ext cx="682942" cy="148983"/>
          </a:xfrm>
          <a:prstGeom prst="rect">
            <a:avLst/>
          </a:prstGeom>
          <a:noFill/>
        </p:spPr>
        <p:txBody>
          <a:bodyPr wrap="none" anchor="ctr" lIns="0" rIns="0" tIns="0" bIns="0">
            <a:noAutofit/>
          </a:bodyPr>
          <a:lstStyle/>
          <a:p>
            <a:pPr algn="ctr"/>
            <a:r>
              <a:rPr sz="1000" b="0" i="0">
                <a:solidFill>
                  <a:srgbClr val="000000"/>
                </a:solidFill>
                <a:latin typeface="Arial"/>
              </a:rPr>
              <a:t>any down</a:t>
            </a:r>
          </a:p>
        </p:txBody>
      </p:sp>
      <p:sp>
        <p:nvSpPr>
          <p:cNvPr id="80" name="TextBox 79"/>
          <p:cNvSpPr txBox="1"/>
          <p:nvPr/>
        </p:nvSpPr>
        <p:spPr>
          <a:xfrm rot="16200000">
            <a:off x="4344895" y="4389958"/>
            <a:ext cx="1865947" cy="150566"/>
          </a:xfrm>
          <a:prstGeom prst="rect">
            <a:avLst/>
          </a:prstGeom>
          <a:noFill/>
        </p:spPr>
        <p:txBody>
          <a:bodyPr wrap="none" anchor="ctr" lIns="0" rIns="0" tIns="0" bIns="0">
            <a:noAutofit/>
          </a:bodyPr>
          <a:lstStyle/>
          <a:p>
            <a:pPr algn="ctr"/>
            <a:r>
              <a:rPr sz="1000" b="0" i="0">
                <a:solidFill>
                  <a:srgbClr val="000000"/>
                </a:solidFill>
                <a:latin typeface="Arial"/>
              </a:rPr>
              <a:t>Baseline MID summed FC</a:t>
            </a:r>
          </a:p>
        </p:txBody>
      </p:sp>
      <p:sp>
        <p:nvSpPr>
          <p:cNvPr id="81" name="TextBox 80"/>
          <p:cNvSpPr txBox="1"/>
          <p:nvPr/>
        </p:nvSpPr>
        <p:spPr>
          <a:xfrm>
            <a:off x="5352351" y="5257433"/>
            <a:ext cx="111442"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82" name="TextBox 81"/>
          <p:cNvSpPr txBox="1"/>
          <p:nvPr/>
        </p:nvSpPr>
        <p:spPr>
          <a:xfrm>
            <a:off x="5352351" y="4980988"/>
            <a:ext cx="111442"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83" name="TextBox 82"/>
          <p:cNvSpPr txBox="1"/>
          <p:nvPr/>
        </p:nvSpPr>
        <p:spPr>
          <a:xfrm>
            <a:off x="5352351" y="4704543"/>
            <a:ext cx="111442"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84" name="TextBox 83"/>
          <p:cNvSpPr txBox="1"/>
          <p:nvPr/>
        </p:nvSpPr>
        <p:spPr>
          <a:xfrm>
            <a:off x="5390927" y="4428097"/>
            <a:ext cx="68580" cy="119186"/>
          </a:xfrm>
          <a:prstGeom prst="rect">
            <a:avLst/>
          </a:prstGeom>
          <a:noFill/>
        </p:spPr>
        <p:txBody>
          <a:bodyPr wrap="none" anchor="ctr" lIns="0" rIns="0" tIns="0" bIns="0">
            <a:noAutofit/>
          </a:bodyPr>
          <a:lstStyle/>
          <a:p>
            <a:pPr algn="r"/>
            <a:r>
              <a:rPr sz="800" b="0" i="0">
                <a:solidFill>
                  <a:srgbClr val="000000"/>
                </a:solidFill>
                <a:latin typeface="Arial"/>
              </a:rPr>
              <a:t>0</a:t>
            </a:r>
          </a:p>
        </p:txBody>
      </p:sp>
      <p:sp>
        <p:nvSpPr>
          <p:cNvPr id="85" name="TextBox 84"/>
          <p:cNvSpPr txBox="1"/>
          <p:nvPr/>
        </p:nvSpPr>
        <p:spPr>
          <a:xfrm>
            <a:off x="5390927" y="4151652"/>
            <a:ext cx="68580" cy="119186"/>
          </a:xfrm>
          <a:prstGeom prst="rect">
            <a:avLst/>
          </a:prstGeom>
          <a:noFill/>
        </p:spPr>
        <p:txBody>
          <a:bodyPr wrap="none" anchor="ctr" lIns="0" rIns="0" tIns="0" bIns="0">
            <a:noAutofit/>
          </a:bodyPr>
          <a:lstStyle/>
          <a:p>
            <a:pPr algn="r"/>
            <a:r>
              <a:rPr sz="800" b="0" i="0">
                <a:solidFill>
                  <a:srgbClr val="000000"/>
                </a:solidFill>
                <a:latin typeface="Arial"/>
              </a:rPr>
              <a:t>1</a:t>
            </a:r>
          </a:p>
        </p:txBody>
      </p:sp>
      <p:sp>
        <p:nvSpPr>
          <p:cNvPr id="86" name="TextBox 85"/>
          <p:cNvSpPr txBox="1"/>
          <p:nvPr/>
        </p:nvSpPr>
        <p:spPr>
          <a:xfrm>
            <a:off x="5390927" y="3875207"/>
            <a:ext cx="68580" cy="119186"/>
          </a:xfrm>
          <a:prstGeom prst="rect">
            <a:avLst/>
          </a:prstGeom>
          <a:noFill/>
        </p:spPr>
        <p:txBody>
          <a:bodyPr wrap="none" anchor="ctr" lIns="0" rIns="0" tIns="0" bIns="0">
            <a:noAutofit/>
          </a:bodyPr>
          <a:lstStyle/>
          <a:p>
            <a:pPr algn="r"/>
            <a:r>
              <a:rPr sz="800" b="0" i="0">
                <a:solidFill>
                  <a:srgbClr val="000000"/>
                </a:solidFill>
                <a:latin typeface="Arial"/>
              </a:rPr>
              <a:t>2</a:t>
            </a:r>
          </a:p>
        </p:txBody>
      </p:sp>
      <p:sp>
        <p:nvSpPr>
          <p:cNvPr id="87" name="TextBox 86"/>
          <p:cNvSpPr txBox="1"/>
          <p:nvPr/>
        </p:nvSpPr>
        <p:spPr>
          <a:xfrm>
            <a:off x="5390927" y="3598762"/>
            <a:ext cx="68580" cy="119186"/>
          </a:xfrm>
          <a:prstGeom prst="rect">
            <a:avLst/>
          </a:prstGeom>
          <a:noFill/>
        </p:spPr>
        <p:txBody>
          <a:bodyPr wrap="none" anchor="ctr" lIns="0" rIns="0" tIns="0" bIns="0">
            <a:noAutofit/>
          </a:bodyPr>
          <a:lstStyle/>
          <a:p>
            <a:pPr algn="r"/>
            <a:r>
              <a:rPr sz="800" b="0" i="0">
                <a:solidFill>
                  <a:srgbClr val="000000"/>
                </a:solidFill>
                <a:latin typeface="Arial"/>
              </a:rPr>
              <a:t>3</a:t>
            </a:r>
          </a:p>
        </p:txBody>
      </p:sp>
      <p:sp>
        <p:nvSpPr>
          <p:cNvPr id="88" name="TextBox 87"/>
          <p:cNvSpPr txBox="1"/>
          <p:nvPr/>
        </p:nvSpPr>
        <p:spPr>
          <a:xfrm>
            <a:off x="530284" y="468106"/>
            <a:ext cx="97155"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89" name="TextBox 88"/>
          <p:cNvSpPr txBox="1"/>
          <p:nvPr/>
        </p:nvSpPr>
        <p:spPr>
          <a:xfrm>
            <a:off x="2823970" y="468106"/>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90" name="TextBox 89"/>
          <p:cNvSpPr txBox="1"/>
          <p:nvPr/>
        </p:nvSpPr>
        <p:spPr>
          <a:xfrm>
            <a:off x="530284" y="3492106"/>
            <a:ext cx="97155" cy="163881"/>
          </a:xfrm>
          <a:prstGeom prst="rect">
            <a:avLst/>
          </a:prstGeom>
          <a:noFill/>
        </p:spPr>
        <p:txBody>
          <a:bodyPr wrap="none" anchor="ctr" lIns="0" rIns="0" tIns="0" bIns="0">
            <a:noAutofit/>
          </a:bodyPr>
          <a:lstStyle/>
          <a:p>
            <a:pPr algn="l"/>
            <a:r>
              <a:rPr sz="1100" b="1" i="0">
                <a:solidFill>
                  <a:srgbClr val="000000"/>
                </a:solidFill>
                <a:latin typeface="Arial"/>
              </a:rPr>
              <a:t>c</a:t>
            </a:r>
          </a:p>
        </p:txBody>
      </p:sp>
      <p:sp>
        <p:nvSpPr>
          <p:cNvPr id="91" name="TextBox 90"/>
          <p:cNvSpPr txBox="1"/>
          <p:nvPr/>
        </p:nvSpPr>
        <p:spPr>
          <a:xfrm>
            <a:off x="2797860" y="3492106"/>
            <a:ext cx="105727" cy="163881"/>
          </a:xfrm>
          <a:prstGeom prst="rect">
            <a:avLst/>
          </a:prstGeom>
          <a:noFill/>
        </p:spPr>
        <p:txBody>
          <a:bodyPr wrap="none" anchor="ctr" lIns="0" rIns="0" tIns="0" bIns="0">
            <a:noAutofit/>
          </a:bodyPr>
          <a:lstStyle/>
          <a:p>
            <a:pPr algn="l"/>
            <a:r>
              <a:rPr sz="1100" b="1" i="0">
                <a:solidFill>
                  <a:srgbClr val="000000"/>
                </a:solidFill>
                <a:latin typeface="Arial"/>
              </a:rPr>
              <a:t>d</a:t>
            </a:r>
          </a:p>
        </p:txBody>
      </p:sp>
      <p:sp>
        <p:nvSpPr>
          <p:cNvPr id="92" name="TextBox 91"/>
          <p:cNvSpPr txBox="1"/>
          <p:nvPr/>
        </p:nvSpPr>
        <p:spPr>
          <a:xfrm>
            <a:off x="5067151" y="3492106"/>
            <a:ext cx="97155" cy="163881"/>
          </a:xfrm>
          <a:prstGeom prst="rect">
            <a:avLst/>
          </a:prstGeom>
          <a:noFill/>
        </p:spPr>
        <p:txBody>
          <a:bodyPr wrap="none" anchor="ctr" lIns="0" rIns="0" tIns="0" bIns="0">
            <a:noAutofit/>
          </a:bodyPr>
          <a:lstStyle/>
          <a:p>
            <a:pPr algn="l"/>
            <a:r>
              <a:rPr sz="1100" b="1" i="0">
                <a:solidFill>
                  <a:srgbClr val="000000"/>
                </a:solidFill>
                <a:latin typeface="Arial"/>
              </a:rPr>
              <a:t>e</a:t>
            </a:r>
          </a:p>
        </p:txBody>
      </p:sp>
      <p:sp>
        <p:nvSpPr>
          <p:cNvPr id="93" name="TextBox 92"/>
          <p:cNvSpPr txBox="1"/>
          <p:nvPr/>
        </p:nvSpPr>
        <p:spPr>
          <a:xfrm>
            <a:off x="540000" y="5671242"/>
            <a:ext cx="6480000" cy="3151800"/>
          </a:xfrm>
          <a:prstGeom prst="rect">
            <a:avLst/>
          </a:prstGeom>
          <a:noFill/>
        </p:spPr>
        <p:txBody>
          <a:bodyPr wrap="square" lIns="0" rIns="0" tIns="0" bIns="0">
            <a:spAutoFit/>
          </a:bodyPr>
          <a:lstStyle/>
          <a:p>
            <a:pPr algn="l"/>
            <a:r>
              <a:rPr sz="800" b="1">
                <a:latin typeface="Arial"/>
              </a:rPr>
              <a:t>Supplementary Fig. S15 | Robustness of the baseline-dependent, bidirectional response when the network phenotype is restricted to MID-specific NP connectivity. </a:t>
            </a:r>
            <a:r>
              <a:rPr sz="800" b="0">
                <a:latin typeface="Arial"/>
              </a:rPr>
              <a:t>The virtual AMPA and GABA-A perturbations were re-analysed in the population-scale simulations with the network phenotype restricted to the NP-related MID-specific connectivity, i.e. the summed six MID edges, in place of the 12-edge NP factor of Fig. 4. Unit of observation is one digital twin; n = 288 (HC 69, high-symptom 89, patients 130). The GABA-A perturbation is applied on top of AMPA, as everywhere else in this work. Box plots show the median, 25th-75th percentiles and 1.5 x IQR whiskers with every twin overplotted; *P &lt; 0.05, **P &lt; 0.01, ***P &lt; 0.001; n.s., not significant. All tests two-sided. </a:t>
            </a:r>
            <a:r>
              <a:rPr sz="800" b="1">
                <a:latin typeface="Arial"/>
              </a:rPr>
              <a:t>a,</a:t>
            </a:r>
            <a:r>
              <a:rPr sz="800" b="0">
                <a:latin typeface="Arial"/>
              </a:rPr>
              <a:t> within-subject effect of each perturbation on the same measure. AMPA raises it by +0.556 +/- 0.609 (239/288 twins, 83.0%, increase; paired t(287) = 15.49, P = 9.4e-40, Wilcoxon P = 4.3e-33, Cohen's dz = 0.913) and GABA-A by +1.022 +/- 1.038 (243/288, 84.4%; t(287) = 16.71, P = 2.9e-44, Wilcoxon P = 1.7e-35, dz = 0.985). The bidirectional response of Fig. 4 is therefore reproduced on the MID-specific measure. </a:t>
            </a:r>
            <a:r>
              <a:rPr sz="800" b="1">
                <a:latin typeface="Arial"/>
              </a:rPr>
              <a:t>b,</a:t>
            </a:r>
            <a:r>
              <a:rPr sz="800" b="0">
                <a:latin typeface="Arial"/>
              </a:rPr>
              <a:t> the three clinical groups in each condition (one-way ANOVA; the symbol is that F test, pairwise contrasts Benjamini-Hochberg-corrected over the three within a condition). At baseline the groups differ, F(2, 285) = 7.47, P = 0.00069 (means HC -0.267, high-symptom -0.002, patients -0.307; q = 0.00848 / 0.653 / 0.00068 for HC vs high-symptom / HC vs patients / high-symptom vs patients). After AMPA the difference is much reduced but not abolished, F(2, 285) = 3.75, P = 0.0246 (q = 0.429 / 0.18 / 0.0234; only high-symptom versus patients survives correction), and after GABA-A it is absent, F(2, 285) = 0.72, P = 0.488 (q = 0.597 / 0.854 / 0.597). On the 12-edge NP factor the contrast was already absent after AMPA (Fig. 4c), so on MID-specific connectivity the convergence is partial under AMPA and complete under GABA-A. The three sub-panels share one y scale. </a:t>
            </a:r>
            <a:r>
              <a:rPr sz="800" b="1">
                <a:latin typeface="Arial"/>
              </a:rPr>
              <a:t>c,</a:t>
            </a:r>
            <a:r>
              <a:rPr sz="800" b="0">
                <a:latin typeface="Arial"/>
              </a:rPr>
              <a:t> Oldham's test for the AMPA perturbation: the change against the mean of the baseline and perturbed level, which is the non-circular way to ask whether the response depends on where a twin starts. r = -0.198 (n = 288, df = 286, P = 0.00074); variance ratio 0.695 (s.d. 0.609 to 0.508), and the slope of the perturbed level on the baseline level is 0.347 (95% CI 0.259 to 0.435, below the identity slope of 1: t = -14.57, P = 2.4e-36). The negative correlation and the variance ratio below 1 are the same fact: the spread contracts, so twins low at baseline gain more and the group converges towards a common level. </a:t>
            </a:r>
            <a:r>
              <a:rPr sz="800" b="1">
                <a:latin typeface="Arial"/>
              </a:rPr>
              <a:t>d,</a:t>
            </a:r>
            <a:r>
              <a:rPr sz="800" b="0">
                <a:latin typeface="Arial"/>
              </a:rPr>
              <a:t> the same for GABA-A: r = +0.569 (n = 288, df = 286, P = 3.8e-26); variance ratio 3.326 (s.d. 0.609 to 1.111), and the slope of the perturbed level on the baseline level is 0.712 (95% CI 0.517 to 0.907, below the identity slope of 1: t = -2.90, P = 0.00402) -- here the correlation is positive and the variance ratio above 1, i.e. the spread expands, so the perturbation moves twins apart rather than together. Oldham's test is used instead of the baseline-versus-change correlation because the change contains the baseline with a negative sign; that circular quantity is r = -0.653 for AMPA and -0.169 for GABA-A and is reported only so that it is not mistaken for the test. </a:t>
            </a:r>
            <a:r>
              <a:rPr sz="800" b="1">
                <a:latin typeface="Arial"/>
              </a:rPr>
              <a:t>e,</a:t>
            </a:r>
            <a:r>
              <a:rPr sz="800" b="0">
                <a:latin typeface="Arial"/>
              </a:rPr>
              <a:t> the baseline level of the two response groups defined on the MID measure itself (both up, n = 208; any down, n = 80; 75.3% of twins fall in the same group as under the NP-factor rule). Twins that respond in both conditions start lower: -0.347 +/- 0.562 versus +0.170 +/- 0.571 (Welch t = -6.91, df = 141.3, P = 1.6e-10, Hedges' g = -0.92, Mann-Whitney P = 2.1e-10). The grouping is defined by the sign of the change, so the change itself is not tested between these groups -- the baseline is, and it is the quantity the split was not built on. The share of both-up twins also differs across the clinical groups (HC 56/69 = 81.2%, high-symptom 55/89 = 61.8%, patients 97/130 = 74.6%; chi2(2) = 7.94, P = 0.0189).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