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S_midnp_A4_nocap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3117" y="906370"/>
            <a:ext cx="16287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81948" y="707221"/>
            <a:ext cx="16287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5" name="TextBox 4"/>
          <p:cNvSpPr txBox="1"/>
          <p:nvPr/>
        </p:nvSpPr>
        <p:spPr>
          <a:xfrm rot="18900000">
            <a:off x="727111" y="2729648"/>
            <a:ext cx="608647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000000"/>
                </a:solidFill>
                <a:latin typeface="Arial"/>
              </a:rPr>
              <a:t>Baseline</a:t>
            </a:r>
          </a:p>
        </p:txBody>
      </p:sp>
      <p:sp>
        <p:nvSpPr>
          <p:cNvPr id="6" name="TextBox 5"/>
          <p:cNvSpPr txBox="1"/>
          <p:nvPr/>
        </p:nvSpPr>
        <p:spPr>
          <a:xfrm rot="18900000">
            <a:off x="1203214" y="2708533"/>
            <a:ext cx="533995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000000"/>
                </a:solidFill>
                <a:latin typeface="Arial"/>
              </a:rPr>
              <a:t>+AMPA</a:t>
            </a:r>
          </a:p>
        </p:txBody>
      </p:sp>
      <p:sp>
        <p:nvSpPr>
          <p:cNvPr id="7" name="TextBox 6"/>
          <p:cNvSpPr txBox="1"/>
          <p:nvPr/>
        </p:nvSpPr>
        <p:spPr>
          <a:xfrm rot="18900000">
            <a:off x="1492641" y="2754359"/>
            <a:ext cx="697230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000000"/>
                </a:solidFill>
                <a:latin typeface="Arial"/>
              </a:rPr>
              <a:t>+GABA-A</a:t>
            </a:r>
          </a:p>
        </p:txBody>
      </p:sp>
      <p:sp>
        <p:nvSpPr>
          <p:cNvPr id="8" name="TextBox 7"/>
          <p:cNvSpPr txBox="1"/>
          <p:nvPr/>
        </p:nvSpPr>
        <p:spPr>
          <a:xfrm rot="16200000">
            <a:off x="135211" y="1508716"/>
            <a:ext cx="1211580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MID summed FC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2026" y="2751649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026" y="2356763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0602" y="1961877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602" y="156699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0602" y="1172105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0602" y="777219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0602" y="382332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891" y="1096388"/>
            <a:ext cx="10858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1002" y="912634"/>
            <a:ext cx="16287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8583" y="728879"/>
            <a:ext cx="23145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n.s.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24292" y="653311"/>
            <a:ext cx="548640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Baseline</a:t>
            </a:r>
          </a:p>
        </p:txBody>
      </p:sp>
      <p:sp>
        <p:nvSpPr>
          <p:cNvPr id="20" name="TextBox 19"/>
          <p:cNvSpPr txBox="1"/>
          <p:nvPr/>
        </p:nvSpPr>
        <p:spPr>
          <a:xfrm rot="18900000">
            <a:off x="3266510" y="2621811"/>
            <a:ext cx="228600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000000"/>
                </a:solidFill>
                <a:latin typeface="Arial"/>
              </a:rPr>
              <a:t>HC</a:t>
            </a:r>
          </a:p>
        </p:txBody>
      </p:sp>
      <p:sp>
        <p:nvSpPr>
          <p:cNvPr id="21" name="TextBox 20"/>
          <p:cNvSpPr txBox="1"/>
          <p:nvPr/>
        </p:nvSpPr>
        <p:spPr>
          <a:xfrm rot="18900000">
            <a:off x="3014626" y="2849265"/>
            <a:ext cx="1031557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000000"/>
                </a:solidFill>
                <a:latin typeface="Arial"/>
              </a:rPr>
              <a:t>High-symptom</a:t>
            </a:r>
          </a:p>
        </p:txBody>
      </p:sp>
      <p:sp>
        <p:nvSpPr>
          <p:cNvPr id="22" name="TextBox 21"/>
          <p:cNvSpPr txBox="1"/>
          <p:nvPr/>
        </p:nvSpPr>
        <p:spPr>
          <a:xfrm rot="18900000">
            <a:off x="3809198" y="2698128"/>
            <a:ext cx="497204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000000"/>
                </a:solidFill>
                <a:latin typeface="Arial"/>
              </a:rPr>
              <a:t>Patient</a:t>
            </a:r>
          </a:p>
        </p:txBody>
      </p:sp>
      <p:sp>
        <p:nvSpPr>
          <p:cNvPr id="23" name="TextBox 22"/>
          <p:cNvSpPr txBox="1"/>
          <p:nvPr/>
        </p:nvSpPr>
        <p:spPr>
          <a:xfrm rot="16200000">
            <a:off x="2429754" y="1508716"/>
            <a:ext cx="1211580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MID summed FC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10026" y="2713783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10026" y="2372195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48603" y="2030606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48603" y="1689017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48603" y="1347429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48603" y="1005840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48603" y="664252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86881" y="322663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33529" y="1096388"/>
            <a:ext cx="23145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n.s.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98370" y="912634"/>
            <a:ext cx="5429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1658" y="728879"/>
            <a:ext cx="23145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n.s.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79499" y="653311"/>
            <a:ext cx="727323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After AMPA</a:t>
            </a:r>
          </a:p>
        </p:txBody>
      </p:sp>
      <p:sp>
        <p:nvSpPr>
          <p:cNvPr id="36" name="TextBox 35"/>
          <p:cNvSpPr txBox="1"/>
          <p:nvPr/>
        </p:nvSpPr>
        <p:spPr>
          <a:xfrm rot="18900000">
            <a:off x="4539585" y="2621811"/>
            <a:ext cx="228600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000000"/>
                </a:solidFill>
                <a:latin typeface="Arial"/>
              </a:rPr>
              <a:t>HC</a:t>
            </a:r>
          </a:p>
        </p:txBody>
      </p:sp>
      <p:sp>
        <p:nvSpPr>
          <p:cNvPr id="37" name="TextBox 36"/>
          <p:cNvSpPr txBox="1"/>
          <p:nvPr/>
        </p:nvSpPr>
        <p:spPr>
          <a:xfrm rot="18900000">
            <a:off x="4287701" y="2849265"/>
            <a:ext cx="1031557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000000"/>
                </a:solidFill>
                <a:latin typeface="Arial"/>
              </a:rPr>
              <a:t>High-symptom</a:t>
            </a:r>
          </a:p>
        </p:txBody>
      </p:sp>
      <p:sp>
        <p:nvSpPr>
          <p:cNvPr id="38" name="TextBox 37"/>
          <p:cNvSpPr txBox="1"/>
          <p:nvPr/>
        </p:nvSpPr>
        <p:spPr>
          <a:xfrm rot="18900000">
            <a:off x="5082273" y="2698128"/>
            <a:ext cx="497204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000000"/>
                </a:solidFill>
                <a:latin typeface="Arial"/>
              </a:rPr>
              <a:t>Patient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06604" y="1096388"/>
            <a:ext cx="23145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n.s.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82862" y="912634"/>
            <a:ext cx="23145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n.s.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94733" y="728879"/>
            <a:ext cx="23145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n.s.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37295" y="653140"/>
            <a:ext cx="880110" cy="13579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After GABA-A</a:t>
            </a:r>
          </a:p>
        </p:txBody>
      </p:sp>
      <p:sp>
        <p:nvSpPr>
          <p:cNvPr id="43" name="TextBox 42"/>
          <p:cNvSpPr txBox="1"/>
          <p:nvPr/>
        </p:nvSpPr>
        <p:spPr>
          <a:xfrm rot="18900000">
            <a:off x="5812660" y="2621811"/>
            <a:ext cx="228600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000000"/>
                </a:solidFill>
                <a:latin typeface="Arial"/>
              </a:rPr>
              <a:t>HC</a:t>
            </a:r>
          </a:p>
        </p:txBody>
      </p:sp>
      <p:sp>
        <p:nvSpPr>
          <p:cNvPr id="44" name="TextBox 43"/>
          <p:cNvSpPr txBox="1"/>
          <p:nvPr/>
        </p:nvSpPr>
        <p:spPr>
          <a:xfrm rot="18900000">
            <a:off x="5560776" y="2849265"/>
            <a:ext cx="1031557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000000"/>
                </a:solidFill>
                <a:latin typeface="Arial"/>
              </a:rPr>
              <a:t>High-symptom</a:t>
            </a:r>
          </a:p>
        </p:txBody>
      </p:sp>
      <p:sp>
        <p:nvSpPr>
          <p:cNvPr id="45" name="TextBox 44"/>
          <p:cNvSpPr txBox="1"/>
          <p:nvPr/>
        </p:nvSpPr>
        <p:spPr>
          <a:xfrm rot="18900000">
            <a:off x="6355348" y="2698128"/>
            <a:ext cx="497204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000000"/>
                </a:solidFill>
                <a:latin typeface="Arial"/>
              </a:rPr>
              <a:t>Patient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111" y="3761400"/>
            <a:ext cx="585787" cy="33521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AMPA
r = −0.20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0132" y="5305126"/>
            <a:ext cx="1943100" cy="34714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Mean of baseline and
perturbed MID summed FC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3718" y="5207173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2839" y="5207173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63392" y="5207173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12513" y="5207173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61634" y="5207173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 rot="16200000">
            <a:off x="-250550" y="4389958"/>
            <a:ext cx="1983105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Change in MID summed FC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5483" y="5318580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5483" y="5083045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5483" y="4847510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4060" y="4611976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4060" y="437644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4060" y="4140906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4060" y="390537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4060" y="3669836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01973" y="3761400"/>
            <a:ext cx="571500" cy="33521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GABA−A
r = 0.57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018566" y="5305126"/>
            <a:ext cx="1943100" cy="34714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Mean of baseline and
perturbed MID summed FC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527177" y="5207173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188023" y="5207173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870300" y="5207173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31145" y="5207173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191991" y="5207173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69" name="TextBox 68"/>
          <p:cNvSpPr txBox="1"/>
          <p:nvPr/>
        </p:nvSpPr>
        <p:spPr>
          <a:xfrm rot="16200000">
            <a:off x="2017882" y="4389958"/>
            <a:ext cx="1983105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Change in MID summed FC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083917" y="5424066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083917" y="5087330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122493" y="4750594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122493" y="4413858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122493" y="4077122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122493" y="3740386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122493" y="3403650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177110" y="3837831"/>
            <a:ext cx="16287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51440" y="5204193"/>
            <a:ext cx="534352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both up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57011" y="5204193"/>
            <a:ext cx="682942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any down</a:t>
            </a:r>
          </a:p>
        </p:txBody>
      </p:sp>
      <p:sp>
        <p:nvSpPr>
          <p:cNvPr id="80" name="TextBox 79"/>
          <p:cNvSpPr txBox="1"/>
          <p:nvPr/>
        </p:nvSpPr>
        <p:spPr>
          <a:xfrm rot="16200000">
            <a:off x="4344895" y="4389958"/>
            <a:ext cx="1865947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Baseline MID summed FC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352351" y="5257433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352351" y="4980988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352351" y="4704543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90927" y="4428097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90927" y="4151652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390927" y="3875207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390927" y="3598762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30284" y="468106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823970" y="468106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30284" y="3492106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797860" y="3492106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067151" y="3492106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