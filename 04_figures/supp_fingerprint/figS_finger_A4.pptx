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finger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2676" y="666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angry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676" y="822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angry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818" y="978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neutral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818" y="1134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neutral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105" y="1290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happy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105" y="1446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happy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676" y="1602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angry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676" y="1758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angry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818" y="1914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neutral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818" y="2070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neutral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105" y="2226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happy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105" y="2382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happy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676" y="2538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angry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676" y="2694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angry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818" y="2850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neutral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818" y="3006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neutral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105" y="3162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happy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105" y="3318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happy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76" y="3474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angry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676" y="3630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angry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818" y="3786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neutral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818" y="3942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neutral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105" y="4098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happy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105" y="4254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happy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768" y="4687235"/>
            <a:ext cx="141446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Participant template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68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sub1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222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sub2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276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sub3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330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7125" y="348377"/>
            <a:ext cx="1408747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Empirical BOLD
23/24 correct = 95.8%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768" y="4687235"/>
            <a:ext cx="141446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Participant template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416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sub1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470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sub2</a:t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524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sub3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578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35118" y="349917"/>
            <a:ext cx="1968817" cy="31100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Digital twins, no re-assimilation
24/24 correct = 100.0%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6097717" y="2452957"/>
            <a:ext cx="117443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Pattern correlation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3018" y="355200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3018" y="328177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3018" y="3011550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3018" y="2741324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7304" y="24710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7304" y="220087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7304" y="193064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7304" y="166041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7304" y="139019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5829" y="5654703"/>
            <a:ext cx="68580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4559" y="7579251"/>
            <a:ext cx="5172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26274" y="7579251"/>
            <a:ext cx="3216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Twins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247806" y="6339308"/>
            <a:ext cx="1431607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Identification margin
(self − best other 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788" y="775623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788" y="737361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5364" y="699099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5364" y="660837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5364" y="622575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5364" y="584312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5364" y="546050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5364" y="507788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11789" y="5696892"/>
            <a:ext cx="40576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95.8%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5697" y="5624478"/>
            <a:ext cx="48577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100.0%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07291" y="6931402"/>
            <a:ext cx="82867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D55E00"/>
                </a:solidFill>
                <a:latin typeface="Arial"/>
              </a:rPr>
              <a:t>chance, 25%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56068" y="7579251"/>
            <a:ext cx="5172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67783" y="7579251"/>
            <a:ext cx="3216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Twins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3151475" y="6438828"/>
            <a:ext cx="188023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Identification accuracy (%)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9456" y="747241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17734" y="7037935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17734" y="6603452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17734" y="616896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56012" y="5734487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25322" y="5205698"/>
            <a:ext cx="1603057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exact binomial vs chance
P = 2.6e-13 and 3.6e-15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3909" y="19975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0652" y="19975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3909" y="505707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80652" y="505707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0000" y="7794519"/>
            <a:ext cx="6480000" cy="1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Supplementary</a:t>
            </a:r>
            <a:r>
              <a:rPr sz="800" b="1">
                <a:latin typeface="Arial"/>
              </a:rPr>
              <a:t>Fig.</a:t>
            </a:r>
            <a:r>
              <a:rPr sz="800" b="1">
                <a:latin typeface="Arial"/>
              </a:rPr>
              <a:t>S16</a:t>
            </a:r>
            <a:r>
              <a:rPr sz="800" b="1">
                <a:latin typeface="Arial"/>
              </a:rPr>
              <a:t>|</a:t>
            </a:r>
            <a:r>
              <a:rPr sz="800" b="0">
                <a:latin typeface="Arial"/>
              </a:rPr>
              <a:t>Digital</a:t>
            </a:r>
            <a:r>
              <a:rPr sz="800" b="0">
                <a:latin typeface="Arial"/>
              </a:rPr>
              <a:t>twin</a:t>
            </a:r>
            <a:r>
              <a:rPr sz="800" b="0">
                <a:latin typeface="Arial"/>
              </a:rPr>
              <a:t>brains</a:t>
            </a:r>
            <a:r>
              <a:rPr sz="800" b="0">
                <a:latin typeface="Arial"/>
              </a:rPr>
              <a:t>preserve</a:t>
            </a:r>
            <a:r>
              <a:rPr sz="800" b="0">
                <a:latin typeface="Arial"/>
              </a:rPr>
              <a:t>participant-specific</a:t>
            </a:r>
            <a:r>
              <a:rPr sz="800" b="0">
                <a:latin typeface="Arial"/>
              </a:rPr>
              <a:t>signatures</a:t>
            </a:r>
            <a:r>
              <a:rPr sz="800" b="0">
                <a:latin typeface="Arial"/>
              </a:rPr>
              <a:t>on</a:t>
            </a:r>
            <a:r>
              <a:rPr sz="800" b="0">
                <a:latin typeface="Arial"/>
              </a:rPr>
              <a:t>held-out</a:t>
            </a:r>
            <a:r>
              <a:rPr sz="800" b="0">
                <a:latin typeface="Arial"/>
              </a:rPr>
              <a:t>trials</a:t>
            </a:r>
            <a:r>
              <a:rPr sz="800" b="0">
                <a:latin typeface="Arial"/>
              </a:rPr>
              <a:t>without</a:t>
            </a:r>
            <a:r>
              <a:rPr sz="800" b="0">
                <a:latin typeface="Arial"/>
              </a:rPr>
              <a:t>re-assimilation.</a:t>
            </a:r>
            <a:r>
              <a:rPr sz="800" b="0">
                <a:latin typeface="Arial"/>
              </a:rPr>
              <a:t>Four</a:t>
            </a:r>
            <a:r>
              <a:rPr sz="800" b="0">
                <a:latin typeface="Arial"/>
              </a:rPr>
              <a:t>participants</a:t>
            </a:r>
            <a:r>
              <a:rPr sz="800" b="0">
                <a:latin typeface="Arial"/>
              </a:rPr>
              <a:t>(sub1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sub2,</a:t>
            </a:r>
            <a:r>
              <a:rPr sz="800" b="0">
                <a:latin typeface="Arial"/>
              </a:rPr>
              <a:t>healthy</a:t>
            </a:r>
            <a:r>
              <a:rPr sz="800" b="0">
                <a:latin typeface="Arial"/>
              </a:rPr>
              <a:t>controls;</a:t>
            </a:r>
            <a:r>
              <a:rPr sz="800" b="0">
                <a:latin typeface="Arial"/>
              </a:rPr>
              <a:t>sub3,</a:t>
            </a:r>
            <a:r>
              <a:rPr sz="800" b="0">
                <a:latin typeface="Arial"/>
              </a:rPr>
              <a:t>alcohol</a:t>
            </a:r>
            <a:r>
              <a:rPr sz="800" b="0">
                <a:latin typeface="Arial"/>
              </a:rPr>
              <a:t>use</a:t>
            </a:r>
            <a:r>
              <a:rPr sz="800" b="0">
                <a:latin typeface="Arial"/>
              </a:rPr>
              <a:t>disorder;</a:t>
            </a:r>
            <a:r>
              <a:rPr sz="800" b="0">
                <a:latin typeface="Arial"/>
              </a:rPr>
              <a:t>sub4,</a:t>
            </a:r>
            <a:r>
              <a:rPr sz="800" b="0">
                <a:latin typeface="Arial"/>
              </a:rPr>
              <a:t>major</a:t>
            </a:r>
            <a:r>
              <a:rPr sz="800" b="0">
                <a:latin typeface="Arial"/>
              </a:rPr>
              <a:t>depressive</a:t>
            </a:r>
            <a:r>
              <a:rPr sz="800" b="0">
                <a:latin typeface="Arial"/>
              </a:rPr>
              <a:t>disorder)</a:t>
            </a:r>
            <a:r>
              <a:rPr sz="800" b="0">
                <a:latin typeface="Arial"/>
              </a:rPr>
              <a:t>x</a:t>
            </a:r>
            <a:r>
              <a:rPr sz="800" b="0">
                <a:latin typeface="Arial"/>
              </a:rPr>
              <a:t>6</a:t>
            </a:r>
            <a:r>
              <a:rPr sz="800" b="0">
                <a:latin typeface="Arial"/>
              </a:rPr>
              <a:t>held-out</a:t>
            </a:r>
            <a:r>
              <a:rPr sz="800" b="0">
                <a:latin typeface="Arial"/>
              </a:rPr>
              <a:t>emotional-face</a:t>
            </a:r>
            <a:r>
              <a:rPr sz="800" b="0">
                <a:latin typeface="Arial"/>
              </a:rPr>
              <a:t>trials</a:t>
            </a:r>
            <a:r>
              <a:rPr sz="800" b="0">
                <a:latin typeface="Arial"/>
              </a:rPr>
              <a:t>(n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24</a:t>
            </a:r>
            <a:r>
              <a:rPr sz="800" b="0">
                <a:latin typeface="Arial"/>
              </a:rPr>
              <a:t>trials;</a:t>
            </a:r>
            <a:r>
              <a:rPr sz="800" b="0">
                <a:latin typeface="Arial"/>
              </a:rPr>
              <a:t>unit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observation,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held-out</a:t>
            </a:r>
            <a:r>
              <a:rPr sz="800" b="0">
                <a:latin typeface="Arial"/>
              </a:rPr>
              <a:t>trial;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labels</a:t>
            </a:r>
            <a:r>
              <a:rPr sz="800" b="0">
                <a:latin typeface="Arial"/>
              </a:rPr>
              <a:t>sub1-sub4</a:t>
            </a:r>
            <a:r>
              <a:rPr sz="800" b="0">
                <a:latin typeface="Arial"/>
              </a:rPr>
              <a:t>are</a:t>
            </a:r>
            <a:r>
              <a:rPr sz="800" b="0">
                <a:latin typeface="Arial"/>
              </a:rPr>
              <a:t>local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this</a:t>
            </a:r>
            <a:r>
              <a:rPr sz="800" b="0">
                <a:latin typeface="Arial"/>
              </a:rPr>
              <a:t>figure).</a:t>
            </a:r>
            <a:r>
              <a:rPr sz="800" b="0">
                <a:latin typeface="Arial"/>
              </a:rPr>
              <a:t>Hyperparameters</a:t>
            </a:r>
            <a:r>
              <a:rPr sz="800" b="0">
                <a:latin typeface="Arial"/>
              </a:rPr>
              <a:t>were</a:t>
            </a:r>
            <a:r>
              <a:rPr sz="800" b="0">
                <a:latin typeface="Arial"/>
              </a:rPr>
              <a:t>estimated</a:t>
            </a:r>
            <a:r>
              <a:rPr sz="800" b="0">
                <a:latin typeface="Arial"/>
              </a:rPr>
              <a:t>from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first</a:t>
            </a:r>
            <a:r>
              <a:rPr sz="800" b="0">
                <a:latin typeface="Arial"/>
              </a:rPr>
              <a:t>half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second</a:t>
            </a:r>
            <a:r>
              <a:rPr sz="800" b="0">
                <a:latin typeface="Arial"/>
              </a:rPr>
              <a:t>half</a:t>
            </a:r>
            <a:r>
              <a:rPr sz="800" b="0">
                <a:latin typeface="Arial"/>
              </a:rPr>
              <a:t>was</a:t>
            </a:r>
            <a:r>
              <a:rPr sz="800" b="0">
                <a:latin typeface="Arial"/>
              </a:rPr>
              <a:t>simulated</a:t>
            </a:r>
            <a:r>
              <a:rPr sz="800" b="0">
                <a:latin typeface="Arial"/>
              </a:rPr>
              <a:t>forward</a:t>
            </a:r>
            <a:r>
              <a:rPr sz="800" b="0">
                <a:latin typeface="Arial"/>
              </a:rPr>
              <a:t>without</a:t>
            </a:r>
            <a:r>
              <a:rPr sz="800" b="0">
                <a:latin typeface="Arial"/>
              </a:rPr>
              <a:t>re-assimilation,</a:t>
            </a:r>
            <a:r>
              <a:rPr sz="800" b="0">
                <a:latin typeface="Arial"/>
              </a:rPr>
              <a:t>so</a:t>
            </a:r>
            <a:r>
              <a:rPr sz="800" b="0">
                <a:latin typeface="Arial"/>
              </a:rPr>
              <a:t>every</a:t>
            </a:r>
            <a:r>
              <a:rPr sz="800" b="0">
                <a:latin typeface="Arial"/>
              </a:rPr>
              <a:t>panel</a:t>
            </a:r>
            <a:r>
              <a:rPr sz="800" b="0">
                <a:latin typeface="Arial"/>
              </a:rPr>
              <a:t>tests</a:t>
            </a:r>
            <a:r>
              <a:rPr sz="800" b="0">
                <a:latin typeface="Arial"/>
              </a:rPr>
              <a:t>generalisation</a:t>
            </a:r>
            <a:r>
              <a:rPr sz="800" b="0">
                <a:latin typeface="Arial"/>
              </a:rPr>
              <a:t>rather</a:t>
            </a:r>
            <a:r>
              <a:rPr sz="800" b="0">
                <a:latin typeface="Arial"/>
              </a:rPr>
              <a:t>than</a:t>
            </a:r>
            <a:r>
              <a:rPr sz="800" b="0">
                <a:latin typeface="Arial"/>
              </a:rPr>
              <a:t>fit.</a:t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Pearson</a:t>
            </a:r>
            <a:r>
              <a:rPr sz="800" b="0">
                <a:latin typeface="Arial"/>
              </a:rPr>
              <a:t>correlation</a:t>
            </a:r>
            <a:r>
              <a:rPr sz="800" b="0">
                <a:latin typeface="Arial"/>
              </a:rPr>
              <a:t>between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held-out</a:t>
            </a:r>
            <a:r>
              <a:rPr sz="800" b="0">
                <a:latin typeface="Arial"/>
              </a:rPr>
              <a:t>trial's</a:t>
            </a:r>
            <a:r>
              <a:rPr sz="800" b="0">
                <a:latin typeface="Arial"/>
              </a:rPr>
              <a:t>activation</a:t>
            </a:r>
            <a:r>
              <a:rPr sz="800" b="0">
                <a:latin typeface="Arial"/>
              </a:rPr>
              <a:t>pattern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participant's</a:t>
            </a:r>
            <a:r>
              <a:rPr sz="800" b="0">
                <a:latin typeface="Arial"/>
              </a:rPr>
              <a:t>template,</a:t>
            </a:r>
            <a:r>
              <a:rPr sz="800" b="0">
                <a:latin typeface="Arial"/>
              </a:rPr>
              <a:t>from</a:t>
            </a:r>
            <a:r>
              <a:rPr sz="800" b="0">
                <a:latin typeface="Arial"/>
              </a:rPr>
              <a:t>empirical</a:t>
            </a:r>
            <a:r>
              <a:rPr sz="800" b="0">
                <a:latin typeface="Arial"/>
              </a:rPr>
              <a:t>BOLD;</a:t>
            </a:r>
            <a:r>
              <a:rPr sz="800" b="0">
                <a:latin typeface="Arial"/>
              </a:rPr>
              <a:t>colour</a:t>
            </a:r>
            <a:r>
              <a:rPr sz="800" b="0">
                <a:latin typeface="Arial"/>
              </a:rPr>
              <a:t>scale</a:t>
            </a:r>
            <a:r>
              <a:rPr sz="800" b="0">
                <a:latin typeface="Arial"/>
              </a:rPr>
              <a:t>symmetric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+/-0.30,</a:t>
            </a:r>
            <a:r>
              <a:rPr sz="800" b="0">
                <a:latin typeface="Arial"/>
              </a:rPr>
              <a:t>black</a:t>
            </a:r>
            <a:r>
              <a:rPr sz="800" b="0">
                <a:latin typeface="Arial"/>
              </a:rPr>
              <a:t>outline</a:t>
            </a:r>
            <a:r>
              <a:rPr sz="800" b="0">
                <a:latin typeface="Arial"/>
              </a:rPr>
              <a:t>marks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correct</a:t>
            </a:r>
            <a:r>
              <a:rPr sz="800" b="0">
                <a:latin typeface="Arial"/>
              </a:rPr>
              <a:t>template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an</a:t>
            </a:r>
            <a:r>
              <a:rPr sz="800" b="0">
                <a:latin typeface="Arial"/>
              </a:rPr>
              <a:t>orange</a:t>
            </a:r>
            <a:r>
              <a:rPr sz="800" b="0">
                <a:latin typeface="Arial"/>
              </a:rPr>
              <a:t>outline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template</a:t>
            </a:r>
            <a:r>
              <a:rPr sz="800" b="0">
                <a:latin typeface="Arial"/>
              </a:rPr>
              <a:t>actually</a:t>
            </a:r>
            <a:r>
              <a:rPr sz="800" b="0">
                <a:latin typeface="Arial"/>
              </a:rPr>
              <a:t>selected</a:t>
            </a:r>
            <a:r>
              <a:rPr sz="800" b="0">
                <a:latin typeface="Arial"/>
              </a:rPr>
              <a:t>when</a:t>
            </a:r>
            <a:r>
              <a:rPr sz="800" b="0">
                <a:latin typeface="Arial"/>
              </a:rPr>
              <a:t>identification</a:t>
            </a:r>
            <a:r>
              <a:rPr sz="800" b="0">
                <a:latin typeface="Arial"/>
              </a:rPr>
              <a:t>failed;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error</a:t>
            </a:r>
            <a:r>
              <a:rPr sz="800" b="0">
                <a:latin typeface="Arial"/>
              </a:rPr>
              <a:t>indicator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inferential</a:t>
            </a:r>
            <a:r>
              <a:rPr sz="800" b="0">
                <a:latin typeface="Arial"/>
              </a:rPr>
              <a:t>test</a:t>
            </a:r>
            <a:r>
              <a:rPr sz="800" b="0">
                <a:latin typeface="Arial"/>
              </a:rPr>
              <a:t>(descriptive</a:t>
            </a:r>
            <a:r>
              <a:rPr sz="800" b="0">
                <a:latin typeface="Arial"/>
              </a:rPr>
              <a:t>similarity</a:t>
            </a:r>
            <a:r>
              <a:rPr sz="800" b="0">
                <a:latin typeface="Arial"/>
              </a:rPr>
              <a:t>matrix).</a:t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same</a:t>
            </a:r>
            <a:r>
              <a:rPr sz="800" b="0">
                <a:latin typeface="Arial"/>
              </a:rPr>
              <a:t>matrix</a:t>
            </a:r>
            <a:r>
              <a:rPr sz="800" b="0">
                <a:latin typeface="Arial"/>
              </a:rPr>
              <a:t>from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digital</a:t>
            </a:r>
            <a:r>
              <a:rPr sz="800" b="0">
                <a:latin typeface="Arial"/>
              </a:rPr>
              <a:t>twins.</a:t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Identification</a:t>
            </a:r>
            <a:r>
              <a:rPr sz="800" b="0">
                <a:latin typeface="Arial"/>
              </a:rPr>
              <a:t>margin</a:t>
            </a:r>
            <a:r>
              <a:rPr sz="800" b="0">
                <a:latin typeface="Arial"/>
              </a:rPr>
              <a:t>per</a:t>
            </a:r>
            <a:r>
              <a:rPr sz="800" b="0">
                <a:latin typeface="Arial"/>
              </a:rPr>
              <a:t>trial</a:t>
            </a:r>
            <a:r>
              <a:rPr sz="800" b="0">
                <a:latin typeface="Arial"/>
              </a:rPr>
              <a:t>(self</a:t>
            </a:r>
            <a:r>
              <a:rPr sz="800" b="0">
                <a:latin typeface="Arial"/>
              </a:rPr>
              <a:t>minus</a:t>
            </a:r>
            <a:r>
              <a:rPr sz="800" b="0">
                <a:latin typeface="Arial"/>
              </a:rPr>
              <a:t>best-other</a:t>
            </a:r>
            <a:r>
              <a:rPr sz="800" b="0">
                <a:latin typeface="Arial"/>
              </a:rPr>
              <a:t>correlation);</a:t>
            </a:r>
            <a:r>
              <a:rPr sz="800" b="0">
                <a:latin typeface="Arial"/>
              </a:rPr>
              <a:t>boxes</a:t>
            </a:r>
            <a:r>
              <a:rPr sz="800" b="0">
                <a:latin typeface="Arial"/>
              </a:rPr>
              <a:t>show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median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interquartile</a:t>
            </a:r>
            <a:r>
              <a:rPr sz="800" b="0">
                <a:latin typeface="Arial"/>
              </a:rPr>
              <a:t>range</a:t>
            </a:r>
            <a:r>
              <a:rPr sz="800" b="0">
                <a:latin typeface="Arial"/>
              </a:rPr>
              <a:t>with</a:t>
            </a:r>
            <a:r>
              <a:rPr sz="800" b="0">
                <a:latin typeface="Arial"/>
              </a:rPr>
              <a:t>whiskers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1.5x</a:t>
            </a:r>
            <a:r>
              <a:rPr sz="800" b="0">
                <a:latin typeface="Arial"/>
              </a:rPr>
              <a:t>IQR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every</a:t>
            </a:r>
            <a:r>
              <a:rPr sz="800" b="0">
                <a:latin typeface="Arial"/>
              </a:rPr>
              <a:t>trial</a:t>
            </a:r>
            <a:r>
              <a:rPr sz="800" b="0">
                <a:latin typeface="Arial"/>
              </a:rPr>
              <a:t>plotted;</a:t>
            </a:r>
            <a:r>
              <a:rPr sz="800" b="0">
                <a:latin typeface="Arial"/>
              </a:rPr>
              <a:t>empirical</a:t>
            </a:r>
            <a:r>
              <a:rPr sz="800" b="0">
                <a:latin typeface="Arial"/>
              </a:rPr>
              <a:t>0.1628</a:t>
            </a:r>
            <a:r>
              <a:rPr sz="800" b="0">
                <a:latin typeface="Arial"/>
              </a:rPr>
              <a:t>+/-</a:t>
            </a:r>
            <a:r>
              <a:rPr sz="800" b="0">
                <a:latin typeface="Arial"/>
              </a:rPr>
              <a:t>0.0699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twins</a:t>
            </a:r>
            <a:r>
              <a:rPr sz="800" b="0">
                <a:latin typeface="Arial"/>
              </a:rPr>
              <a:t>0.1974</a:t>
            </a:r>
            <a:r>
              <a:rPr sz="800" b="0">
                <a:latin typeface="Arial"/>
              </a:rPr>
              <a:t>+/-</a:t>
            </a:r>
            <a:r>
              <a:rPr sz="800" b="0">
                <a:latin typeface="Arial"/>
              </a:rPr>
              <a:t>0.0426,</a:t>
            </a:r>
            <a:r>
              <a:rPr sz="800" b="0">
                <a:latin typeface="Arial"/>
              </a:rPr>
              <a:t>two-sided</a:t>
            </a:r>
            <a:r>
              <a:rPr sz="800" b="0">
                <a:latin typeface="Arial"/>
              </a:rPr>
              <a:t>paired</a:t>
            </a:r>
            <a:r>
              <a:rPr sz="800" b="0">
                <a:latin typeface="Arial"/>
              </a:rPr>
              <a:t>t</a:t>
            </a:r>
            <a:r>
              <a:rPr sz="800" b="0">
                <a:latin typeface="Arial"/>
              </a:rPr>
              <a:t>test,</a:t>
            </a:r>
            <a:r>
              <a:rPr sz="800" b="0">
                <a:latin typeface="Arial"/>
              </a:rPr>
              <a:t>t(23)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2.293,</a:t>
            </a:r>
            <a:r>
              <a:rPr sz="800" b="0">
                <a:latin typeface="Arial"/>
              </a:rPr>
              <a:t>*P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0.03134</a:t>
            </a:r>
            <a:r>
              <a:rPr sz="800" b="0">
                <a:latin typeface="Arial"/>
              </a:rPr>
              <a:t>(the</a:t>
            </a:r>
            <a:r>
              <a:rPr sz="800" b="0">
                <a:latin typeface="Arial"/>
              </a:rPr>
              <a:t>asterisk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panel</a:t>
            </a:r>
            <a:r>
              <a:rPr sz="800" b="0">
                <a:latin typeface="Arial"/>
              </a:rPr>
              <a:t>marks</a:t>
            </a:r>
            <a:r>
              <a:rPr sz="800" b="0">
                <a:latin typeface="Arial"/>
              </a:rPr>
              <a:t>this</a:t>
            </a:r>
            <a:r>
              <a:rPr sz="800" b="0">
                <a:latin typeface="Arial"/>
              </a:rPr>
              <a:t>test;</a:t>
            </a:r>
            <a:r>
              <a:rPr sz="800" b="0">
                <a:latin typeface="Arial"/>
              </a:rPr>
              <a:t>Wilcoxon</a:t>
            </a:r>
            <a:r>
              <a:rPr sz="800" b="0">
                <a:latin typeface="Arial"/>
              </a:rPr>
              <a:t>signed-rank</a:t>
            </a:r>
            <a:r>
              <a:rPr sz="800" b="0">
                <a:latin typeface="Arial"/>
              </a:rPr>
              <a:t>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0.01787),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multiple-comparison</a:t>
            </a:r>
            <a:r>
              <a:rPr sz="800" b="0">
                <a:latin typeface="Arial"/>
              </a:rPr>
              <a:t>correction</a:t>
            </a:r>
            <a:r>
              <a:rPr sz="800" b="0">
                <a:latin typeface="Arial"/>
              </a:rPr>
              <a:t>(one</a:t>
            </a:r>
            <a:r>
              <a:rPr sz="800" b="0">
                <a:latin typeface="Arial"/>
              </a:rPr>
              <a:t>pre-specified</a:t>
            </a:r>
            <a:r>
              <a:rPr sz="800" b="0">
                <a:latin typeface="Arial"/>
              </a:rPr>
              <a:t>contrast).</a:t>
            </a:r>
            <a:r>
              <a:rPr sz="800" b="0">
                <a:latin typeface="Arial"/>
              </a:rPr>
              <a:t>Within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data</a:t>
            </a:r>
            <a:r>
              <a:rPr sz="800" b="0">
                <a:latin typeface="Arial"/>
              </a:rPr>
              <a:t>type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self</a:t>
            </a:r>
            <a:r>
              <a:rPr sz="800" b="0">
                <a:latin typeface="Arial"/>
              </a:rPr>
              <a:t>correlation</a:t>
            </a:r>
            <a:r>
              <a:rPr sz="800" b="0">
                <a:latin typeface="Arial"/>
              </a:rPr>
              <a:t>exceeds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best</a:t>
            </a:r>
            <a:r>
              <a:rPr sz="800" b="0">
                <a:latin typeface="Arial"/>
              </a:rPr>
              <a:t>other</a:t>
            </a:r>
            <a:r>
              <a:rPr sz="800" b="0">
                <a:latin typeface="Arial"/>
              </a:rPr>
              <a:t>correlation:</a:t>
            </a:r>
            <a:r>
              <a:rPr sz="800" b="0">
                <a:latin typeface="Arial"/>
              </a:rPr>
              <a:t>empirical</a:t>
            </a:r>
            <a:r>
              <a:rPr sz="800" b="0">
                <a:latin typeface="Arial"/>
              </a:rPr>
              <a:t>0.1662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0.0034,</a:t>
            </a:r>
            <a:r>
              <a:rPr sz="800" b="0">
                <a:latin typeface="Arial"/>
              </a:rPr>
              <a:t>t(23)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11.411,</a:t>
            </a:r>
            <a:r>
              <a:rPr sz="800" b="0">
                <a:latin typeface="Arial"/>
              </a:rPr>
              <a:t>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5.99e-11;</a:t>
            </a:r>
            <a:r>
              <a:rPr sz="800" b="0">
                <a:latin typeface="Arial"/>
              </a:rPr>
              <a:t>twins</a:t>
            </a:r>
            <a:r>
              <a:rPr sz="800" b="0">
                <a:latin typeface="Arial"/>
              </a:rPr>
              <a:t>0.2021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0.0047,</a:t>
            </a:r>
            <a:r>
              <a:rPr sz="800" b="0">
                <a:latin typeface="Arial"/>
              </a:rPr>
              <a:t>t(23)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22.725,</a:t>
            </a:r>
            <a:r>
              <a:rPr sz="800" b="0">
                <a:latin typeface="Arial"/>
              </a:rPr>
              <a:t>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2.94e-17.</a:t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d,</a:t>
            </a:r>
            <a:r>
              <a:rPr sz="800" b="0">
                <a:latin typeface="Arial"/>
              </a:rPr>
              <a:t>Identification</a:t>
            </a:r>
            <a:r>
              <a:rPr sz="800" b="0">
                <a:latin typeface="Arial"/>
              </a:rPr>
              <a:t>accuracy</a:t>
            </a:r>
            <a:r>
              <a:rPr sz="800" b="0">
                <a:latin typeface="Arial"/>
              </a:rPr>
              <a:t>against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25%</a:t>
            </a:r>
            <a:r>
              <a:rPr sz="800" b="0">
                <a:latin typeface="Arial"/>
              </a:rPr>
              <a:t>chance</a:t>
            </a:r>
            <a:r>
              <a:rPr sz="800" b="0">
                <a:latin typeface="Arial"/>
              </a:rPr>
              <a:t>level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four-way</a:t>
            </a:r>
            <a:r>
              <a:rPr sz="800" b="0">
                <a:latin typeface="Arial"/>
              </a:rPr>
              <a:t>choice;</a:t>
            </a:r>
            <a:r>
              <a:rPr sz="800" b="0">
                <a:latin typeface="Arial"/>
              </a:rPr>
              <a:t>bars</a:t>
            </a:r>
            <a:r>
              <a:rPr sz="800" b="0">
                <a:latin typeface="Arial"/>
              </a:rPr>
              <a:t>show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percentage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trials</a:t>
            </a:r>
            <a:r>
              <a:rPr sz="800" b="0">
                <a:latin typeface="Arial"/>
              </a:rPr>
              <a:t>identified</a:t>
            </a:r>
            <a:r>
              <a:rPr sz="800" b="0">
                <a:latin typeface="Arial"/>
              </a:rPr>
              <a:t>correctly,</a:t>
            </a:r>
            <a:r>
              <a:rPr sz="800" b="0">
                <a:latin typeface="Arial"/>
              </a:rPr>
              <a:t>with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error</a:t>
            </a:r>
            <a:r>
              <a:rPr sz="800" b="0">
                <a:latin typeface="Arial"/>
              </a:rPr>
              <a:t>bar</a:t>
            </a:r>
            <a:r>
              <a:rPr sz="800" b="0">
                <a:latin typeface="Arial"/>
              </a:rPr>
              <a:t>because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quantity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count</a:t>
            </a:r>
            <a:r>
              <a:rPr sz="800" b="0">
                <a:latin typeface="Arial"/>
              </a:rPr>
              <a:t>over</a:t>
            </a:r>
            <a:r>
              <a:rPr sz="800" b="0">
                <a:latin typeface="Arial"/>
              </a:rPr>
              <a:t>all</a:t>
            </a:r>
            <a:r>
              <a:rPr sz="800" b="0">
                <a:latin typeface="Arial"/>
              </a:rPr>
              <a:t>24</a:t>
            </a:r>
            <a:r>
              <a:rPr sz="800" b="0">
                <a:latin typeface="Arial"/>
              </a:rPr>
              <a:t>trials:</a:t>
            </a:r>
            <a:r>
              <a:rPr sz="800" b="0">
                <a:latin typeface="Arial"/>
              </a:rPr>
              <a:t>empirical</a:t>
            </a:r>
            <a:r>
              <a:rPr sz="800" b="0">
                <a:latin typeface="Arial"/>
              </a:rPr>
              <a:t>23/24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95.8%</a:t>
            </a:r>
            <a:r>
              <a:rPr sz="800" b="0">
                <a:latin typeface="Arial"/>
              </a:rPr>
              <a:t>(the</a:t>
            </a:r>
            <a:r>
              <a:rPr sz="800" b="0">
                <a:latin typeface="Arial"/>
              </a:rPr>
              <a:t>single</a:t>
            </a:r>
            <a:r>
              <a:rPr sz="800" b="0">
                <a:latin typeface="Arial"/>
              </a:rPr>
              <a:t>failure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happy</a:t>
            </a:r>
            <a:r>
              <a:rPr sz="800" b="0">
                <a:latin typeface="Arial"/>
              </a:rPr>
              <a:t>trial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sub3,</a:t>
            </a:r>
            <a:r>
              <a:rPr sz="800" b="0">
                <a:latin typeface="Arial"/>
              </a:rPr>
              <a:t>assigned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sub1</a:t>
            </a:r>
            <a:r>
              <a:rPr sz="800" b="0">
                <a:latin typeface="Arial"/>
              </a:rPr>
              <a:t>template)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twins</a:t>
            </a:r>
            <a:r>
              <a:rPr sz="800" b="0">
                <a:latin typeface="Arial"/>
              </a:rPr>
              <a:t>24/24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100.0%;</a:t>
            </a:r>
            <a:r>
              <a:rPr sz="800" b="0">
                <a:latin typeface="Arial"/>
              </a:rPr>
              <a:t>one-sided</a:t>
            </a:r>
            <a:r>
              <a:rPr sz="800" b="0">
                <a:latin typeface="Arial"/>
              </a:rPr>
              <a:t>exact</a:t>
            </a:r>
            <a:r>
              <a:rPr sz="800" b="0">
                <a:latin typeface="Arial"/>
              </a:rPr>
              <a:t>binomial</a:t>
            </a:r>
            <a:r>
              <a:rPr sz="800" b="0">
                <a:latin typeface="Arial"/>
              </a:rPr>
              <a:t>test</a:t>
            </a:r>
            <a:r>
              <a:rPr sz="800" b="0">
                <a:latin typeface="Arial"/>
              </a:rPr>
              <a:t>against</a:t>
            </a:r>
            <a:r>
              <a:rPr sz="800" b="0">
                <a:latin typeface="Arial"/>
              </a:rPr>
              <a:t>0.25,</a:t>
            </a:r>
            <a:r>
              <a:rPr sz="800" b="0">
                <a:latin typeface="Arial"/>
              </a:rPr>
              <a:t>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2.59e-13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P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3.55e-15.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