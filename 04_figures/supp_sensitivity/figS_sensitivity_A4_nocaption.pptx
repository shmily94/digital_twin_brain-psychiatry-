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_sensitivity_A4_nocaption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0000" cy="1069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7268" y="1293783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0.73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9545" y="1151015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0.83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3829" y="1957755"/>
            <a:ext cx="5057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E1D09A"/>
                </a:solidFill>
                <a:latin typeface="Arial"/>
              </a:rPr>
              <a:t>used in
main 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823" y="1293783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0.61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02063" y="870105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1.47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4341" y="727337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1.60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8624" y="1957755"/>
            <a:ext cx="50577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96B9AD"/>
                </a:solidFill>
                <a:latin typeface="Arial"/>
              </a:rPr>
              <a:t>used in
main 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6619" y="870105"/>
            <a:ext cx="474345" cy="12388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d = 1.29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6655" y="2421346"/>
            <a:ext cx="1000125" cy="16573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AMPA (S cm^{-2})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8584" y="2421346"/>
            <a:ext cx="1145857" cy="16573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000000"/>
                </a:solidFill>
                <a:latin typeface="Arial"/>
              </a:rPr>
              <a:t>GABA-A (S cm^{-2})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5845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8123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40401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0640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2918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55196" y="2289931"/>
            <a:ext cx="37719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0.0045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-1859" y="1364716"/>
            <a:ext cx="1485721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Mean Δ NP (95% CI)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483" y="2377781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483" y="2118202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060" y="185862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60" y="1599046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060" y="133946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60" y="107988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60" y="82031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60" y="56073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66910" y="2567071"/>
            <a:ext cx="392325" cy="13408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E1D09A"/>
                </a:solidFill>
                <a:latin typeface="Arial"/>
              </a:rPr>
              <a:t>AMPA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70724" y="2566900"/>
            <a:ext cx="537210" cy="135795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900" b="0" i="0">
                <a:solidFill>
                  <a:srgbClr val="96B9AD"/>
                </a:solidFill>
                <a:latin typeface="Arial"/>
              </a:rPr>
              <a:t>GABA-A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6201" y="2274205"/>
            <a:ext cx="4029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0.0040
weaker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61619" y="2274205"/>
            <a:ext cx="4029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0.0044
original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9892" y="2274205"/>
            <a:ext cx="45720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0.0048
stronger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2457" y="2274205"/>
            <a:ext cx="4029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0.0035
weaker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37876" y="2274205"/>
            <a:ext cx="402907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0.0040
original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6148" y="2274205"/>
            <a:ext cx="457200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0.0045
stronger</a:t>
            </a:r>
          </a:p>
        </p:txBody>
      </p:sp>
      <p:sp>
        <p:nvSpPr>
          <p:cNvPr id="36" name="TextBox 35"/>
          <p:cNvSpPr txBox="1"/>
          <p:nvPr/>
        </p:nvSpPr>
        <p:spPr>
          <a:xfrm rot="16200000">
            <a:off x="3072616" y="1365508"/>
            <a:ext cx="2031503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Twins with increased NP 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76231" y="2183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14509" y="153391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52787" y="884736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49107" y="646241"/>
            <a:ext cx="1828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HC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96992" y="646241"/>
            <a:ext cx="80867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High-symptom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50381" y="646241"/>
            <a:ext cx="38576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Patient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9653" y="4548613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158" y="452449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621" y="436772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31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72374" y="4458167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44127" y="4253158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50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81590" y="3439150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595959"/>
                </a:solidFill>
                <a:latin typeface="Arial"/>
              </a:rPr>
              <a:t>185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8475" y="3115875"/>
            <a:ext cx="1240154" cy="27644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595959"/>
                </a:solidFill>
                <a:latin typeface="Arial"/>
              </a:rPr>
              <a:t>185/288 = 64.2%
increased under all six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4770" y="4855542"/>
            <a:ext cx="2328862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Settings with increased NP (of 6)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9653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91406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63158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634911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806664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978417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50170" y="4737931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8" name="TextBox 57"/>
          <p:cNvSpPr txBox="1"/>
          <p:nvPr/>
        </p:nvSpPr>
        <p:spPr>
          <a:xfrm rot="16200000">
            <a:off x="537575" y="3813508"/>
            <a:ext cx="405586" cy="148983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Twins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8231" y="4631097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6509" y="4329612"/>
            <a:ext cx="13716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50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787" y="4028128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4787" y="3726643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150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04787" y="3425159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4787" y="3123674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4787" y="2822190"/>
            <a:ext cx="2057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300</a:t>
            </a:r>
          </a:p>
        </p:txBody>
      </p:sp>
      <p:sp>
        <p:nvSpPr>
          <p:cNvPr id="66" name="TextBox 65"/>
          <p:cNvSpPr txBox="1"/>
          <p:nvPr/>
        </p:nvSpPr>
        <p:spPr>
          <a:xfrm rot="18900000">
            <a:off x="2934020" y="4854899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67" name="TextBox 66"/>
          <p:cNvSpPr txBox="1"/>
          <p:nvPr/>
        </p:nvSpPr>
        <p:spPr>
          <a:xfrm rot="18900000">
            <a:off x="3413232" y="4821522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68" name="TextBox 67"/>
          <p:cNvSpPr txBox="1"/>
          <p:nvPr/>
        </p:nvSpPr>
        <p:spPr>
          <a:xfrm rot="18900000">
            <a:off x="3823732" y="4854899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69" name="TextBox 68"/>
          <p:cNvSpPr txBox="1"/>
          <p:nvPr/>
        </p:nvSpPr>
        <p:spPr>
          <a:xfrm rot="18900000">
            <a:off x="4203853" y="4857324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70" name="TextBox 69"/>
          <p:cNvSpPr txBox="1"/>
          <p:nvPr/>
        </p:nvSpPr>
        <p:spPr>
          <a:xfrm rot="16200000">
            <a:off x="2113479" y="3812716"/>
            <a:ext cx="1503045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Summed EFT NP FC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2905193" y="4702330"/>
            <a:ext cx="11144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943770" y="4253195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943770" y="3804059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943770" y="3354924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943770" y="2905788"/>
            <a:ext cx="6858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210978" y="3104401"/>
            <a:ext cx="32004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HC01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703833" y="3104401"/>
            <a:ext cx="28860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MDD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170685" y="3104401"/>
            <a:ext cx="26574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800" b="0" i="0">
                <a:solidFill>
                  <a:srgbClr val="000000"/>
                </a:solidFill>
                <a:latin typeface="Arial"/>
              </a:rPr>
              <a:t>AUD</a:t>
            </a:r>
          </a:p>
        </p:txBody>
      </p:sp>
      <p:sp>
        <p:nvSpPr>
          <p:cNvPr id="79" name="TextBox 78"/>
          <p:cNvSpPr txBox="1"/>
          <p:nvPr/>
        </p:nvSpPr>
        <p:spPr>
          <a:xfrm rot="18900000">
            <a:off x="5304033" y="4854899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80" name="TextBox 79"/>
          <p:cNvSpPr txBox="1"/>
          <p:nvPr/>
        </p:nvSpPr>
        <p:spPr>
          <a:xfrm rot="18900000">
            <a:off x="5756747" y="4821522"/>
            <a:ext cx="344909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AMPA</a:t>
            </a:r>
          </a:p>
        </p:txBody>
      </p:sp>
      <p:sp>
        <p:nvSpPr>
          <p:cNvPr id="81" name="TextBox 80"/>
          <p:cNvSpPr txBox="1"/>
          <p:nvPr/>
        </p:nvSpPr>
        <p:spPr>
          <a:xfrm rot="18900000">
            <a:off x="6132802" y="4854899"/>
            <a:ext cx="462915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baseline</a:t>
            </a:r>
          </a:p>
        </p:txBody>
      </p:sp>
      <p:sp>
        <p:nvSpPr>
          <p:cNvPr id="82" name="TextBox 81"/>
          <p:cNvSpPr txBox="1"/>
          <p:nvPr/>
        </p:nvSpPr>
        <p:spPr>
          <a:xfrm rot="18900000">
            <a:off x="6486426" y="4857324"/>
            <a:ext cx="471487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GABA-A</a:t>
            </a:r>
          </a:p>
        </p:txBody>
      </p:sp>
      <p:sp>
        <p:nvSpPr>
          <p:cNvPr id="83" name="TextBox 82"/>
          <p:cNvSpPr txBox="1"/>
          <p:nvPr/>
        </p:nvSpPr>
        <p:spPr>
          <a:xfrm rot="16200000">
            <a:off x="4147164" y="3812716"/>
            <a:ext cx="1971675" cy="15056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/>
            <a:r>
              <a:rPr sz="1000" b="0" i="0">
                <a:solidFill>
                  <a:srgbClr val="000000"/>
                </a:solidFill>
                <a:latin typeface="Arial"/>
              </a:rPr>
              <a:t>Summed NP FC (12 edges)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197196" y="4867203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197196" y="4571492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-1.0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97196" y="4275780"/>
            <a:ext cx="214312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-0.5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235773" y="3980069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35773" y="3684357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0.5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35773" y="3388646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1.0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35773" y="3092934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1.5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235773" y="2797222"/>
            <a:ext cx="171450" cy="11918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/>
            <a:r>
              <a:rPr sz="800" b="0" i="0">
                <a:solidFill>
                  <a:srgbClr val="000000"/>
                </a:solidFill>
                <a:latin typeface="Arial"/>
              </a:rPr>
              <a:t>2.0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30284" y="447505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877427" y="447505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b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30284" y="2916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c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653427" y="2916106"/>
            <a:ext cx="105727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922284" y="2916106"/>
            <a:ext cx="97155" cy="163881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/>
            <a:r>
              <a:rPr sz="1100" b="1" i="0">
                <a:solidFill>
                  <a:srgbClr val="000000"/>
                </a:solidFill>
                <a:latin typeface="Arial"/>
              </a:rPr>
              <a:t>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