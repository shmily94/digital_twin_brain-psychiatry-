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gS_sensitivity_A4_bg.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987268" y="1293783"/>
            <a:ext cx="474345" cy="123882"/>
          </a:xfrm>
          <a:prstGeom prst="rect">
            <a:avLst/>
          </a:prstGeom>
          <a:noFill/>
        </p:spPr>
        <p:txBody>
          <a:bodyPr wrap="none" anchor="ctr" lIns="0" rIns="0" tIns="0" bIns="0">
            <a:noAutofit/>
          </a:bodyPr>
          <a:lstStyle/>
          <a:p>
            <a:pPr algn="ctr"/>
            <a:r>
              <a:rPr sz="800" b="0" i="0">
                <a:solidFill>
                  <a:srgbClr val="595959"/>
                </a:solidFill>
                <a:latin typeface="Arial"/>
              </a:rPr>
              <a:t>d = 0.73</a:t>
            </a:r>
          </a:p>
        </p:txBody>
      </p:sp>
      <p:sp>
        <p:nvSpPr>
          <p:cNvPr id="4" name="TextBox 3"/>
          <p:cNvSpPr txBox="1"/>
          <p:nvPr/>
        </p:nvSpPr>
        <p:spPr>
          <a:xfrm>
            <a:off x="1339545" y="1151015"/>
            <a:ext cx="474345" cy="123882"/>
          </a:xfrm>
          <a:prstGeom prst="rect">
            <a:avLst/>
          </a:prstGeom>
          <a:noFill/>
        </p:spPr>
        <p:txBody>
          <a:bodyPr wrap="none" anchor="ctr" lIns="0" rIns="0" tIns="0" bIns="0">
            <a:noAutofit/>
          </a:bodyPr>
          <a:lstStyle/>
          <a:p>
            <a:pPr algn="ctr"/>
            <a:r>
              <a:rPr sz="800" b="0" i="0">
                <a:solidFill>
                  <a:srgbClr val="595959"/>
                </a:solidFill>
                <a:latin typeface="Arial"/>
              </a:rPr>
              <a:t>d = 0.83</a:t>
            </a:r>
          </a:p>
        </p:txBody>
      </p:sp>
      <p:sp>
        <p:nvSpPr>
          <p:cNvPr id="5" name="TextBox 4"/>
          <p:cNvSpPr txBox="1"/>
          <p:nvPr/>
        </p:nvSpPr>
        <p:spPr>
          <a:xfrm>
            <a:off x="1323829" y="1957755"/>
            <a:ext cx="505777" cy="276448"/>
          </a:xfrm>
          <a:prstGeom prst="rect">
            <a:avLst/>
          </a:prstGeom>
          <a:noFill/>
        </p:spPr>
        <p:txBody>
          <a:bodyPr wrap="none" anchor="ctr" lIns="0" rIns="0" tIns="0" bIns="0">
            <a:noAutofit/>
          </a:bodyPr>
          <a:lstStyle/>
          <a:p>
            <a:pPr algn="ctr"/>
            <a:r>
              <a:rPr sz="800" b="0" i="0">
                <a:solidFill>
                  <a:srgbClr val="E1D09A"/>
                </a:solidFill>
                <a:latin typeface="Arial"/>
              </a:rPr>
              <a:t>used in
main text</a:t>
            </a:r>
          </a:p>
        </p:txBody>
      </p:sp>
      <p:sp>
        <p:nvSpPr>
          <p:cNvPr id="6" name="TextBox 5"/>
          <p:cNvSpPr txBox="1"/>
          <p:nvPr/>
        </p:nvSpPr>
        <p:spPr>
          <a:xfrm>
            <a:off x="1691823" y="1293783"/>
            <a:ext cx="474345" cy="123882"/>
          </a:xfrm>
          <a:prstGeom prst="rect">
            <a:avLst/>
          </a:prstGeom>
          <a:noFill/>
        </p:spPr>
        <p:txBody>
          <a:bodyPr wrap="none" anchor="ctr" lIns="0" rIns="0" tIns="0" bIns="0">
            <a:noAutofit/>
          </a:bodyPr>
          <a:lstStyle/>
          <a:p>
            <a:pPr algn="ctr"/>
            <a:r>
              <a:rPr sz="800" b="0" i="0">
                <a:solidFill>
                  <a:srgbClr val="595959"/>
                </a:solidFill>
                <a:latin typeface="Arial"/>
              </a:rPr>
              <a:t>d = 0.61</a:t>
            </a:r>
          </a:p>
        </p:txBody>
      </p:sp>
      <p:sp>
        <p:nvSpPr>
          <p:cNvPr id="7" name="TextBox 6"/>
          <p:cNvSpPr txBox="1"/>
          <p:nvPr/>
        </p:nvSpPr>
        <p:spPr>
          <a:xfrm>
            <a:off x="2502063" y="870105"/>
            <a:ext cx="474345" cy="123882"/>
          </a:xfrm>
          <a:prstGeom prst="rect">
            <a:avLst/>
          </a:prstGeom>
          <a:noFill/>
        </p:spPr>
        <p:txBody>
          <a:bodyPr wrap="none" anchor="ctr" lIns="0" rIns="0" tIns="0" bIns="0">
            <a:noAutofit/>
          </a:bodyPr>
          <a:lstStyle/>
          <a:p>
            <a:pPr algn="ctr"/>
            <a:r>
              <a:rPr sz="800" b="0" i="0">
                <a:solidFill>
                  <a:srgbClr val="595959"/>
                </a:solidFill>
                <a:latin typeface="Arial"/>
              </a:rPr>
              <a:t>d = 1.47</a:t>
            </a:r>
          </a:p>
        </p:txBody>
      </p:sp>
      <p:sp>
        <p:nvSpPr>
          <p:cNvPr id="8" name="TextBox 7"/>
          <p:cNvSpPr txBox="1"/>
          <p:nvPr/>
        </p:nvSpPr>
        <p:spPr>
          <a:xfrm>
            <a:off x="2854341" y="727337"/>
            <a:ext cx="474345" cy="123882"/>
          </a:xfrm>
          <a:prstGeom prst="rect">
            <a:avLst/>
          </a:prstGeom>
          <a:noFill/>
        </p:spPr>
        <p:txBody>
          <a:bodyPr wrap="none" anchor="ctr" lIns="0" rIns="0" tIns="0" bIns="0">
            <a:noAutofit/>
          </a:bodyPr>
          <a:lstStyle/>
          <a:p>
            <a:pPr algn="ctr"/>
            <a:r>
              <a:rPr sz="800" b="0" i="0">
                <a:solidFill>
                  <a:srgbClr val="595959"/>
                </a:solidFill>
                <a:latin typeface="Arial"/>
              </a:rPr>
              <a:t>d = 1.60</a:t>
            </a:r>
          </a:p>
        </p:txBody>
      </p:sp>
      <p:sp>
        <p:nvSpPr>
          <p:cNvPr id="9" name="TextBox 8"/>
          <p:cNvSpPr txBox="1"/>
          <p:nvPr/>
        </p:nvSpPr>
        <p:spPr>
          <a:xfrm>
            <a:off x="2838624" y="1957755"/>
            <a:ext cx="505777" cy="276448"/>
          </a:xfrm>
          <a:prstGeom prst="rect">
            <a:avLst/>
          </a:prstGeom>
          <a:noFill/>
        </p:spPr>
        <p:txBody>
          <a:bodyPr wrap="none" anchor="ctr" lIns="0" rIns="0" tIns="0" bIns="0">
            <a:noAutofit/>
          </a:bodyPr>
          <a:lstStyle/>
          <a:p>
            <a:pPr algn="ctr"/>
            <a:r>
              <a:rPr sz="800" b="0" i="0">
                <a:solidFill>
                  <a:srgbClr val="96B9AD"/>
                </a:solidFill>
                <a:latin typeface="Arial"/>
              </a:rPr>
              <a:t>used in
main text</a:t>
            </a:r>
          </a:p>
        </p:txBody>
      </p:sp>
      <p:sp>
        <p:nvSpPr>
          <p:cNvPr id="10" name="TextBox 9"/>
          <p:cNvSpPr txBox="1"/>
          <p:nvPr/>
        </p:nvSpPr>
        <p:spPr>
          <a:xfrm>
            <a:off x="3206619" y="870105"/>
            <a:ext cx="474345" cy="123882"/>
          </a:xfrm>
          <a:prstGeom prst="rect">
            <a:avLst/>
          </a:prstGeom>
          <a:noFill/>
        </p:spPr>
        <p:txBody>
          <a:bodyPr wrap="none" anchor="ctr" lIns="0" rIns="0" tIns="0" bIns="0">
            <a:noAutofit/>
          </a:bodyPr>
          <a:lstStyle/>
          <a:p>
            <a:pPr algn="ctr"/>
            <a:r>
              <a:rPr sz="800" b="0" i="0">
                <a:solidFill>
                  <a:srgbClr val="595959"/>
                </a:solidFill>
                <a:latin typeface="Arial"/>
              </a:rPr>
              <a:t>d = 1.29</a:t>
            </a:r>
          </a:p>
        </p:txBody>
      </p:sp>
      <p:sp>
        <p:nvSpPr>
          <p:cNvPr id="11" name="TextBox 10"/>
          <p:cNvSpPr txBox="1"/>
          <p:nvPr/>
        </p:nvSpPr>
        <p:spPr>
          <a:xfrm>
            <a:off x="1076655" y="2421346"/>
            <a:ext cx="1000125" cy="165735"/>
          </a:xfrm>
          <a:prstGeom prst="rect">
            <a:avLst/>
          </a:prstGeom>
          <a:noFill/>
        </p:spPr>
        <p:txBody>
          <a:bodyPr wrap="none" anchor="ctr" lIns="0" rIns="0" tIns="0" bIns="0">
            <a:noAutofit/>
          </a:bodyPr>
          <a:lstStyle/>
          <a:p>
            <a:pPr algn="ctr"/>
            <a:r>
              <a:rPr sz="900" b="0" i="0">
                <a:solidFill>
                  <a:srgbClr val="000000"/>
                </a:solidFill>
                <a:latin typeface="Arial"/>
              </a:rPr>
              <a:t>AMPA (S cm^{-2})</a:t>
            </a:r>
          </a:p>
        </p:txBody>
      </p:sp>
      <p:sp>
        <p:nvSpPr>
          <p:cNvPr id="12" name="TextBox 11"/>
          <p:cNvSpPr txBox="1"/>
          <p:nvPr/>
        </p:nvSpPr>
        <p:spPr>
          <a:xfrm>
            <a:off x="2518584" y="2421346"/>
            <a:ext cx="1145857" cy="165735"/>
          </a:xfrm>
          <a:prstGeom prst="rect">
            <a:avLst/>
          </a:prstGeom>
          <a:noFill/>
        </p:spPr>
        <p:txBody>
          <a:bodyPr wrap="none" anchor="ctr" lIns="0" rIns="0" tIns="0" bIns="0">
            <a:noAutofit/>
          </a:bodyPr>
          <a:lstStyle/>
          <a:p>
            <a:pPr algn="ctr"/>
            <a:r>
              <a:rPr sz="900" b="0" i="0">
                <a:solidFill>
                  <a:srgbClr val="000000"/>
                </a:solidFill>
                <a:latin typeface="Arial"/>
              </a:rPr>
              <a:t>GABA-A (S cm^{-2})</a:t>
            </a:r>
          </a:p>
        </p:txBody>
      </p:sp>
      <p:sp>
        <p:nvSpPr>
          <p:cNvPr id="13" name="TextBox 12"/>
          <p:cNvSpPr txBox="1"/>
          <p:nvPr/>
        </p:nvSpPr>
        <p:spPr>
          <a:xfrm>
            <a:off x="1035845" y="2289931"/>
            <a:ext cx="377190" cy="119186"/>
          </a:xfrm>
          <a:prstGeom prst="rect">
            <a:avLst/>
          </a:prstGeom>
          <a:noFill/>
        </p:spPr>
        <p:txBody>
          <a:bodyPr wrap="none" anchor="ctr" lIns="0" rIns="0" tIns="0" bIns="0">
            <a:noAutofit/>
          </a:bodyPr>
          <a:lstStyle/>
          <a:p>
            <a:pPr algn="ctr"/>
            <a:r>
              <a:rPr sz="800" b="0" i="0">
                <a:solidFill>
                  <a:srgbClr val="000000"/>
                </a:solidFill>
                <a:latin typeface="Arial"/>
              </a:rPr>
              <a:t>0.0040</a:t>
            </a:r>
          </a:p>
        </p:txBody>
      </p:sp>
      <p:sp>
        <p:nvSpPr>
          <p:cNvPr id="14" name="TextBox 13"/>
          <p:cNvSpPr txBox="1"/>
          <p:nvPr/>
        </p:nvSpPr>
        <p:spPr>
          <a:xfrm>
            <a:off x="1388123" y="2289931"/>
            <a:ext cx="377190" cy="119186"/>
          </a:xfrm>
          <a:prstGeom prst="rect">
            <a:avLst/>
          </a:prstGeom>
          <a:noFill/>
        </p:spPr>
        <p:txBody>
          <a:bodyPr wrap="none" anchor="ctr" lIns="0" rIns="0" tIns="0" bIns="0">
            <a:noAutofit/>
          </a:bodyPr>
          <a:lstStyle/>
          <a:p>
            <a:pPr algn="ctr"/>
            <a:r>
              <a:rPr sz="800" b="0" i="0">
                <a:solidFill>
                  <a:srgbClr val="000000"/>
                </a:solidFill>
                <a:latin typeface="Arial"/>
              </a:rPr>
              <a:t>0.0044</a:t>
            </a:r>
          </a:p>
        </p:txBody>
      </p:sp>
      <p:sp>
        <p:nvSpPr>
          <p:cNvPr id="15" name="TextBox 14"/>
          <p:cNvSpPr txBox="1"/>
          <p:nvPr/>
        </p:nvSpPr>
        <p:spPr>
          <a:xfrm>
            <a:off x="1740401" y="2289931"/>
            <a:ext cx="377190" cy="119186"/>
          </a:xfrm>
          <a:prstGeom prst="rect">
            <a:avLst/>
          </a:prstGeom>
          <a:noFill/>
        </p:spPr>
        <p:txBody>
          <a:bodyPr wrap="none" anchor="ctr" lIns="0" rIns="0" tIns="0" bIns="0">
            <a:noAutofit/>
          </a:bodyPr>
          <a:lstStyle/>
          <a:p>
            <a:pPr algn="ctr"/>
            <a:r>
              <a:rPr sz="800" b="0" i="0">
                <a:solidFill>
                  <a:srgbClr val="000000"/>
                </a:solidFill>
                <a:latin typeface="Arial"/>
              </a:rPr>
              <a:t>0.0048</a:t>
            </a:r>
          </a:p>
        </p:txBody>
      </p:sp>
      <p:sp>
        <p:nvSpPr>
          <p:cNvPr id="16" name="TextBox 15"/>
          <p:cNvSpPr txBox="1"/>
          <p:nvPr/>
        </p:nvSpPr>
        <p:spPr>
          <a:xfrm>
            <a:off x="2550640" y="2289931"/>
            <a:ext cx="377190" cy="119186"/>
          </a:xfrm>
          <a:prstGeom prst="rect">
            <a:avLst/>
          </a:prstGeom>
          <a:noFill/>
        </p:spPr>
        <p:txBody>
          <a:bodyPr wrap="none" anchor="ctr" lIns="0" rIns="0" tIns="0" bIns="0">
            <a:noAutofit/>
          </a:bodyPr>
          <a:lstStyle/>
          <a:p>
            <a:pPr algn="ctr"/>
            <a:r>
              <a:rPr sz="800" b="0" i="0">
                <a:solidFill>
                  <a:srgbClr val="000000"/>
                </a:solidFill>
                <a:latin typeface="Arial"/>
              </a:rPr>
              <a:t>0.0035</a:t>
            </a:r>
          </a:p>
        </p:txBody>
      </p:sp>
      <p:sp>
        <p:nvSpPr>
          <p:cNvPr id="17" name="TextBox 16"/>
          <p:cNvSpPr txBox="1"/>
          <p:nvPr/>
        </p:nvSpPr>
        <p:spPr>
          <a:xfrm>
            <a:off x="2902918" y="2289931"/>
            <a:ext cx="377190" cy="119186"/>
          </a:xfrm>
          <a:prstGeom prst="rect">
            <a:avLst/>
          </a:prstGeom>
          <a:noFill/>
        </p:spPr>
        <p:txBody>
          <a:bodyPr wrap="none" anchor="ctr" lIns="0" rIns="0" tIns="0" bIns="0">
            <a:noAutofit/>
          </a:bodyPr>
          <a:lstStyle/>
          <a:p>
            <a:pPr algn="ctr"/>
            <a:r>
              <a:rPr sz="800" b="0" i="0">
                <a:solidFill>
                  <a:srgbClr val="000000"/>
                </a:solidFill>
                <a:latin typeface="Arial"/>
              </a:rPr>
              <a:t>0.0040</a:t>
            </a:r>
          </a:p>
        </p:txBody>
      </p:sp>
      <p:sp>
        <p:nvSpPr>
          <p:cNvPr id="18" name="TextBox 17"/>
          <p:cNvSpPr txBox="1"/>
          <p:nvPr/>
        </p:nvSpPr>
        <p:spPr>
          <a:xfrm>
            <a:off x="3255196" y="2289931"/>
            <a:ext cx="377190" cy="119186"/>
          </a:xfrm>
          <a:prstGeom prst="rect">
            <a:avLst/>
          </a:prstGeom>
          <a:noFill/>
        </p:spPr>
        <p:txBody>
          <a:bodyPr wrap="none" anchor="ctr" lIns="0" rIns="0" tIns="0" bIns="0">
            <a:noAutofit/>
          </a:bodyPr>
          <a:lstStyle/>
          <a:p>
            <a:pPr algn="ctr"/>
            <a:r>
              <a:rPr sz="800" b="0" i="0">
                <a:solidFill>
                  <a:srgbClr val="000000"/>
                </a:solidFill>
                <a:latin typeface="Arial"/>
              </a:rPr>
              <a:t>0.0045</a:t>
            </a:r>
          </a:p>
        </p:txBody>
      </p:sp>
      <p:sp>
        <p:nvSpPr>
          <p:cNvPr id="19" name="TextBox 18"/>
          <p:cNvSpPr txBox="1"/>
          <p:nvPr/>
        </p:nvSpPr>
        <p:spPr>
          <a:xfrm rot="16200000">
            <a:off x="-1859" y="1364716"/>
            <a:ext cx="1485721" cy="150566"/>
          </a:xfrm>
          <a:prstGeom prst="rect">
            <a:avLst/>
          </a:prstGeom>
          <a:noFill/>
        </p:spPr>
        <p:txBody>
          <a:bodyPr wrap="none" anchor="ctr" lIns="0" rIns="0" tIns="0" bIns="0">
            <a:noAutofit/>
          </a:bodyPr>
          <a:lstStyle/>
          <a:p>
            <a:pPr algn="ctr"/>
            <a:r>
              <a:rPr sz="1000" b="0" i="0">
                <a:solidFill>
                  <a:srgbClr val="000000"/>
                </a:solidFill>
                <a:latin typeface="Arial"/>
              </a:rPr>
              <a:t>Mean Δ NP (95% CI)</a:t>
            </a:r>
          </a:p>
        </p:txBody>
      </p:sp>
      <p:sp>
        <p:nvSpPr>
          <p:cNvPr id="20" name="TextBox 19"/>
          <p:cNvSpPr txBox="1"/>
          <p:nvPr/>
        </p:nvSpPr>
        <p:spPr>
          <a:xfrm>
            <a:off x="815483" y="2377781"/>
            <a:ext cx="111442"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21" name="TextBox 20"/>
          <p:cNvSpPr txBox="1"/>
          <p:nvPr/>
        </p:nvSpPr>
        <p:spPr>
          <a:xfrm>
            <a:off x="815483" y="2118202"/>
            <a:ext cx="111442" cy="119186"/>
          </a:xfrm>
          <a:prstGeom prst="rect">
            <a:avLst/>
          </a:prstGeom>
          <a:noFill/>
        </p:spPr>
        <p:txBody>
          <a:bodyPr wrap="none" anchor="ctr" lIns="0" rIns="0" tIns="0" bIns="0">
            <a:noAutofit/>
          </a:bodyPr>
          <a:lstStyle/>
          <a:p>
            <a:pPr algn="r"/>
            <a:r>
              <a:rPr sz="800" b="0" i="0">
                <a:solidFill>
                  <a:srgbClr val="000000"/>
                </a:solidFill>
                <a:latin typeface="Arial"/>
              </a:rPr>
              <a:t>-1</a:t>
            </a:r>
          </a:p>
        </p:txBody>
      </p:sp>
      <p:sp>
        <p:nvSpPr>
          <p:cNvPr id="22" name="TextBox 21"/>
          <p:cNvSpPr txBox="1"/>
          <p:nvPr/>
        </p:nvSpPr>
        <p:spPr>
          <a:xfrm>
            <a:off x="854060" y="1858624"/>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23" name="TextBox 22"/>
          <p:cNvSpPr txBox="1"/>
          <p:nvPr/>
        </p:nvSpPr>
        <p:spPr>
          <a:xfrm>
            <a:off x="854060" y="1599046"/>
            <a:ext cx="68580" cy="119186"/>
          </a:xfrm>
          <a:prstGeom prst="rect">
            <a:avLst/>
          </a:prstGeom>
          <a:noFill/>
        </p:spPr>
        <p:txBody>
          <a:bodyPr wrap="none" anchor="ctr" lIns="0" rIns="0" tIns="0" bIns="0">
            <a:noAutofit/>
          </a:bodyPr>
          <a:lstStyle/>
          <a:p>
            <a:pPr algn="r"/>
            <a:r>
              <a:rPr sz="800" b="0" i="0">
                <a:solidFill>
                  <a:srgbClr val="000000"/>
                </a:solidFill>
                <a:latin typeface="Arial"/>
              </a:rPr>
              <a:t>1</a:t>
            </a:r>
          </a:p>
        </p:txBody>
      </p:sp>
      <p:sp>
        <p:nvSpPr>
          <p:cNvPr id="24" name="TextBox 23"/>
          <p:cNvSpPr txBox="1"/>
          <p:nvPr/>
        </p:nvSpPr>
        <p:spPr>
          <a:xfrm>
            <a:off x="854060" y="1339468"/>
            <a:ext cx="68580"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25" name="TextBox 24"/>
          <p:cNvSpPr txBox="1"/>
          <p:nvPr/>
        </p:nvSpPr>
        <p:spPr>
          <a:xfrm>
            <a:off x="854060" y="1079889"/>
            <a:ext cx="68580" cy="119186"/>
          </a:xfrm>
          <a:prstGeom prst="rect">
            <a:avLst/>
          </a:prstGeom>
          <a:noFill/>
        </p:spPr>
        <p:txBody>
          <a:bodyPr wrap="none" anchor="ctr" lIns="0" rIns="0" tIns="0" bIns="0">
            <a:noAutofit/>
          </a:bodyPr>
          <a:lstStyle/>
          <a:p>
            <a:pPr algn="r"/>
            <a:r>
              <a:rPr sz="800" b="0" i="0">
                <a:solidFill>
                  <a:srgbClr val="000000"/>
                </a:solidFill>
                <a:latin typeface="Arial"/>
              </a:rPr>
              <a:t>3</a:t>
            </a:r>
          </a:p>
        </p:txBody>
      </p:sp>
      <p:sp>
        <p:nvSpPr>
          <p:cNvPr id="26" name="TextBox 25"/>
          <p:cNvSpPr txBox="1"/>
          <p:nvPr/>
        </p:nvSpPr>
        <p:spPr>
          <a:xfrm>
            <a:off x="854060" y="820311"/>
            <a:ext cx="68580"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27" name="TextBox 26"/>
          <p:cNvSpPr txBox="1"/>
          <p:nvPr/>
        </p:nvSpPr>
        <p:spPr>
          <a:xfrm>
            <a:off x="854060" y="560733"/>
            <a:ext cx="68580" cy="119186"/>
          </a:xfrm>
          <a:prstGeom prst="rect">
            <a:avLst/>
          </a:prstGeom>
          <a:noFill/>
        </p:spPr>
        <p:txBody>
          <a:bodyPr wrap="none" anchor="ctr" lIns="0" rIns="0" tIns="0" bIns="0">
            <a:noAutofit/>
          </a:bodyPr>
          <a:lstStyle/>
          <a:p>
            <a:pPr algn="r"/>
            <a:r>
              <a:rPr sz="800" b="0" i="0">
                <a:solidFill>
                  <a:srgbClr val="000000"/>
                </a:solidFill>
                <a:latin typeface="Arial"/>
              </a:rPr>
              <a:t>5</a:t>
            </a:r>
          </a:p>
        </p:txBody>
      </p:sp>
      <p:sp>
        <p:nvSpPr>
          <p:cNvPr id="28" name="TextBox 27"/>
          <p:cNvSpPr txBox="1"/>
          <p:nvPr/>
        </p:nvSpPr>
        <p:spPr>
          <a:xfrm>
            <a:off x="4866910" y="2567071"/>
            <a:ext cx="392325" cy="134084"/>
          </a:xfrm>
          <a:prstGeom prst="rect">
            <a:avLst/>
          </a:prstGeom>
          <a:noFill/>
        </p:spPr>
        <p:txBody>
          <a:bodyPr wrap="none" anchor="ctr" lIns="0" rIns="0" tIns="0" bIns="0">
            <a:noAutofit/>
          </a:bodyPr>
          <a:lstStyle/>
          <a:p>
            <a:pPr algn="ctr"/>
            <a:r>
              <a:rPr sz="900" b="0" i="0">
                <a:solidFill>
                  <a:srgbClr val="E1D09A"/>
                </a:solidFill>
                <a:latin typeface="Arial"/>
              </a:rPr>
              <a:t>AMPA</a:t>
            </a:r>
          </a:p>
        </p:txBody>
      </p:sp>
      <p:sp>
        <p:nvSpPr>
          <p:cNvPr id="29" name="TextBox 28"/>
          <p:cNvSpPr txBox="1"/>
          <p:nvPr/>
        </p:nvSpPr>
        <p:spPr>
          <a:xfrm>
            <a:off x="6070724" y="2566900"/>
            <a:ext cx="537210" cy="135795"/>
          </a:xfrm>
          <a:prstGeom prst="rect">
            <a:avLst/>
          </a:prstGeom>
          <a:noFill/>
        </p:spPr>
        <p:txBody>
          <a:bodyPr wrap="none" anchor="ctr" lIns="0" rIns="0" tIns="0" bIns="0">
            <a:noAutofit/>
          </a:bodyPr>
          <a:lstStyle/>
          <a:p>
            <a:pPr algn="ctr"/>
            <a:r>
              <a:rPr sz="900" b="0" i="0">
                <a:solidFill>
                  <a:srgbClr val="96B9AD"/>
                </a:solidFill>
                <a:latin typeface="Arial"/>
              </a:rPr>
              <a:t>GABA-A</a:t>
            </a:r>
          </a:p>
        </p:txBody>
      </p:sp>
      <p:sp>
        <p:nvSpPr>
          <p:cNvPr id="30" name="TextBox 29"/>
          <p:cNvSpPr txBox="1"/>
          <p:nvPr/>
        </p:nvSpPr>
        <p:spPr>
          <a:xfrm>
            <a:off x="4436201" y="2274205"/>
            <a:ext cx="402907" cy="276448"/>
          </a:xfrm>
          <a:prstGeom prst="rect">
            <a:avLst/>
          </a:prstGeom>
          <a:noFill/>
        </p:spPr>
        <p:txBody>
          <a:bodyPr wrap="none" anchor="ctr" lIns="0" rIns="0" tIns="0" bIns="0">
            <a:noAutofit/>
          </a:bodyPr>
          <a:lstStyle/>
          <a:p>
            <a:pPr algn="ctr"/>
            <a:r>
              <a:rPr sz="800" b="0" i="0">
                <a:solidFill>
                  <a:srgbClr val="000000"/>
                </a:solidFill>
                <a:latin typeface="Arial"/>
              </a:rPr>
              <a:t>0.0040
weaker</a:t>
            </a:r>
          </a:p>
        </p:txBody>
      </p:sp>
      <p:sp>
        <p:nvSpPr>
          <p:cNvPr id="31" name="TextBox 30"/>
          <p:cNvSpPr txBox="1"/>
          <p:nvPr/>
        </p:nvSpPr>
        <p:spPr>
          <a:xfrm>
            <a:off x="4861619" y="2274205"/>
            <a:ext cx="402907" cy="276448"/>
          </a:xfrm>
          <a:prstGeom prst="rect">
            <a:avLst/>
          </a:prstGeom>
          <a:noFill/>
        </p:spPr>
        <p:txBody>
          <a:bodyPr wrap="none" anchor="ctr" lIns="0" rIns="0" tIns="0" bIns="0">
            <a:noAutofit/>
          </a:bodyPr>
          <a:lstStyle/>
          <a:p>
            <a:pPr algn="ctr"/>
            <a:r>
              <a:rPr sz="800" b="0" i="0">
                <a:solidFill>
                  <a:srgbClr val="000000"/>
                </a:solidFill>
                <a:latin typeface="Arial"/>
              </a:rPr>
              <a:t>0.0044
original</a:t>
            </a:r>
          </a:p>
        </p:txBody>
      </p:sp>
      <p:sp>
        <p:nvSpPr>
          <p:cNvPr id="32" name="TextBox 31"/>
          <p:cNvSpPr txBox="1"/>
          <p:nvPr/>
        </p:nvSpPr>
        <p:spPr>
          <a:xfrm>
            <a:off x="5259892" y="2274205"/>
            <a:ext cx="457200" cy="276448"/>
          </a:xfrm>
          <a:prstGeom prst="rect">
            <a:avLst/>
          </a:prstGeom>
          <a:noFill/>
        </p:spPr>
        <p:txBody>
          <a:bodyPr wrap="none" anchor="ctr" lIns="0" rIns="0" tIns="0" bIns="0">
            <a:noAutofit/>
          </a:bodyPr>
          <a:lstStyle/>
          <a:p>
            <a:pPr algn="ctr"/>
            <a:r>
              <a:rPr sz="800" b="0" i="0">
                <a:solidFill>
                  <a:srgbClr val="000000"/>
                </a:solidFill>
                <a:latin typeface="Arial"/>
              </a:rPr>
              <a:t>0.0048
stronger</a:t>
            </a:r>
          </a:p>
        </p:txBody>
      </p:sp>
      <p:sp>
        <p:nvSpPr>
          <p:cNvPr id="33" name="TextBox 32"/>
          <p:cNvSpPr txBox="1"/>
          <p:nvPr/>
        </p:nvSpPr>
        <p:spPr>
          <a:xfrm>
            <a:off x="5712457" y="2274205"/>
            <a:ext cx="402907" cy="276448"/>
          </a:xfrm>
          <a:prstGeom prst="rect">
            <a:avLst/>
          </a:prstGeom>
          <a:noFill/>
        </p:spPr>
        <p:txBody>
          <a:bodyPr wrap="none" anchor="ctr" lIns="0" rIns="0" tIns="0" bIns="0">
            <a:noAutofit/>
          </a:bodyPr>
          <a:lstStyle/>
          <a:p>
            <a:pPr algn="ctr"/>
            <a:r>
              <a:rPr sz="800" b="0" i="0">
                <a:solidFill>
                  <a:srgbClr val="000000"/>
                </a:solidFill>
                <a:latin typeface="Arial"/>
              </a:rPr>
              <a:t>0.0035
weaker</a:t>
            </a:r>
          </a:p>
        </p:txBody>
      </p:sp>
      <p:sp>
        <p:nvSpPr>
          <p:cNvPr id="34" name="TextBox 33"/>
          <p:cNvSpPr txBox="1"/>
          <p:nvPr/>
        </p:nvSpPr>
        <p:spPr>
          <a:xfrm>
            <a:off x="6137876" y="2274205"/>
            <a:ext cx="402907" cy="276448"/>
          </a:xfrm>
          <a:prstGeom prst="rect">
            <a:avLst/>
          </a:prstGeom>
          <a:noFill/>
        </p:spPr>
        <p:txBody>
          <a:bodyPr wrap="none" anchor="ctr" lIns="0" rIns="0" tIns="0" bIns="0">
            <a:noAutofit/>
          </a:bodyPr>
          <a:lstStyle/>
          <a:p>
            <a:pPr algn="ctr"/>
            <a:r>
              <a:rPr sz="800" b="0" i="0">
                <a:solidFill>
                  <a:srgbClr val="000000"/>
                </a:solidFill>
                <a:latin typeface="Arial"/>
              </a:rPr>
              <a:t>0.0040
original</a:t>
            </a:r>
          </a:p>
        </p:txBody>
      </p:sp>
      <p:sp>
        <p:nvSpPr>
          <p:cNvPr id="35" name="TextBox 34"/>
          <p:cNvSpPr txBox="1"/>
          <p:nvPr/>
        </p:nvSpPr>
        <p:spPr>
          <a:xfrm>
            <a:off x="6536148" y="2274205"/>
            <a:ext cx="457200" cy="276448"/>
          </a:xfrm>
          <a:prstGeom prst="rect">
            <a:avLst/>
          </a:prstGeom>
          <a:noFill/>
        </p:spPr>
        <p:txBody>
          <a:bodyPr wrap="none" anchor="ctr" lIns="0" rIns="0" tIns="0" bIns="0">
            <a:noAutofit/>
          </a:bodyPr>
          <a:lstStyle/>
          <a:p>
            <a:pPr algn="ctr"/>
            <a:r>
              <a:rPr sz="800" b="0" i="0">
                <a:solidFill>
                  <a:srgbClr val="000000"/>
                </a:solidFill>
                <a:latin typeface="Arial"/>
              </a:rPr>
              <a:t>0.0045
stronger</a:t>
            </a:r>
          </a:p>
        </p:txBody>
      </p:sp>
      <p:sp>
        <p:nvSpPr>
          <p:cNvPr id="36" name="TextBox 35"/>
          <p:cNvSpPr txBox="1"/>
          <p:nvPr/>
        </p:nvSpPr>
        <p:spPr>
          <a:xfrm rot="16200000">
            <a:off x="3072616" y="1365508"/>
            <a:ext cx="2031503" cy="148983"/>
          </a:xfrm>
          <a:prstGeom prst="rect">
            <a:avLst/>
          </a:prstGeom>
          <a:noFill/>
        </p:spPr>
        <p:txBody>
          <a:bodyPr wrap="none" anchor="ctr" lIns="0" rIns="0" tIns="0" bIns="0">
            <a:noAutofit/>
          </a:bodyPr>
          <a:lstStyle/>
          <a:p>
            <a:pPr algn="ctr"/>
            <a:r>
              <a:rPr sz="1000" b="0" i="0">
                <a:solidFill>
                  <a:srgbClr val="000000"/>
                </a:solidFill>
                <a:latin typeface="Arial"/>
              </a:rPr>
              <a:t>Twins with increased NP (%)</a:t>
            </a:r>
          </a:p>
        </p:txBody>
      </p:sp>
      <p:sp>
        <p:nvSpPr>
          <p:cNvPr id="37" name="TextBox 36"/>
          <p:cNvSpPr txBox="1"/>
          <p:nvPr/>
        </p:nvSpPr>
        <p:spPr>
          <a:xfrm>
            <a:off x="4276231" y="2183097"/>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38" name="TextBox 37"/>
          <p:cNvSpPr txBox="1"/>
          <p:nvPr/>
        </p:nvSpPr>
        <p:spPr>
          <a:xfrm>
            <a:off x="4214509" y="1533917"/>
            <a:ext cx="137160" cy="119186"/>
          </a:xfrm>
          <a:prstGeom prst="rect">
            <a:avLst/>
          </a:prstGeom>
          <a:noFill/>
        </p:spPr>
        <p:txBody>
          <a:bodyPr wrap="none" anchor="ctr" lIns="0" rIns="0" tIns="0" bIns="0">
            <a:noAutofit/>
          </a:bodyPr>
          <a:lstStyle/>
          <a:p>
            <a:pPr algn="r"/>
            <a:r>
              <a:rPr sz="800" b="0" i="0">
                <a:solidFill>
                  <a:srgbClr val="000000"/>
                </a:solidFill>
                <a:latin typeface="Arial"/>
              </a:rPr>
              <a:t>50</a:t>
            </a:r>
          </a:p>
        </p:txBody>
      </p:sp>
      <p:sp>
        <p:nvSpPr>
          <p:cNvPr id="39" name="TextBox 38"/>
          <p:cNvSpPr txBox="1"/>
          <p:nvPr/>
        </p:nvSpPr>
        <p:spPr>
          <a:xfrm>
            <a:off x="4152787" y="884736"/>
            <a:ext cx="205740" cy="119186"/>
          </a:xfrm>
          <a:prstGeom prst="rect">
            <a:avLst/>
          </a:prstGeom>
          <a:noFill/>
        </p:spPr>
        <p:txBody>
          <a:bodyPr wrap="none" anchor="ctr" lIns="0" rIns="0" tIns="0" bIns="0">
            <a:noAutofit/>
          </a:bodyPr>
          <a:lstStyle/>
          <a:p>
            <a:pPr algn="r"/>
            <a:r>
              <a:rPr sz="800" b="0" i="0">
                <a:solidFill>
                  <a:srgbClr val="000000"/>
                </a:solidFill>
                <a:latin typeface="Arial"/>
              </a:rPr>
              <a:t>100</a:t>
            </a:r>
          </a:p>
        </p:txBody>
      </p:sp>
      <p:sp>
        <p:nvSpPr>
          <p:cNvPr id="40" name="TextBox 39"/>
          <p:cNvSpPr txBox="1"/>
          <p:nvPr/>
        </p:nvSpPr>
        <p:spPr>
          <a:xfrm>
            <a:off x="4949107" y="646241"/>
            <a:ext cx="182880" cy="119186"/>
          </a:xfrm>
          <a:prstGeom prst="rect">
            <a:avLst/>
          </a:prstGeom>
          <a:noFill/>
        </p:spPr>
        <p:txBody>
          <a:bodyPr wrap="none" anchor="ctr" lIns="0" rIns="0" tIns="0" bIns="0">
            <a:noAutofit/>
          </a:bodyPr>
          <a:lstStyle/>
          <a:p>
            <a:pPr algn="l"/>
            <a:r>
              <a:rPr sz="800" b="0" i="0">
                <a:solidFill>
                  <a:srgbClr val="000000"/>
                </a:solidFill>
                <a:latin typeface="Arial"/>
              </a:rPr>
              <a:t>HC</a:t>
            </a:r>
          </a:p>
        </p:txBody>
      </p:sp>
      <p:sp>
        <p:nvSpPr>
          <p:cNvPr id="41" name="TextBox 40"/>
          <p:cNvSpPr txBox="1"/>
          <p:nvPr/>
        </p:nvSpPr>
        <p:spPr>
          <a:xfrm>
            <a:off x="5296992" y="646241"/>
            <a:ext cx="808672" cy="119186"/>
          </a:xfrm>
          <a:prstGeom prst="rect">
            <a:avLst/>
          </a:prstGeom>
          <a:noFill/>
        </p:spPr>
        <p:txBody>
          <a:bodyPr wrap="none" anchor="ctr" lIns="0" rIns="0" tIns="0" bIns="0">
            <a:noAutofit/>
          </a:bodyPr>
          <a:lstStyle/>
          <a:p>
            <a:pPr algn="l"/>
            <a:r>
              <a:rPr sz="800" b="0" i="0">
                <a:solidFill>
                  <a:srgbClr val="000000"/>
                </a:solidFill>
                <a:latin typeface="Arial"/>
              </a:rPr>
              <a:t>High-symptom</a:t>
            </a:r>
          </a:p>
        </p:txBody>
      </p:sp>
      <p:sp>
        <p:nvSpPr>
          <p:cNvPr id="42" name="TextBox 41"/>
          <p:cNvSpPr txBox="1"/>
          <p:nvPr/>
        </p:nvSpPr>
        <p:spPr>
          <a:xfrm>
            <a:off x="6250381" y="646241"/>
            <a:ext cx="385762" cy="119186"/>
          </a:xfrm>
          <a:prstGeom prst="rect">
            <a:avLst/>
          </a:prstGeom>
          <a:noFill/>
        </p:spPr>
        <p:txBody>
          <a:bodyPr wrap="none" anchor="ctr" lIns="0" rIns="0" tIns="0" bIns="0">
            <a:noAutofit/>
          </a:bodyPr>
          <a:lstStyle/>
          <a:p>
            <a:pPr algn="l"/>
            <a:r>
              <a:rPr sz="800" b="0" i="0">
                <a:solidFill>
                  <a:srgbClr val="000000"/>
                </a:solidFill>
                <a:latin typeface="Arial"/>
              </a:rPr>
              <a:t>Patient</a:t>
            </a:r>
          </a:p>
        </p:txBody>
      </p:sp>
      <p:sp>
        <p:nvSpPr>
          <p:cNvPr id="43" name="TextBox 42"/>
          <p:cNvSpPr txBox="1"/>
          <p:nvPr/>
        </p:nvSpPr>
        <p:spPr>
          <a:xfrm>
            <a:off x="1119653" y="4548613"/>
            <a:ext cx="68580" cy="119186"/>
          </a:xfrm>
          <a:prstGeom prst="rect">
            <a:avLst/>
          </a:prstGeom>
          <a:noFill/>
        </p:spPr>
        <p:txBody>
          <a:bodyPr wrap="none" anchor="ctr" lIns="0" rIns="0" tIns="0" bIns="0">
            <a:noAutofit/>
          </a:bodyPr>
          <a:lstStyle/>
          <a:p>
            <a:pPr algn="ctr"/>
            <a:r>
              <a:rPr sz="800" b="0" i="0">
                <a:solidFill>
                  <a:srgbClr val="595959"/>
                </a:solidFill>
                <a:latin typeface="Arial"/>
              </a:rPr>
              <a:t>1</a:t>
            </a:r>
          </a:p>
        </p:txBody>
      </p:sp>
      <p:sp>
        <p:nvSpPr>
          <p:cNvPr id="44" name="TextBox 43"/>
          <p:cNvSpPr txBox="1"/>
          <p:nvPr/>
        </p:nvSpPr>
        <p:spPr>
          <a:xfrm>
            <a:off x="1463158" y="4524494"/>
            <a:ext cx="68580" cy="119186"/>
          </a:xfrm>
          <a:prstGeom prst="rect">
            <a:avLst/>
          </a:prstGeom>
          <a:noFill/>
        </p:spPr>
        <p:txBody>
          <a:bodyPr wrap="none" anchor="ctr" lIns="0" rIns="0" tIns="0" bIns="0">
            <a:noAutofit/>
          </a:bodyPr>
          <a:lstStyle/>
          <a:p>
            <a:pPr algn="ctr"/>
            <a:r>
              <a:rPr sz="800" b="0" i="0">
                <a:solidFill>
                  <a:srgbClr val="595959"/>
                </a:solidFill>
                <a:latin typeface="Arial"/>
              </a:rPr>
              <a:t>5</a:t>
            </a:r>
          </a:p>
        </p:txBody>
      </p:sp>
      <p:sp>
        <p:nvSpPr>
          <p:cNvPr id="45" name="TextBox 44"/>
          <p:cNvSpPr txBox="1"/>
          <p:nvPr/>
        </p:nvSpPr>
        <p:spPr>
          <a:xfrm>
            <a:off x="1600621" y="4367722"/>
            <a:ext cx="137160" cy="119186"/>
          </a:xfrm>
          <a:prstGeom prst="rect">
            <a:avLst/>
          </a:prstGeom>
          <a:noFill/>
        </p:spPr>
        <p:txBody>
          <a:bodyPr wrap="none" anchor="ctr" lIns="0" rIns="0" tIns="0" bIns="0">
            <a:noAutofit/>
          </a:bodyPr>
          <a:lstStyle/>
          <a:p>
            <a:pPr algn="ctr"/>
            <a:r>
              <a:rPr sz="800" b="0" i="0">
                <a:solidFill>
                  <a:srgbClr val="595959"/>
                </a:solidFill>
                <a:latin typeface="Arial"/>
              </a:rPr>
              <a:t>31</a:t>
            </a:r>
          </a:p>
        </p:txBody>
      </p:sp>
      <p:sp>
        <p:nvSpPr>
          <p:cNvPr id="46" name="TextBox 45"/>
          <p:cNvSpPr txBox="1"/>
          <p:nvPr/>
        </p:nvSpPr>
        <p:spPr>
          <a:xfrm>
            <a:off x="1772374" y="4458167"/>
            <a:ext cx="137160" cy="119186"/>
          </a:xfrm>
          <a:prstGeom prst="rect">
            <a:avLst/>
          </a:prstGeom>
          <a:noFill/>
        </p:spPr>
        <p:txBody>
          <a:bodyPr wrap="none" anchor="ctr" lIns="0" rIns="0" tIns="0" bIns="0">
            <a:noAutofit/>
          </a:bodyPr>
          <a:lstStyle/>
          <a:p>
            <a:pPr algn="ctr"/>
            <a:r>
              <a:rPr sz="800" b="0" i="0">
                <a:solidFill>
                  <a:srgbClr val="595959"/>
                </a:solidFill>
                <a:latin typeface="Arial"/>
              </a:rPr>
              <a:t>16</a:t>
            </a:r>
          </a:p>
        </p:txBody>
      </p:sp>
      <p:sp>
        <p:nvSpPr>
          <p:cNvPr id="47" name="TextBox 46"/>
          <p:cNvSpPr txBox="1"/>
          <p:nvPr/>
        </p:nvSpPr>
        <p:spPr>
          <a:xfrm>
            <a:off x="1944127" y="4253158"/>
            <a:ext cx="137160" cy="119186"/>
          </a:xfrm>
          <a:prstGeom prst="rect">
            <a:avLst/>
          </a:prstGeom>
          <a:noFill/>
        </p:spPr>
        <p:txBody>
          <a:bodyPr wrap="none" anchor="ctr" lIns="0" rIns="0" tIns="0" bIns="0">
            <a:noAutofit/>
          </a:bodyPr>
          <a:lstStyle/>
          <a:p>
            <a:pPr algn="ctr"/>
            <a:r>
              <a:rPr sz="800" b="0" i="0">
                <a:solidFill>
                  <a:srgbClr val="595959"/>
                </a:solidFill>
                <a:latin typeface="Arial"/>
              </a:rPr>
              <a:t>50</a:t>
            </a:r>
          </a:p>
        </p:txBody>
      </p:sp>
      <p:sp>
        <p:nvSpPr>
          <p:cNvPr id="48" name="TextBox 47"/>
          <p:cNvSpPr txBox="1"/>
          <p:nvPr/>
        </p:nvSpPr>
        <p:spPr>
          <a:xfrm>
            <a:off x="2081590" y="3439150"/>
            <a:ext cx="205740" cy="119186"/>
          </a:xfrm>
          <a:prstGeom prst="rect">
            <a:avLst/>
          </a:prstGeom>
          <a:noFill/>
        </p:spPr>
        <p:txBody>
          <a:bodyPr wrap="none" anchor="ctr" lIns="0" rIns="0" tIns="0" bIns="0">
            <a:noAutofit/>
          </a:bodyPr>
          <a:lstStyle/>
          <a:p>
            <a:pPr algn="ctr"/>
            <a:r>
              <a:rPr sz="800" b="0" i="0">
                <a:solidFill>
                  <a:srgbClr val="595959"/>
                </a:solidFill>
                <a:latin typeface="Arial"/>
              </a:rPr>
              <a:t>185</a:t>
            </a:r>
          </a:p>
        </p:txBody>
      </p:sp>
      <p:sp>
        <p:nvSpPr>
          <p:cNvPr id="49" name="TextBox 48"/>
          <p:cNvSpPr txBox="1"/>
          <p:nvPr/>
        </p:nvSpPr>
        <p:spPr>
          <a:xfrm>
            <a:off x="948475" y="3115875"/>
            <a:ext cx="1240154" cy="276448"/>
          </a:xfrm>
          <a:prstGeom prst="rect">
            <a:avLst/>
          </a:prstGeom>
          <a:noFill/>
        </p:spPr>
        <p:txBody>
          <a:bodyPr wrap="none" anchor="ctr" lIns="0" rIns="0" tIns="0" bIns="0">
            <a:noAutofit/>
          </a:bodyPr>
          <a:lstStyle/>
          <a:p>
            <a:pPr algn="l"/>
            <a:r>
              <a:rPr sz="800" b="0" i="0">
                <a:solidFill>
                  <a:srgbClr val="595959"/>
                </a:solidFill>
                <a:latin typeface="Arial"/>
              </a:rPr>
              <a:t>185/288 = 64.2%
increased under all six</a:t>
            </a:r>
          </a:p>
        </p:txBody>
      </p:sp>
      <p:sp>
        <p:nvSpPr>
          <p:cNvPr id="50" name="TextBox 49"/>
          <p:cNvSpPr txBox="1"/>
          <p:nvPr/>
        </p:nvSpPr>
        <p:spPr>
          <a:xfrm>
            <a:off x="504770" y="4855542"/>
            <a:ext cx="2328862" cy="150566"/>
          </a:xfrm>
          <a:prstGeom prst="rect">
            <a:avLst/>
          </a:prstGeom>
          <a:noFill/>
        </p:spPr>
        <p:txBody>
          <a:bodyPr wrap="none" anchor="ctr" lIns="0" rIns="0" tIns="0" bIns="0">
            <a:noAutofit/>
          </a:bodyPr>
          <a:lstStyle/>
          <a:p>
            <a:pPr algn="ctr"/>
            <a:r>
              <a:rPr sz="1000" b="0" i="0">
                <a:solidFill>
                  <a:srgbClr val="000000"/>
                </a:solidFill>
                <a:latin typeface="Arial"/>
              </a:rPr>
              <a:t>Settings with increased NP (of 6)</a:t>
            </a:r>
          </a:p>
        </p:txBody>
      </p:sp>
      <p:sp>
        <p:nvSpPr>
          <p:cNvPr id="51" name="TextBox 50"/>
          <p:cNvSpPr txBox="1"/>
          <p:nvPr/>
        </p:nvSpPr>
        <p:spPr>
          <a:xfrm>
            <a:off x="1119653" y="4737931"/>
            <a:ext cx="68580" cy="119186"/>
          </a:xfrm>
          <a:prstGeom prst="rect">
            <a:avLst/>
          </a:prstGeom>
          <a:noFill/>
        </p:spPr>
        <p:txBody>
          <a:bodyPr wrap="none" anchor="ctr" lIns="0" rIns="0" tIns="0" bIns="0">
            <a:noAutofit/>
          </a:bodyPr>
          <a:lstStyle/>
          <a:p>
            <a:pPr algn="ctr"/>
            <a:r>
              <a:rPr sz="800" b="0" i="0">
                <a:solidFill>
                  <a:srgbClr val="000000"/>
                </a:solidFill>
                <a:latin typeface="Arial"/>
              </a:rPr>
              <a:t>0</a:t>
            </a:r>
          </a:p>
        </p:txBody>
      </p:sp>
      <p:sp>
        <p:nvSpPr>
          <p:cNvPr id="52" name="TextBox 51"/>
          <p:cNvSpPr txBox="1"/>
          <p:nvPr/>
        </p:nvSpPr>
        <p:spPr>
          <a:xfrm>
            <a:off x="1291406" y="4737931"/>
            <a:ext cx="68580" cy="119186"/>
          </a:xfrm>
          <a:prstGeom prst="rect">
            <a:avLst/>
          </a:prstGeom>
          <a:noFill/>
        </p:spPr>
        <p:txBody>
          <a:bodyPr wrap="none" anchor="ctr" lIns="0" rIns="0" tIns="0" bIns="0">
            <a:noAutofit/>
          </a:bodyPr>
          <a:lstStyle/>
          <a:p>
            <a:pPr algn="ctr"/>
            <a:r>
              <a:rPr sz="800" b="0" i="0">
                <a:solidFill>
                  <a:srgbClr val="000000"/>
                </a:solidFill>
                <a:latin typeface="Arial"/>
              </a:rPr>
              <a:t>1</a:t>
            </a:r>
          </a:p>
        </p:txBody>
      </p:sp>
      <p:sp>
        <p:nvSpPr>
          <p:cNvPr id="53" name="TextBox 52"/>
          <p:cNvSpPr txBox="1"/>
          <p:nvPr/>
        </p:nvSpPr>
        <p:spPr>
          <a:xfrm>
            <a:off x="1463158" y="4737931"/>
            <a:ext cx="68580" cy="119186"/>
          </a:xfrm>
          <a:prstGeom prst="rect">
            <a:avLst/>
          </a:prstGeom>
          <a:noFill/>
        </p:spPr>
        <p:txBody>
          <a:bodyPr wrap="none" anchor="ctr" lIns="0" rIns="0" tIns="0" bIns="0">
            <a:noAutofit/>
          </a:bodyPr>
          <a:lstStyle/>
          <a:p>
            <a:pPr algn="ctr"/>
            <a:r>
              <a:rPr sz="800" b="0" i="0">
                <a:solidFill>
                  <a:srgbClr val="000000"/>
                </a:solidFill>
                <a:latin typeface="Arial"/>
              </a:rPr>
              <a:t>2</a:t>
            </a:r>
          </a:p>
        </p:txBody>
      </p:sp>
      <p:sp>
        <p:nvSpPr>
          <p:cNvPr id="54" name="TextBox 53"/>
          <p:cNvSpPr txBox="1"/>
          <p:nvPr/>
        </p:nvSpPr>
        <p:spPr>
          <a:xfrm>
            <a:off x="1634911" y="4737931"/>
            <a:ext cx="68580" cy="119186"/>
          </a:xfrm>
          <a:prstGeom prst="rect">
            <a:avLst/>
          </a:prstGeom>
          <a:noFill/>
        </p:spPr>
        <p:txBody>
          <a:bodyPr wrap="none" anchor="ctr" lIns="0" rIns="0" tIns="0" bIns="0">
            <a:noAutofit/>
          </a:bodyPr>
          <a:lstStyle/>
          <a:p>
            <a:pPr algn="ctr"/>
            <a:r>
              <a:rPr sz="800" b="0" i="0">
                <a:solidFill>
                  <a:srgbClr val="000000"/>
                </a:solidFill>
                <a:latin typeface="Arial"/>
              </a:rPr>
              <a:t>3</a:t>
            </a:r>
          </a:p>
        </p:txBody>
      </p:sp>
      <p:sp>
        <p:nvSpPr>
          <p:cNvPr id="55" name="TextBox 54"/>
          <p:cNvSpPr txBox="1"/>
          <p:nvPr/>
        </p:nvSpPr>
        <p:spPr>
          <a:xfrm>
            <a:off x="1806664" y="4737931"/>
            <a:ext cx="68580" cy="119186"/>
          </a:xfrm>
          <a:prstGeom prst="rect">
            <a:avLst/>
          </a:prstGeom>
          <a:noFill/>
        </p:spPr>
        <p:txBody>
          <a:bodyPr wrap="none" anchor="ctr" lIns="0" rIns="0" tIns="0" bIns="0">
            <a:noAutofit/>
          </a:bodyPr>
          <a:lstStyle/>
          <a:p>
            <a:pPr algn="ctr"/>
            <a:r>
              <a:rPr sz="800" b="0" i="0">
                <a:solidFill>
                  <a:srgbClr val="000000"/>
                </a:solidFill>
                <a:latin typeface="Arial"/>
              </a:rPr>
              <a:t>4</a:t>
            </a:r>
          </a:p>
        </p:txBody>
      </p:sp>
      <p:sp>
        <p:nvSpPr>
          <p:cNvPr id="56" name="TextBox 55"/>
          <p:cNvSpPr txBox="1"/>
          <p:nvPr/>
        </p:nvSpPr>
        <p:spPr>
          <a:xfrm>
            <a:off x="1978417" y="4737931"/>
            <a:ext cx="68580" cy="119186"/>
          </a:xfrm>
          <a:prstGeom prst="rect">
            <a:avLst/>
          </a:prstGeom>
          <a:noFill/>
        </p:spPr>
        <p:txBody>
          <a:bodyPr wrap="none" anchor="ctr" lIns="0" rIns="0" tIns="0" bIns="0">
            <a:noAutofit/>
          </a:bodyPr>
          <a:lstStyle/>
          <a:p>
            <a:pPr algn="ctr"/>
            <a:r>
              <a:rPr sz="800" b="0" i="0">
                <a:solidFill>
                  <a:srgbClr val="000000"/>
                </a:solidFill>
                <a:latin typeface="Arial"/>
              </a:rPr>
              <a:t>5</a:t>
            </a:r>
          </a:p>
        </p:txBody>
      </p:sp>
      <p:sp>
        <p:nvSpPr>
          <p:cNvPr id="57" name="TextBox 56"/>
          <p:cNvSpPr txBox="1"/>
          <p:nvPr/>
        </p:nvSpPr>
        <p:spPr>
          <a:xfrm>
            <a:off x="2150170" y="4737931"/>
            <a:ext cx="68580" cy="119186"/>
          </a:xfrm>
          <a:prstGeom prst="rect">
            <a:avLst/>
          </a:prstGeom>
          <a:noFill/>
        </p:spPr>
        <p:txBody>
          <a:bodyPr wrap="none" anchor="ctr" lIns="0" rIns="0" tIns="0" bIns="0">
            <a:noAutofit/>
          </a:bodyPr>
          <a:lstStyle/>
          <a:p>
            <a:pPr algn="ctr"/>
            <a:r>
              <a:rPr sz="800" b="0" i="0">
                <a:solidFill>
                  <a:srgbClr val="000000"/>
                </a:solidFill>
                <a:latin typeface="Arial"/>
              </a:rPr>
              <a:t>6</a:t>
            </a:r>
          </a:p>
        </p:txBody>
      </p:sp>
      <p:sp>
        <p:nvSpPr>
          <p:cNvPr id="58" name="TextBox 57"/>
          <p:cNvSpPr txBox="1"/>
          <p:nvPr/>
        </p:nvSpPr>
        <p:spPr>
          <a:xfrm rot="16200000">
            <a:off x="537575" y="3813508"/>
            <a:ext cx="405586" cy="148983"/>
          </a:xfrm>
          <a:prstGeom prst="rect">
            <a:avLst/>
          </a:prstGeom>
          <a:noFill/>
        </p:spPr>
        <p:txBody>
          <a:bodyPr wrap="none" anchor="ctr" lIns="0" rIns="0" tIns="0" bIns="0">
            <a:noAutofit/>
          </a:bodyPr>
          <a:lstStyle/>
          <a:p>
            <a:pPr algn="ctr"/>
            <a:r>
              <a:rPr sz="1000" b="0" i="0">
                <a:solidFill>
                  <a:srgbClr val="000000"/>
                </a:solidFill>
                <a:latin typeface="Arial"/>
              </a:rPr>
              <a:t>Twins</a:t>
            </a:r>
          </a:p>
        </p:txBody>
      </p:sp>
      <p:sp>
        <p:nvSpPr>
          <p:cNvPr id="59" name="TextBox 58"/>
          <p:cNvSpPr txBox="1"/>
          <p:nvPr/>
        </p:nvSpPr>
        <p:spPr>
          <a:xfrm>
            <a:off x="928231" y="4631097"/>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60" name="TextBox 59"/>
          <p:cNvSpPr txBox="1"/>
          <p:nvPr/>
        </p:nvSpPr>
        <p:spPr>
          <a:xfrm>
            <a:off x="866509" y="4329612"/>
            <a:ext cx="137160" cy="119186"/>
          </a:xfrm>
          <a:prstGeom prst="rect">
            <a:avLst/>
          </a:prstGeom>
          <a:noFill/>
        </p:spPr>
        <p:txBody>
          <a:bodyPr wrap="none" anchor="ctr" lIns="0" rIns="0" tIns="0" bIns="0">
            <a:noAutofit/>
          </a:bodyPr>
          <a:lstStyle/>
          <a:p>
            <a:pPr algn="r"/>
            <a:r>
              <a:rPr sz="800" b="0" i="0">
                <a:solidFill>
                  <a:srgbClr val="000000"/>
                </a:solidFill>
                <a:latin typeface="Arial"/>
              </a:rPr>
              <a:t>50</a:t>
            </a:r>
          </a:p>
        </p:txBody>
      </p:sp>
      <p:sp>
        <p:nvSpPr>
          <p:cNvPr id="61" name="TextBox 60"/>
          <p:cNvSpPr txBox="1"/>
          <p:nvPr/>
        </p:nvSpPr>
        <p:spPr>
          <a:xfrm>
            <a:off x="804787" y="4028128"/>
            <a:ext cx="205740" cy="119186"/>
          </a:xfrm>
          <a:prstGeom prst="rect">
            <a:avLst/>
          </a:prstGeom>
          <a:noFill/>
        </p:spPr>
        <p:txBody>
          <a:bodyPr wrap="none" anchor="ctr" lIns="0" rIns="0" tIns="0" bIns="0">
            <a:noAutofit/>
          </a:bodyPr>
          <a:lstStyle/>
          <a:p>
            <a:pPr algn="r"/>
            <a:r>
              <a:rPr sz="800" b="0" i="0">
                <a:solidFill>
                  <a:srgbClr val="000000"/>
                </a:solidFill>
                <a:latin typeface="Arial"/>
              </a:rPr>
              <a:t>100</a:t>
            </a:r>
          </a:p>
        </p:txBody>
      </p:sp>
      <p:sp>
        <p:nvSpPr>
          <p:cNvPr id="62" name="TextBox 61"/>
          <p:cNvSpPr txBox="1"/>
          <p:nvPr/>
        </p:nvSpPr>
        <p:spPr>
          <a:xfrm>
            <a:off x="804787" y="3726643"/>
            <a:ext cx="205740" cy="119186"/>
          </a:xfrm>
          <a:prstGeom prst="rect">
            <a:avLst/>
          </a:prstGeom>
          <a:noFill/>
        </p:spPr>
        <p:txBody>
          <a:bodyPr wrap="none" anchor="ctr" lIns="0" rIns="0" tIns="0" bIns="0">
            <a:noAutofit/>
          </a:bodyPr>
          <a:lstStyle/>
          <a:p>
            <a:pPr algn="r"/>
            <a:r>
              <a:rPr sz="800" b="0" i="0">
                <a:solidFill>
                  <a:srgbClr val="000000"/>
                </a:solidFill>
                <a:latin typeface="Arial"/>
              </a:rPr>
              <a:t>150</a:t>
            </a:r>
          </a:p>
        </p:txBody>
      </p:sp>
      <p:sp>
        <p:nvSpPr>
          <p:cNvPr id="63" name="TextBox 62"/>
          <p:cNvSpPr txBox="1"/>
          <p:nvPr/>
        </p:nvSpPr>
        <p:spPr>
          <a:xfrm>
            <a:off x="804787" y="3425159"/>
            <a:ext cx="205740" cy="119186"/>
          </a:xfrm>
          <a:prstGeom prst="rect">
            <a:avLst/>
          </a:prstGeom>
          <a:noFill/>
        </p:spPr>
        <p:txBody>
          <a:bodyPr wrap="none" anchor="ctr" lIns="0" rIns="0" tIns="0" bIns="0">
            <a:noAutofit/>
          </a:bodyPr>
          <a:lstStyle/>
          <a:p>
            <a:pPr algn="r"/>
            <a:r>
              <a:rPr sz="800" b="0" i="0">
                <a:solidFill>
                  <a:srgbClr val="000000"/>
                </a:solidFill>
                <a:latin typeface="Arial"/>
              </a:rPr>
              <a:t>200</a:t>
            </a:r>
          </a:p>
        </p:txBody>
      </p:sp>
      <p:sp>
        <p:nvSpPr>
          <p:cNvPr id="64" name="TextBox 63"/>
          <p:cNvSpPr txBox="1"/>
          <p:nvPr/>
        </p:nvSpPr>
        <p:spPr>
          <a:xfrm>
            <a:off x="804787" y="3123674"/>
            <a:ext cx="205740" cy="119186"/>
          </a:xfrm>
          <a:prstGeom prst="rect">
            <a:avLst/>
          </a:prstGeom>
          <a:noFill/>
        </p:spPr>
        <p:txBody>
          <a:bodyPr wrap="none" anchor="ctr" lIns="0" rIns="0" tIns="0" bIns="0">
            <a:noAutofit/>
          </a:bodyPr>
          <a:lstStyle/>
          <a:p>
            <a:pPr algn="r"/>
            <a:r>
              <a:rPr sz="800" b="0" i="0">
                <a:solidFill>
                  <a:srgbClr val="000000"/>
                </a:solidFill>
                <a:latin typeface="Arial"/>
              </a:rPr>
              <a:t>250</a:t>
            </a:r>
          </a:p>
        </p:txBody>
      </p:sp>
      <p:sp>
        <p:nvSpPr>
          <p:cNvPr id="65" name="TextBox 64"/>
          <p:cNvSpPr txBox="1"/>
          <p:nvPr/>
        </p:nvSpPr>
        <p:spPr>
          <a:xfrm>
            <a:off x="804787" y="2822190"/>
            <a:ext cx="205740" cy="119186"/>
          </a:xfrm>
          <a:prstGeom prst="rect">
            <a:avLst/>
          </a:prstGeom>
          <a:noFill/>
        </p:spPr>
        <p:txBody>
          <a:bodyPr wrap="none" anchor="ctr" lIns="0" rIns="0" tIns="0" bIns="0">
            <a:noAutofit/>
          </a:bodyPr>
          <a:lstStyle/>
          <a:p>
            <a:pPr algn="r"/>
            <a:r>
              <a:rPr sz="800" b="0" i="0">
                <a:solidFill>
                  <a:srgbClr val="000000"/>
                </a:solidFill>
                <a:latin typeface="Arial"/>
              </a:rPr>
              <a:t>300</a:t>
            </a:r>
          </a:p>
        </p:txBody>
      </p:sp>
      <p:sp>
        <p:nvSpPr>
          <p:cNvPr id="66" name="TextBox 65"/>
          <p:cNvSpPr txBox="1"/>
          <p:nvPr/>
        </p:nvSpPr>
        <p:spPr>
          <a:xfrm rot="18900000">
            <a:off x="2934020" y="4854899"/>
            <a:ext cx="462915" cy="119186"/>
          </a:xfrm>
          <a:prstGeom prst="rect">
            <a:avLst/>
          </a:prstGeom>
          <a:noFill/>
        </p:spPr>
        <p:txBody>
          <a:bodyPr wrap="none" anchor="ctr" lIns="0" rIns="0" tIns="0" bIns="0">
            <a:noAutofit/>
          </a:bodyPr>
          <a:lstStyle/>
          <a:p>
            <a:pPr algn="r"/>
            <a:r>
              <a:rPr sz="800" b="0" i="0">
                <a:solidFill>
                  <a:srgbClr val="000000"/>
                </a:solidFill>
                <a:latin typeface="Arial"/>
              </a:rPr>
              <a:t>baseline</a:t>
            </a:r>
          </a:p>
        </p:txBody>
      </p:sp>
      <p:sp>
        <p:nvSpPr>
          <p:cNvPr id="67" name="TextBox 66"/>
          <p:cNvSpPr txBox="1"/>
          <p:nvPr/>
        </p:nvSpPr>
        <p:spPr>
          <a:xfrm rot="18900000">
            <a:off x="3413232" y="4821522"/>
            <a:ext cx="344909" cy="119186"/>
          </a:xfrm>
          <a:prstGeom prst="rect">
            <a:avLst/>
          </a:prstGeom>
          <a:noFill/>
        </p:spPr>
        <p:txBody>
          <a:bodyPr wrap="none" anchor="ctr" lIns="0" rIns="0" tIns="0" bIns="0">
            <a:noAutofit/>
          </a:bodyPr>
          <a:lstStyle/>
          <a:p>
            <a:pPr algn="r"/>
            <a:r>
              <a:rPr sz="800" b="0" i="0">
                <a:solidFill>
                  <a:srgbClr val="000000"/>
                </a:solidFill>
                <a:latin typeface="Arial"/>
              </a:rPr>
              <a:t>AMPA</a:t>
            </a:r>
          </a:p>
        </p:txBody>
      </p:sp>
      <p:sp>
        <p:nvSpPr>
          <p:cNvPr id="68" name="TextBox 67"/>
          <p:cNvSpPr txBox="1"/>
          <p:nvPr/>
        </p:nvSpPr>
        <p:spPr>
          <a:xfrm rot="18900000">
            <a:off x="3823732" y="4854899"/>
            <a:ext cx="462915" cy="119186"/>
          </a:xfrm>
          <a:prstGeom prst="rect">
            <a:avLst/>
          </a:prstGeom>
          <a:noFill/>
        </p:spPr>
        <p:txBody>
          <a:bodyPr wrap="none" anchor="ctr" lIns="0" rIns="0" tIns="0" bIns="0">
            <a:noAutofit/>
          </a:bodyPr>
          <a:lstStyle/>
          <a:p>
            <a:pPr algn="r"/>
            <a:r>
              <a:rPr sz="800" b="0" i="0">
                <a:solidFill>
                  <a:srgbClr val="000000"/>
                </a:solidFill>
                <a:latin typeface="Arial"/>
              </a:rPr>
              <a:t>baseline</a:t>
            </a:r>
          </a:p>
        </p:txBody>
      </p:sp>
      <p:sp>
        <p:nvSpPr>
          <p:cNvPr id="69" name="TextBox 68"/>
          <p:cNvSpPr txBox="1"/>
          <p:nvPr/>
        </p:nvSpPr>
        <p:spPr>
          <a:xfrm rot="18900000">
            <a:off x="4203853" y="4857324"/>
            <a:ext cx="471487" cy="119186"/>
          </a:xfrm>
          <a:prstGeom prst="rect">
            <a:avLst/>
          </a:prstGeom>
          <a:noFill/>
        </p:spPr>
        <p:txBody>
          <a:bodyPr wrap="none" anchor="ctr" lIns="0" rIns="0" tIns="0" bIns="0">
            <a:noAutofit/>
          </a:bodyPr>
          <a:lstStyle/>
          <a:p>
            <a:pPr algn="r"/>
            <a:r>
              <a:rPr sz="800" b="0" i="0">
                <a:solidFill>
                  <a:srgbClr val="000000"/>
                </a:solidFill>
                <a:latin typeface="Arial"/>
              </a:rPr>
              <a:t>GABA-A</a:t>
            </a:r>
          </a:p>
        </p:txBody>
      </p:sp>
      <p:sp>
        <p:nvSpPr>
          <p:cNvPr id="70" name="TextBox 69"/>
          <p:cNvSpPr txBox="1"/>
          <p:nvPr/>
        </p:nvSpPr>
        <p:spPr>
          <a:xfrm rot="16200000">
            <a:off x="2113479" y="3812716"/>
            <a:ext cx="1503045" cy="150566"/>
          </a:xfrm>
          <a:prstGeom prst="rect">
            <a:avLst/>
          </a:prstGeom>
          <a:noFill/>
        </p:spPr>
        <p:txBody>
          <a:bodyPr wrap="none" anchor="ctr" lIns="0" rIns="0" tIns="0" bIns="0">
            <a:noAutofit/>
          </a:bodyPr>
          <a:lstStyle/>
          <a:p>
            <a:pPr algn="ctr"/>
            <a:r>
              <a:rPr sz="1000" b="0" i="0">
                <a:solidFill>
                  <a:srgbClr val="000000"/>
                </a:solidFill>
                <a:latin typeface="Arial"/>
              </a:rPr>
              <a:t>Summed EFT NP FC</a:t>
            </a:r>
          </a:p>
        </p:txBody>
      </p:sp>
      <p:sp>
        <p:nvSpPr>
          <p:cNvPr id="71" name="TextBox 70"/>
          <p:cNvSpPr txBox="1"/>
          <p:nvPr/>
        </p:nvSpPr>
        <p:spPr>
          <a:xfrm>
            <a:off x="2905193" y="4702330"/>
            <a:ext cx="111442" cy="119186"/>
          </a:xfrm>
          <a:prstGeom prst="rect">
            <a:avLst/>
          </a:prstGeom>
          <a:noFill/>
        </p:spPr>
        <p:txBody>
          <a:bodyPr wrap="none" anchor="ctr" lIns="0" rIns="0" tIns="0" bIns="0">
            <a:noAutofit/>
          </a:bodyPr>
          <a:lstStyle/>
          <a:p>
            <a:pPr algn="r"/>
            <a:r>
              <a:rPr sz="800" b="0" i="0">
                <a:solidFill>
                  <a:srgbClr val="000000"/>
                </a:solidFill>
                <a:latin typeface="Arial"/>
              </a:rPr>
              <a:t>-1</a:t>
            </a:r>
          </a:p>
        </p:txBody>
      </p:sp>
      <p:sp>
        <p:nvSpPr>
          <p:cNvPr id="72" name="TextBox 71"/>
          <p:cNvSpPr txBox="1"/>
          <p:nvPr/>
        </p:nvSpPr>
        <p:spPr>
          <a:xfrm>
            <a:off x="2943770" y="4253195"/>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73" name="TextBox 72"/>
          <p:cNvSpPr txBox="1"/>
          <p:nvPr/>
        </p:nvSpPr>
        <p:spPr>
          <a:xfrm>
            <a:off x="2943770" y="3804059"/>
            <a:ext cx="68580" cy="119186"/>
          </a:xfrm>
          <a:prstGeom prst="rect">
            <a:avLst/>
          </a:prstGeom>
          <a:noFill/>
        </p:spPr>
        <p:txBody>
          <a:bodyPr wrap="none" anchor="ctr" lIns="0" rIns="0" tIns="0" bIns="0">
            <a:noAutofit/>
          </a:bodyPr>
          <a:lstStyle/>
          <a:p>
            <a:pPr algn="r"/>
            <a:r>
              <a:rPr sz="800" b="0" i="0">
                <a:solidFill>
                  <a:srgbClr val="000000"/>
                </a:solidFill>
                <a:latin typeface="Arial"/>
              </a:rPr>
              <a:t>1</a:t>
            </a:r>
          </a:p>
        </p:txBody>
      </p:sp>
      <p:sp>
        <p:nvSpPr>
          <p:cNvPr id="74" name="TextBox 73"/>
          <p:cNvSpPr txBox="1"/>
          <p:nvPr/>
        </p:nvSpPr>
        <p:spPr>
          <a:xfrm>
            <a:off x="2943770" y="3354924"/>
            <a:ext cx="68580"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75" name="TextBox 74"/>
          <p:cNvSpPr txBox="1"/>
          <p:nvPr/>
        </p:nvSpPr>
        <p:spPr>
          <a:xfrm>
            <a:off x="2943770" y="2905788"/>
            <a:ext cx="68580" cy="119186"/>
          </a:xfrm>
          <a:prstGeom prst="rect">
            <a:avLst/>
          </a:prstGeom>
          <a:noFill/>
        </p:spPr>
        <p:txBody>
          <a:bodyPr wrap="none" anchor="ctr" lIns="0" rIns="0" tIns="0" bIns="0">
            <a:noAutofit/>
          </a:bodyPr>
          <a:lstStyle/>
          <a:p>
            <a:pPr algn="r"/>
            <a:r>
              <a:rPr sz="800" b="0" i="0">
                <a:solidFill>
                  <a:srgbClr val="000000"/>
                </a:solidFill>
                <a:latin typeface="Arial"/>
              </a:rPr>
              <a:t>3</a:t>
            </a:r>
          </a:p>
        </p:txBody>
      </p:sp>
      <p:sp>
        <p:nvSpPr>
          <p:cNvPr id="76" name="TextBox 75"/>
          <p:cNvSpPr txBox="1"/>
          <p:nvPr/>
        </p:nvSpPr>
        <p:spPr>
          <a:xfrm>
            <a:off x="3210978" y="3104401"/>
            <a:ext cx="320040" cy="119186"/>
          </a:xfrm>
          <a:prstGeom prst="rect">
            <a:avLst/>
          </a:prstGeom>
          <a:noFill/>
        </p:spPr>
        <p:txBody>
          <a:bodyPr wrap="none" anchor="ctr" lIns="0" rIns="0" tIns="0" bIns="0">
            <a:noAutofit/>
          </a:bodyPr>
          <a:lstStyle/>
          <a:p>
            <a:pPr algn="l"/>
            <a:r>
              <a:rPr sz="800" b="0" i="0">
                <a:solidFill>
                  <a:srgbClr val="000000"/>
                </a:solidFill>
                <a:latin typeface="Arial"/>
              </a:rPr>
              <a:t>HC01</a:t>
            </a:r>
          </a:p>
        </p:txBody>
      </p:sp>
      <p:sp>
        <p:nvSpPr>
          <p:cNvPr id="77" name="TextBox 76"/>
          <p:cNvSpPr txBox="1"/>
          <p:nvPr/>
        </p:nvSpPr>
        <p:spPr>
          <a:xfrm>
            <a:off x="3703833" y="3104401"/>
            <a:ext cx="288607" cy="119186"/>
          </a:xfrm>
          <a:prstGeom prst="rect">
            <a:avLst/>
          </a:prstGeom>
          <a:noFill/>
        </p:spPr>
        <p:txBody>
          <a:bodyPr wrap="none" anchor="ctr" lIns="0" rIns="0" tIns="0" bIns="0">
            <a:noAutofit/>
          </a:bodyPr>
          <a:lstStyle/>
          <a:p>
            <a:pPr algn="l"/>
            <a:r>
              <a:rPr sz="800" b="0" i="0">
                <a:solidFill>
                  <a:srgbClr val="000000"/>
                </a:solidFill>
                <a:latin typeface="Arial"/>
              </a:rPr>
              <a:t>MDD</a:t>
            </a:r>
          </a:p>
        </p:txBody>
      </p:sp>
      <p:sp>
        <p:nvSpPr>
          <p:cNvPr id="78" name="TextBox 77"/>
          <p:cNvSpPr txBox="1"/>
          <p:nvPr/>
        </p:nvSpPr>
        <p:spPr>
          <a:xfrm>
            <a:off x="4170685" y="3104401"/>
            <a:ext cx="265747" cy="119186"/>
          </a:xfrm>
          <a:prstGeom prst="rect">
            <a:avLst/>
          </a:prstGeom>
          <a:noFill/>
        </p:spPr>
        <p:txBody>
          <a:bodyPr wrap="none" anchor="ctr" lIns="0" rIns="0" tIns="0" bIns="0">
            <a:noAutofit/>
          </a:bodyPr>
          <a:lstStyle/>
          <a:p>
            <a:pPr algn="l"/>
            <a:r>
              <a:rPr sz="800" b="0" i="0">
                <a:solidFill>
                  <a:srgbClr val="000000"/>
                </a:solidFill>
                <a:latin typeface="Arial"/>
              </a:rPr>
              <a:t>AUD</a:t>
            </a:r>
          </a:p>
        </p:txBody>
      </p:sp>
      <p:sp>
        <p:nvSpPr>
          <p:cNvPr id="79" name="TextBox 78"/>
          <p:cNvSpPr txBox="1"/>
          <p:nvPr/>
        </p:nvSpPr>
        <p:spPr>
          <a:xfrm rot="18900000">
            <a:off x="5304033" y="4854899"/>
            <a:ext cx="462915" cy="119186"/>
          </a:xfrm>
          <a:prstGeom prst="rect">
            <a:avLst/>
          </a:prstGeom>
          <a:noFill/>
        </p:spPr>
        <p:txBody>
          <a:bodyPr wrap="none" anchor="ctr" lIns="0" rIns="0" tIns="0" bIns="0">
            <a:noAutofit/>
          </a:bodyPr>
          <a:lstStyle/>
          <a:p>
            <a:pPr algn="r"/>
            <a:r>
              <a:rPr sz="800" b="0" i="0">
                <a:solidFill>
                  <a:srgbClr val="000000"/>
                </a:solidFill>
                <a:latin typeface="Arial"/>
              </a:rPr>
              <a:t>baseline</a:t>
            </a:r>
          </a:p>
        </p:txBody>
      </p:sp>
      <p:sp>
        <p:nvSpPr>
          <p:cNvPr id="80" name="TextBox 79"/>
          <p:cNvSpPr txBox="1"/>
          <p:nvPr/>
        </p:nvSpPr>
        <p:spPr>
          <a:xfrm rot="18900000">
            <a:off x="5756747" y="4821522"/>
            <a:ext cx="344909" cy="119186"/>
          </a:xfrm>
          <a:prstGeom prst="rect">
            <a:avLst/>
          </a:prstGeom>
          <a:noFill/>
        </p:spPr>
        <p:txBody>
          <a:bodyPr wrap="none" anchor="ctr" lIns="0" rIns="0" tIns="0" bIns="0">
            <a:noAutofit/>
          </a:bodyPr>
          <a:lstStyle/>
          <a:p>
            <a:pPr algn="r"/>
            <a:r>
              <a:rPr sz="800" b="0" i="0">
                <a:solidFill>
                  <a:srgbClr val="000000"/>
                </a:solidFill>
                <a:latin typeface="Arial"/>
              </a:rPr>
              <a:t>AMPA</a:t>
            </a:r>
          </a:p>
        </p:txBody>
      </p:sp>
      <p:sp>
        <p:nvSpPr>
          <p:cNvPr id="81" name="TextBox 80"/>
          <p:cNvSpPr txBox="1"/>
          <p:nvPr/>
        </p:nvSpPr>
        <p:spPr>
          <a:xfrm rot="18900000">
            <a:off x="6132802" y="4854899"/>
            <a:ext cx="462915" cy="119186"/>
          </a:xfrm>
          <a:prstGeom prst="rect">
            <a:avLst/>
          </a:prstGeom>
          <a:noFill/>
        </p:spPr>
        <p:txBody>
          <a:bodyPr wrap="none" anchor="ctr" lIns="0" rIns="0" tIns="0" bIns="0">
            <a:noAutofit/>
          </a:bodyPr>
          <a:lstStyle/>
          <a:p>
            <a:pPr algn="r"/>
            <a:r>
              <a:rPr sz="800" b="0" i="0">
                <a:solidFill>
                  <a:srgbClr val="000000"/>
                </a:solidFill>
                <a:latin typeface="Arial"/>
              </a:rPr>
              <a:t>baseline</a:t>
            </a:r>
          </a:p>
        </p:txBody>
      </p:sp>
      <p:sp>
        <p:nvSpPr>
          <p:cNvPr id="82" name="TextBox 81"/>
          <p:cNvSpPr txBox="1"/>
          <p:nvPr/>
        </p:nvSpPr>
        <p:spPr>
          <a:xfrm rot="18900000">
            <a:off x="6486426" y="4857324"/>
            <a:ext cx="471487" cy="119186"/>
          </a:xfrm>
          <a:prstGeom prst="rect">
            <a:avLst/>
          </a:prstGeom>
          <a:noFill/>
        </p:spPr>
        <p:txBody>
          <a:bodyPr wrap="none" anchor="ctr" lIns="0" rIns="0" tIns="0" bIns="0">
            <a:noAutofit/>
          </a:bodyPr>
          <a:lstStyle/>
          <a:p>
            <a:pPr algn="r"/>
            <a:r>
              <a:rPr sz="800" b="0" i="0">
                <a:solidFill>
                  <a:srgbClr val="000000"/>
                </a:solidFill>
                <a:latin typeface="Arial"/>
              </a:rPr>
              <a:t>GABA-A</a:t>
            </a:r>
          </a:p>
        </p:txBody>
      </p:sp>
      <p:sp>
        <p:nvSpPr>
          <p:cNvPr id="83" name="TextBox 82"/>
          <p:cNvSpPr txBox="1"/>
          <p:nvPr/>
        </p:nvSpPr>
        <p:spPr>
          <a:xfrm rot="16200000">
            <a:off x="4147164" y="3812716"/>
            <a:ext cx="1971675" cy="150566"/>
          </a:xfrm>
          <a:prstGeom prst="rect">
            <a:avLst/>
          </a:prstGeom>
          <a:noFill/>
        </p:spPr>
        <p:txBody>
          <a:bodyPr wrap="none" anchor="ctr" lIns="0" rIns="0" tIns="0" bIns="0">
            <a:noAutofit/>
          </a:bodyPr>
          <a:lstStyle/>
          <a:p>
            <a:pPr algn="ctr"/>
            <a:r>
              <a:rPr sz="1000" b="0" i="0">
                <a:solidFill>
                  <a:srgbClr val="000000"/>
                </a:solidFill>
                <a:latin typeface="Arial"/>
              </a:rPr>
              <a:t>Summed NP FC (12 edges)</a:t>
            </a:r>
          </a:p>
        </p:txBody>
      </p:sp>
      <p:sp>
        <p:nvSpPr>
          <p:cNvPr id="84" name="TextBox 83"/>
          <p:cNvSpPr txBox="1"/>
          <p:nvPr/>
        </p:nvSpPr>
        <p:spPr>
          <a:xfrm>
            <a:off x="5197196" y="4867203"/>
            <a:ext cx="214312" cy="119186"/>
          </a:xfrm>
          <a:prstGeom prst="rect">
            <a:avLst/>
          </a:prstGeom>
          <a:noFill/>
        </p:spPr>
        <p:txBody>
          <a:bodyPr wrap="none" anchor="ctr" lIns="0" rIns="0" tIns="0" bIns="0">
            <a:noAutofit/>
          </a:bodyPr>
          <a:lstStyle/>
          <a:p>
            <a:pPr algn="r"/>
            <a:r>
              <a:rPr sz="800" b="0" i="0">
                <a:solidFill>
                  <a:srgbClr val="000000"/>
                </a:solidFill>
                <a:latin typeface="Arial"/>
              </a:rPr>
              <a:t>-1.5</a:t>
            </a:r>
          </a:p>
        </p:txBody>
      </p:sp>
      <p:sp>
        <p:nvSpPr>
          <p:cNvPr id="85" name="TextBox 84"/>
          <p:cNvSpPr txBox="1"/>
          <p:nvPr/>
        </p:nvSpPr>
        <p:spPr>
          <a:xfrm>
            <a:off x="5197196" y="4571492"/>
            <a:ext cx="214312"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86" name="TextBox 85"/>
          <p:cNvSpPr txBox="1"/>
          <p:nvPr/>
        </p:nvSpPr>
        <p:spPr>
          <a:xfrm>
            <a:off x="5197196" y="4275780"/>
            <a:ext cx="214312" cy="119186"/>
          </a:xfrm>
          <a:prstGeom prst="rect">
            <a:avLst/>
          </a:prstGeom>
          <a:noFill/>
        </p:spPr>
        <p:txBody>
          <a:bodyPr wrap="none" anchor="ctr" lIns="0" rIns="0" tIns="0" bIns="0">
            <a:noAutofit/>
          </a:bodyPr>
          <a:lstStyle/>
          <a:p>
            <a:pPr algn="r"/>
            <a:r>
              <a:rPr sz="800" b="0" i="0">
                <a:solidFill>
                  <a:srgbClr val="000000"/>
                </a:solidFill>
                <a:latin typeface="Arial"/>
              </a:rPr>
              <a:t>-0.5</a:t>
            </a:r>
          </a:p>
        </p:txBody>
      </p:sp>
      <p:sp>
        <p:nvSpPr>
          <p:cNvPr id="87" name="TextBox 86"/>
          <p:cNvSpPr txBox="1"/>
          <p:nvPr/>
        </p:nvSpPr>
        <p:spPr>
          <a:xfrm>
            <a:off x="5235773" y="3980069"/>
            <a:ext cx="171450" cy="119186"/>
          </a:xfrm>
          <a:prstGeom prst="rect">
            <a:avLst/>
          </a:prstGeom>
          <a:noFill/>
        </p:spPr>
        <p:txBody>
          <a:bodyPr wrap="none" anchor="ctr" lIns="0" rIns="0" tIns="0" bIns="0">
            <a:noAutofit/>
          </a:bodyPr>
          <a:lstStyle/>
          <a:p>
            <a:pPr algn="r"/>
            <a:r>
              <a:rPr sz="800" b="0" i="0">
                <a:solidFill>
                  <a:srgbClr val="000000"/>
                </a:solidFill>
                <a:latin typeface="Arial"/>
              </a:rPr>
              <a:t>0.0</a:t>
            </a:r>
          </a:p>
        </p:txBody>
      </p:sp>
      <p:sp>
        <p:nvSpPr>
          <p:cNvPr id="88" name="TextBox 87"/>
          <p:cNvSpPr txBox="1"/>
          <p:nvPr/>
        </p:nvSpPr>
        <p:spPr>
          <a:xfrm>
            <a:off x="5235773" y="3684357"/>
            <a:ext cx="171450" cy="119186"/>
          </a:xfrm>
          <a:prstGeom prst="rect">
            <a:avLst/>
          </a:prstGeom>
          <a:noFill/>
        </p:spPr>
        <p:txBody>
          <a:bodyPr wrap="none" anchor="ctr" lIns="0" rIns="0" tIns="0" bIns="0">
            <a:noAutofit/>
          </a:bodyPr>
          <a:lstStyle/>
          <a:p>
            <a:pPr algn="r"/>
            <a:r>
              <a:rPr sz="800" b="0" i="0">
                <a:solidFill>
                  <a:srgbClr val="000000"/>
                </a:solidFill>
                <a:latin typeface="Arial"/>
              </a:rPr>
              <a:t>0.5</a:t>
            </a:r>
          </a:p>
        </p:txBody>
      </p:sp>
      <p:sp>
        <p:nvSpPr>
          <p:cNvPr id="89" name="TextBox 88"/>
          <p:cNvSpPr txBox="1"/>
          <p:nvPr/>
        </p:nvSpPr>
        <p:spPr>
          <a:xfrm>
            <a:off x="5235773" y="3388646"/>
            <a:ext cx="171450"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90" name="TextBox 89"/>
          <p:cNvSpPr txBox="1"/>
          <p:nvPr/>
        </p:nvSpPr>
        <p:spPr>
          <a:xfrm>
            <a:off x="5235773" y="3092934"/>
            <a:ext cx="171450" cy="119186"/>
          </a:xfrm>
          <a:prstGeom prst="rect">
            <a:avLst/>
          </a:prstGeom>
          <a:noFill/>
        </p:spPr>
        <p:txBody>
          <a:bodyPr wrap="none" anchor="ctr" lIns="0" rIns="0" tIns="0" bIns="0">
            <a:noAutofit/>
          </a:bodyPr>
          <a:lstStyle/>
          <a:p>
            <a:pPr algn="r"/>
            <a:r>
              <a:rPr sz="800" b="0" i="0">
                <a:solidFill>
                  <a:srgbClr val="000000"/>
                </a:solidFill>
                <a:latin typeface="Arial"/>
              </a:rPr>
              <a:t>1.5</a:t>
            </a:r>
          </a:p>
        </p:txBody>
      </p:sp>
      <p:sp>
        <p:nvSpPr>
          <p:cNvPr id="91" name="TextBox 90"/>
          <p:cNvSpPr txBox="1"/>
          <p:nvPr/>
        </p:nvSpPr>
        <p:spPr>
          <a:xfrm>
            <a:off x="5235773" y="2797222"/>
            <a:ext cx="171450"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92" name="TextBox 91"/>
          <p:cNvSpPr txBox="1"/>
          <p:nvPr/>
        </p:nvSpPr>
        <p:spPr>
          <a:xfrm>
            <a:off x="530284" y="447505"/>
            <a:ext cx="97155" cy="163881"/>
          </a:xfrm>
          <a:prstGeom prst="rect">
            <a:avLst/>
          </a:prstGeom>
          <a:noFill/>
        </p:spPr>
        <p:txBody>
          <a:bodyPr wrap="none" anchor="ctr" lIns="0" rIns="0" tIns="0" bIns="0">
            <a:noAutofit/>
          </a:bodyPr>
          <a:lstStyle/>
          <a:p>
            <a:pPr algn="l"/>
            <a:r>
              <a:rPr sz="1100" b="1" i="0">
                <a:solidFill>
                  <a:srgbClr val="000000"/>
                </a:solidFill>
                <a:latin typeface="Arial"/>
              </a:rPr>
              <a:t>a</a:t>
            </a:r>
          </a:p>
        </p:txBody>
      </p:sp>
      <p:sp>
        <p:nvSpPr>
          <p:cNvPr id="93" name="TextBox 92"/>
          <p:cNvSpPr txBox="1"/>
          <p:nvPr/>
        </p:nvSpPr>
        <p:spPr>
          <a:xfrm>
            <a:off x="3877427" y="447505"/>
            <a:ext cx="105727" cy="163881"/>
          </a:xfrm>
          <a:prstGeom prst="rect">
            <a:avLst/>
          </a:prstGeom>
          <a:noFill/>
        </p:spPr>
        <p:txBody>
          <a:bodyPr wrap="none" anchor="ctr" lIns="0" rIns="0" tIns="0" bIns="0">
            <a:noAutofit/>
          </a:bodyPr>
          <a:lstStyle/>
          <a:p>
            <a:pPr algn="l"/>
            <a:r>
              <a:rPr sz="1100" b="1" i="0">
                <a:solidFill>
                  <a:srgbClr val="000000"/>
                </a:solidFill>
                <a:latin typeface="Arial"/>
              </a:rPr>
              <a:t>b</a:t>
            </a:r>
          </a:p>
        </p:txBody>
      </p:sp>
      <p:sp>
        <p:nvSpPr>
          <p:cNvPr id="94" name="TextBox 93"/>
          <p:cNvSpPr txBox="1"/>
          <p:nvPr/>
        </p:nvSpPr>
        <p:spPr>
          <a:xfrm>
            <a:off x="530284" y="2916106"/>
            <a:ext cx="97155" cy="163881"/>
          </a:xfrm>
          <a:prstGeom prst="rect">
            <a:avLst/>
          </a:prstGeom>
          <a:noFill/>
        </p:spPr>
        <p:txBody>
          <a:bodyPr wrap="none" anchor="ctr" lIns="0" rIns="0" tIns="0" bIns="0">
            <a:noAutofit/>
          </a:bodyPr>
          <a:lstStyle/>
          <a:p>
            <a:pPr algn="l"/>
            <a:r>
              <a:rPr sz="1100" b="1" i="0">
                <a:solidFill>
                  <a:srgbClr val="000000"/>
                </a:solidFill>
                <a:latin typeface="Arial"/>
              </a:rPr>
              <a:t>c</a:t>
            </a:r>
          </a:p>
        </p:txBody>
      </p:sp>
      <p:sp>
        <p:nvSpPr>
          <p:cNvPr id="95" name="TextBox 94"/>
          <p:cNvSpPr txBox="1"/>
          <p:nvPr/>
        </p:nvSpPr>
        <p:spPr>
          <a:xfrm>
            <a:off x="2653427" y="2916106"/>
            <a:ext cx="105727" cy="163881"/>
          </a:xfrm>
          <a:prstGeom prst="rect">
            <a:avLst/>
          </a:prstGeom>
          <a:noFill/>
        </p:spPr>
        <p:txBody>
          <a:bodyPr wrap="none" anchor="ctr" lIns="0" rIns="0" tIns="0" bIns="0">
            <a:noAutofit/>
          </a:bodyPr>
          <a:lstStyle/>
          <a:p>
            <a:pPr algn="l"/>
            <a:r>
              <a:rPr sz="1100" b="1" i="0">
                <a:solidFill>
                  <a:srgbClr val="000000"/>
                </a:solidFill>
                <a:latin typeface="Arial"/>
              </a:rPr>
              <a:t>d</a:t>
            </a:r>
          </a:p>
        </p:txBody>
      </p:sp>
      <p:sp>
        <p:nvSpPr>
          <p:cNvPr id="96" name="TextBox 95"/>
          <p:cNvSpPr txBox="1"/>
          <p:nvPr/>
        </p:nvSpPr>
        <p:spPr>
          <a:xfrm>
            <a:off x="4922284" y="2916106"/>
            <a:ext cx="97155" cy="163881"/>
          </a:xfrm>
          <a:prstGeom prst="rect">
            <a:avLst/>
          </a:prstGeom>
          <a:noFill/>
        </p:spPr>
        <p:txBody>
          <a:bodyPr wrap="none" anchor="ctr" lIns="0" rIns="0" tIns="0" bIns="0">
            <a:noAutofit/>
          </a:bodyPr>
          <a:lstStyle/>
          <a:p>
            <a:pPr algn="l"/>
            <a:r>
              <a:rPr sz="1100" b="1" i="0">
                <a:solidFill>
                  <a:srgbClr val="000000"/>
                </a:solidFill>
                <a:latin typeface="Arial"/>
              </a:rPr>
              <a:t>e</a:t>
            </a:r>
          </a:p>
        </p:txBody>
      </p:sp>
      <p:sp>
        <p:nvSpPr>
          <p:cNvPr id="97" name="TextBox 96"/>
          <p:cNvSpPr txBox="1"/>
          <p:nvPr/>
        </p:nvSpPr>
        <p:spPr>
          <a:xfrm>
            <a:off x="540000" y="5166000"/>
            <a:ext cx="6480000" cy="3364199"/>
          </a:xfrm>
          <a:prstGeom prst="rect">
            <a:avLst/>
          </a:prstGeom>
          <a:noFill/>
        </p:spPr>
        <p:txBody>
          <a:bodyPr wrap="square" lIns="0" rIns="0" tIns="0" bIns="0">
            <a:spAutoFit/>
          </a:bodyPr>
          <a:lstStyle/>
          <a:p>
            <a:pPr algn="l"/>
            <a:r>
              <a:rPr sz="800" b="1">
                <a:latin typeface="Arial"/>
              </a:rPr>
              <a:t>Supplementary Fig. S3 | Virtual perturbational sensitivity analysis: parameter stability at the group level and response validation across task context. </a:t>
            </a:r>
            <a:r>
              <a:rPr sz="800" b="0">
                <a:latin typeface="Arial"/>
              </a:rPr>
              <a:t>The two halves of the figure ask whether the virtual perturbation result depends on how the perturbation was set up. a-c test the CONDUCTANCE at which each receptor knob is driven, at the group level in all n = 288 twins: every knob was re-run at a weaker and a stronger setting around the value used in the main analysis (AMPA 0.0040 / 0.0044 / 0.0048, GABA-A 0.0035 / 0.0040 / 0.0045 S cm-2), giving six settings per twin. d-e test the TASK CONTEXT at the individual level, in three twins calibrated at the 100-million-neuron scale and perturbed at the main-analysis conductances (AMPA 0.0044, GABA-A 0.0040 S cm-2): the same twins are shown in the emotional face task, which the model was not tuned on, and on the 12-edge NP profile of the reward and inhibition tasks. HC02 is excluded from d-e for the same reason as in the model sweeps. </a:t>
            </a:r>
            <a:r>
              <a:rPr sz="800" b="1">
                <a:latin typeface="Arial"/>
              </a:rPr>
              <a:t>a,</a:t>
            </a:r>
            <a:r>
              <a:rPr sz="800" b="0">
                <a:latin typeface="Arial"/>
              </a:rPr>
              <a:t> group mean change in NP at each setting, bars with 95% confidence intervals and Cohen's d above each bar. AMPA: 0.0040 S cm-2 (weaker) +1.54 (95% CI +1.30 to +1.78, d = 0.73, P = 1.4e-28, 85.4% of twins in the same direction); 0.0044 S cm-2 (original) +0.78 (95% CI +0.67 to +0.88, d = 0.83, P = 8.4e-35, 81.2% of twins in the same direction); 0.0048 S cm-2 (stronger) +1.36 (95% CI +1.10 to +1.62, d = 0.61, P = 1.2e-21, 75.3% of twins in the same direction). GABA-A: 0.0035 S cm-2 (weaker) +3.17 (95% CI +2.92 to +3.42, d = 1.47, P = 8.1e-74, 96.2% of twins in the same direction); 0.0040 S cm-2 (original) +2.74 (95% CI +2.54 to +2.93, d = 1.60, P = 4.0e-81, 97.9% of twins in the same direction); 0.0045 S cm-2 (stronger) +2.78 (95% CI +2.53 to +3.03, d = 1.29, P = 3.7e-63, 94.1% of twins in the same direction). Every setting of both knobs raises NP. In both sweeps the setting used in the main text gives the SMALLEST raw mean change and at the same time the LARGEST standardised effect (AMPA d = 0.83 against 0.73 and 0.61; GABA-A d = 1.60 against 1.47 and 1.29), because the weaker and stronger settings spread the twins more: the main-text choice is therefore the conservative one on the raw scale, not the one that maximises the reported difference. </a:t>
            </a:r>
            <a:r>
              <a:rPr sz="800" b="1">
                <a:latin typeface="Arial"/>
              </a:rPr>
              <a:t>b,</a:t>
            </a:r>
            <a:r>
              <a:rPr sz="800" b="0">
                <a:latin typeface="Arial"/>
              </a:rPr>
              <a:t> the same six settings resolved by diagnostic group, as the percentage of twins whose NP increased, with the chi-squared P for a difference between groups above each setting (2 d.f.). Under AMPA the patient group responds most often at all three settings (93.1%, 91.5% and 87.7%, against 78.3%, 75.4% and 69.6% in healthy controls; P = 0.00364, P = 0.0002 and P = 3.2e-05), whereas under GABA-A almost every twin responds and the groups are indistinguishable (96.2%, 97.9% and 94.1% overall; P = 0.437, P = 0.719 and P = 0.504). </a:t>
            </a:r>
            <a:r>
              <a:rPr sz="800" b="1">
                <a:latin typeface="Arial"/>
              </a:rPr>
              <a:t>c,</a:t>
            </a:r>
            <a:r>
              <a:rPr sz="800" b="0">
                <a:latin typeface="Arial"/>
              </a:rPr>
              <a:t> the number of the six settings under which each twin's NP increased: 185 of 288 twins (64.2%) increased under all six, so the direction of a twin's response is a property of the twin rather than of the setting. Across settings the twin-wise changes correlate r = 0.39-0.55 within the AMPA sweep and r = 0.69-0.90 within the GABA-A sweep, against r = -0.05-0.31 between knobs, so the two knobs remain distinct manipulations. </a:t>
            </a:r>
            <a:r>
              <a:rPr sz="800" b="1">
                <a:latin typeface="Arial"/>
              </a:rPr>
              <a:t>d,</a:t>
            </a:r>
            <a:r>
              <a:rPr sz="800" b="0">
                <a:latin typeface="Arial"/>
              </a:rPr>
              <a:t> the three 100 M twins in the emotional face task, baseline against the perturbed state, one line per twin: AMPA 2 up / 1 down (HC01 -0.66, MDD +1.07, AUD +0.86); GABA-A 3 up / 0 down (HC01 +1.97, MDD +0.63, AUD +0.86). </a:t>
            </a:r>
            <a:r>
              <a:rPr sz="800" b="1">
                <a:latin typeface="Arial"/>
              </a:rPr>
              <a:t>e,</a:t>
            </a:r>
            <a:r>
              <a:rPr sz="800" b="0">
                <a:latin typeface="Arial"/>
              </a:rPr>
              <a:t> the same twins on the reward / inhibition NP profile used in the main analysis: AMPA 2 up / 1 down (MDD +1.15, AUD +1.44, HC01 -0.59); GABA-A 2 up / 1 down (MDD +0.23, AUD +1.12, HC01 -0.34). </a:t>
            </a:r>
            <a:r>
              <a:rPr sz="800" b="0">
                <a:latin typeface="Arial"/>
              </a:rPr>
              <a:t>The two halves support different claims and should be read as such: a-c establish that the group-level result is not an artefact of the conductance chosen, in the full sample; d-e show that an individual twin's response is bidirectional and reproduces in a task the model was not calibrated on, in three twins only - a validation of individual response, not a population estimate. No multiple-comparison correction is applied and all tests are two-sided. Source values are in conductance_grid_summary_n288.csv, conductance_responder_by_group_n288.csv, conductance_subject_level_n288.csv, conductance_across_setting_correlations.csv, eft_3subs.csv and np_task_3subs.csv.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