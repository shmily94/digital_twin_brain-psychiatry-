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depnet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4239" y="796110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7939" y="2180775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7665" y="2180933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97674" y="1366698"/>
            <a:ext cx="167735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Depression-network 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443" y="222576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443" y="195422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019" y="168268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019" y="141114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019" y="113960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019" y="86806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297" y="596524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910" y="635959"/>
            <a:ext cx="58864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4045" y="796110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45" y="2180775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7472" y="2180933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5833" y="222690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5833" y="198995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4409" y="175301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4409" y="151606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4409" y="127912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4409" y="104217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4409" y="80523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2687" y="56828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9423" y="634420"/>
            <a:ext cx="121158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Simulated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9561" y="796110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7551" y="2180775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7278" y="2180933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5639" y="220607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5639" y="194149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4215" y="167690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4215" y="141231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4215" y="114772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4215" y="88314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4215" y="61855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37655" y="635959"/>
            <a:ext cx="727323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After AMPA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0804" y="796110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7357" y="2180775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7084" y="2180933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5445" y="217636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4021" y="18387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44021" y="15012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2299" y="116366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2299" y="82609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82299" y="48853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2182" y="634420"/>
            <a:ext cx="8801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After GABA-A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1258916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E10</a:t>
            </a:r>
          </a:p>
        </p:txBody>
      </p:sp>
      <p:sp>
        <p:nvSpPr>
          <p:cNvPr id="49" name="TextBox 48"/>
          <p:cNvSpPr txBox="1"/>
          <p:nvPr/>
        </p:nvSpPr>
        <p:spPr>
          <a:xfrm rot="16200000">
            <a:off x="1470567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E13</a:t>
            </a:r>
          </a:p>
        </p:txBody>
      </p:sp>
      <p:sp>
        <p:nvSpPr>
          <p:cNvPr id="50" name="TextBox 49"/>
          <p:cNvSpPr txBox="1"/>
          <p:nvPr/>
        </p:nvSpPr>
        <p:spPr>
          <a:xfrm rot="16200000">
            <a:off x="1682217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E12</a:t>
            </a:r>
          </a:p>
        </p:txBody>
      </p:sp>
      <p:sp>
        <p:nvSpPr>
          <p:cNvPr id="51" name="TextBox 50"/>
          <p:cNvSpPr txBox="1"/>
          <p:nvPr/>
        </p:nvSpPr>
        <p:spPr>
          <a:xfrm rot="16200000">
            <a:off x="1928158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E3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2110229" y="4001560"/>
            <a:ext cx="210606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E11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2351459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E6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2528819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E20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2740470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E26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2952121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E21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3198061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3375422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E24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3621362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E7</a:t>
            </a:r>
          </a:p>
        </p:txBody>
      </p:sp>
      <p:sp>
        <p:nvSpPr>
          <p:cNvPr id="60" name="TextBox 59"/>
          <p:cNvSpPr txBox="1"/>
          <p:nvPr/>
        </p:nvSpPr>
        <p:spPr>
          <a:xfrm rot="16200000">
            <a:off x="3798723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E15</a:t>
            </a:r>
          </a:p>
        </p:txBody>
      </p:sp>
      <p:sp>
        <p:nvSpPr>
          <p:cNvPr id="61" name="TextBox 60"/>
          <p:cNvSpPr txBox="1"/>
          <p:nvPr/>
        </p:nvSpPr>
        <p:spPr>
          <a:xfrm rot="16200000">
            <a:off x="4044663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E9</a:t>
            </a:r>
          </a:p>
        </p:txBody>
      </p:sp>
      <p:sp>
        <p:nvSpPr>
          <p:cNvPr id="62" name="TextBox 61"/>
          <p:cNvSpPr txBox="1"/>
          <p:nvPr/>
        </p:nvSpPr>
        <p:spPr>
          <a:xfrm rot="16200000">
            <a:off x="4256314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E5</a:t>
            </a:r>
          </a:p>
        </p:txBody>
      </p:sp>
      <p:sp>
        <p:nvSpPr>
          <p:cNvPr id="63" name="TextBox 62"/>
          <p:cNvSpPr txBox="1"/>
          <p:nvPr/>
        </p:nvSpPr>
        <p:spPr>
          <a:xfrm rot="16200000">
            <a:off x="4467964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E8</a:t>
            </a:r>
          </a:p>
        </p:txBody>
      </p:sp>
      <p:sp>
        <p:nvSpPr>
          <p:cNvPr id="64" name="TextBox 63"/>
          <p:cNvSpPr txBox="1"/>
          <p:nvPr/>
        </p:nvSpPr>
        <p:spPr>
          <a:xfrm rot="16200000">
            <a:off x="4679615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4856975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E22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5068626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E23</a:t>
            </a:r>
          </a:p>
        </p:txBody>
      </p:sp>
      <p:sp>
        <p:nvSpPr>
          <p:cNvPr id="67" name="TextBox 66"/>
          <p:cNvSpPr txBox="1"/>
          <p:nvPr/>
        </p:nvSpPr>
        <p:spPr>
          <a:xfrm rot="16200000">
            <a:off x="5280277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E25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5526217" y="3977896"/>
            <a:ext cx="151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E4</a:t>
            </a:r>
          </a:p>
        </p:txBody>
      </p:sp>
      <p:sp>
        <p:nvSpPr>
          <p:cNvPr id="69" name="TextBox 68"/>
          <p:cNvSpPr txBox="1"/>
          <p:nvPr/>
        </p:nvSpPr>
        <p:spPr>
          <a:xfrm rot="16200000">
            <a:off x="5703578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E14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5915228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E19</a:t>
            </a:r>
          </a:p>
        </p:txBody>
      </p:sp>
      <p:sp>
        <p:nvSpPr>
          <p:cNvPr id="71" name="TextBox 70"/>
          <p:cNvSpPr txBox="1"/>
          <p:nvPr/>
        </p:nvSpPr>
        <p:spPr>
          <a:xfrm rot="16200000">
            <a:off x="6126879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E27</a:t>
            </a:r>
          </a:p>
        </p:txBody>
      </p:sp>
      <p:sp>
        <p:nvSpPr>
          <p:cNvPr id="72" name="TextBox 71"/>
          <p:cNvSpPr txBox="1"/>
          <p:nvPr/>
        </p:nvSpPr>
        <p:spPr>
          <a:xfrm rot="16200000">
            <a:off x="6338529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E17</a:t>
            </a:r>
          </a:p>
        </p:txBody>
      </p:sp>
      <p:sp>
        <p:nvSpPr>
          <p:cNvPr id="73" name="TextBox 72"/>
          <p:cNvSpPr txBox="1"/>
          <p:nvPr/>
        </p:nvSpPr>
        <p:spPr>
          <a:xfrm rot="16200000">
            <a:off x="6550180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E16</a:t>
            </a:r>
          </a:p>
        </p:txBody>
      </p:sp>
      <p:sp>
        <p:nvSpPr>
          <p:cNvPr id="74" name="TextBox 73"/>
          <p:cNvSpPr txBox="1"/>
          <p:nvPr/>
        </p:nvSpPr>
        <p:spPr>
          <a:xfrm rot="16200000">
            <a:off x="6761830" y="4005328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E18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129960" y="3189399"/>
            <a:ext cx="1385887" cy="35532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Adjusted Cohen's d
(HC − MDD)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3443" y="3979149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2019" y="374253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2019" y="350592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2019" y="326930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2019" y="303269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2019" y="279608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2019" y="255946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96511" y="2836341"/>
            <a:ext cx="52863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 &lt; 0.05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69179" y="2837881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02867" y="4966588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5004" y="5100861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72850" y="5733029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86423" y="4749694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25702" y="6315469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9265" y="6299743"/>
            <a:ext cx="55435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Simulated
baseline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16124" y="6299743"/>
            <a:ext cx="344909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After
AMPA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04972" y="6299743"/>
            <a:ext cx="47148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After
GABA-A</a:t>
            </a:r>
          </a:p>
        </p:txBody>
      </p:sp>
      <p:sp>
        <p:nvSpPr>
          <p:cNvPr id="93" name="TextBox 92"/>
          <p:cNvSpPr txBox="1"/>
          <p:nvPr/>
        </p:nvSpPr>
        <p:spPr>
          <a:xfrm rot="16200000">
            <a:off x="-353420" y="5390254"/>
            <a:ext cx="2188845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Adjusted HC − MDD difference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0906" y="633100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9483" y="604981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483" y="576862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9483" y="548743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9483" y="520624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9483" y="492505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483" y="464386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9483" y="43626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77973" y="5971075"/>
            <a:ext cx="58864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73115" y="6112462"/>
            <a:ext cx="637222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16437" y="4816230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10356" y="4631792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91048" y="6228951"/>
            <a:ext cx="60864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4797" y="6228951"/>
            <a:ext cx="53399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+AMPA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39602" y="6228793"/>
            <a:ext cx="69723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+GABA-A</a:t>
            </a:r>
          </a:p>
        </p:txBody>
      </p:sp>
      <p:sp>
        <p:nvSpPr>
          <p:cNvPr id="109" name="TextBox 108"/>
          <p:cNvSpPr txBox="1"/>
          <p:nvPr/>
        </p:nvSpPr>
        <p:spPr>
          <a:xfrm rot="16200000">
            <a:off x="3685109" y="5306716"/>
            <a:ext cx="167735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Depression-network FC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18842" y="622667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57418" y="588131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657418" y="553596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95696" y="519060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95696" y="484525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95696" y="449990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0284" y="468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9427" y="262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0284" y="4410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12211" y="4410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