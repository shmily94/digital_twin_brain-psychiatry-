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igS_depnet_A4_bg.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1684239" y="796110"/>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4" name="TextBox 3"/>
          <p:cNvSpPr txBox="1"/>
          <p:nvPr/>
        </p:nvSpPr>
        <p:spPr>
          <a:xfrm>
            <a:off x="1367939" y="2180775"/>
            <a:ext cx="228600" cy="150566"/>
          </a:xfrm>
          <a:prstGeom prst="rect">
            <a:avLst/>
          </a:prstGeom>
          <a:noFill/>
        </p:spPr>
        <p:txBody>
          <a:bodyPr wrap="none" anchor="ctr" lIns="0" rIns="0" tIns="0" bIns="0">
            <a:noAutofit/>
          </a:bodyPr>
          <a:lstStyle/>
          <a:p>
            <a:pPr algn="ctr"/>
            <a:r>
              <a:rPr sz="1000" b="0" i="0">
                <a:solidFill>
                  <a:srgbClr val="000000"/>
                </a:solidFill>
                <a:latin typeface="Arial"/>
              </a:rPr>
              <a:t>HC</a:t>
            </a:r>
          </a:p>
        </p:txBody>
      </p:sp>
      <p:sp>
        <p:nvSpPr>
          <p:cNvPr id="5" name="TextBox 4"/>
          <p:cNvSpPr txBox="1"/>
          <p:nvPr/>
        </p:nvSpPr>
        <p:spPr>
          <a:xfrm>
            <a:off x="1867665" y="2180933"/>
            <a:ext cx="362902" cy="148983"/>
          </a:xfrm>
          <a:prstGeom prst="rect">
            <a:avLst/>
          </a:prstGeom>
          <a:noFill/>
        </p:spPr>
        <p:txBody>
          <a:bodyPr wrap="none" anchor="ctr" lIns="0" rIns="0" tIns="0" bIns="0">
            <a:noAutofit/>
          </a:bodyPr>
          <a:lstStyle/>
          <a:p>
            <a:pPr algn="ctr"/>
            <a:r>
              <a:rPr sz="1000" b="0" i="0">
                <a:solidFill>
                  <a:srgbClr val="000000"/>
                </a:solidFill>
                <a:latin typeface="Arial"/>
              </a:rPr>
              <a:t>MDD</a:t>
            </a:r>
          </a:p>
        </p:txBody>
      </p:sp>
      <p:sp>
        <p:nvSpPr>
          <p:cNvPr id="6" name="TextBox 5"/>
          <p:cNvSpPr txBox="1"/>
          <p:nvPr/>
        </p:nvSpPr>
        <p:spPr>
          <a:xfrm rot="16200000">
            <a:off x="-97674" y="1366698"/>
            <a:ext cx="1677352" cy="150566"/>
          </a:xfrm>
          <a:prstGeom prst="rect">
            <a:avLst/>
          </a:prstGeom>
          <a:noFill/>
        </p:spPr>
        <p:txBody>
          <a:bodyPr wrap="none" anchor="ctr" lIns="0" rIns="0" tIns="0" bIns="0">
            <a:noAutofit/>
          </a:bodyPr>
          <a:lstStyle/>
          <a:p>
            <a:pPr algn="ctr"/>
            <a:r>
              <a:rPr sz="1000" b="0" i="0">
                <a:solidFill>
                  <a:srgbClr val="000000"/>
                </a:solidFill>
                <a:latin typeface="Arial"/>
              </a:rPr>
              <a:t>Depression-network FC</a:t>
            </a:r>
          </a:p>
        </p:txBody>
      </p:sp>
      <p:sp>
        <p:nvSpPr>
          <p:cNvPr id="7" name="TextBox 6"/>
          <p:cNvSpPr txBox="1"/>
          <p:nvPr/>
        </p:nvSpPr>
        <p:spPr>
          <a:xfrm>
            <a:off x="893443" y="2225761"/>
            <a:ext cx="214312" cy="119186"/>
          </a:xfrm>
          <a:prstGeom prst="rect">
            <a:avLst/>
          </a:prstGeom>
          <a:noFill/>
        </p:spPr>
        <p:txBody>
          <a:bodyPr wrap="none" anchor="ctr" lIns="0" rIns="0" tIns="0" bIns="0">
            <a:noAutofit/>
          </a:bodyPr>
          <a:lstStyle/>
          <a:p>
            <a:pPr algn="r"/>
            <a:r>
              <a:rPr sz="800" b="0" i="0">
                <a:solidFill>
                  <a:srgbClr val="000000"/>
                </a:solidFill>
                <a:latin typeface="Arial"/>
              </a:rPr>
              <a:t>-5.0</a:t>
            </a:r>
          </a:p>
        </p:txBody>
      </p:sp>
      <p:sp>
        <p:nvSpPr>
          <p:cNvPr id="8" name="TextBox 7"/>
          <p:cNvSpPr txBox="1"/>
          <p:nvPr/>
        </p:nvSpPr>
        <p:spPr>
          <a:xfrm>
            <a:off x="893443" y="1954221"/>
            <a:ext cx="214312" cy="119186"/>
          </a:xfrm>
          <a:prstGeom prst="rect">
            <a:avLst/>
          </a:prstGeom>
          <a:noFill/>
        </p:spPr>
        <p:txBody>
          <a:bodyPr wrap="none" anchor="ctr" lIns="0" rIns="0" tIns="0" bIns="0">
            <a:noAutofit/>
          </a:bodyPr>
          <a:lstStyle/>
          <a:p>
            <a:pPr algn="r"/>
            <a:r>
              <a:rPr sz="800" b="0" i="0">
                <a:solidFill>
                  <a:srgbClr val="000000"/>
                </a:solidFill>
                <a:latin typeface="Arial"/>
              </a:rPr>
              <a:t>-2.5</a:t>
            </a:r>
          </a:p>
        </p:txBody>
      </p:sp>
      <p:sp>
        <p:nvSpPr>
          <p:cNvPr id="9" name="TextBox 8"/>
          <p:cNvSpPr txBox="1"/>
          <p:nvPr/>
        </p:nvSpPr>
        <p:spPr>
          <a:xfrm>
            <a:off x="932019" y="1682682"/>
            <a:ext cx="171450" cy="119186"/>
          </a:xfrm>
          <a:prstGeom prst="rect">
            <a:avLst/>
          </a:prstGeom>
          <a:noFill/>
        </p:spPr>
        <p:txBody>
          <a:bodyPr wrap="none" anchor="ctr" lIns="0" rIns="0" tIns="0" bIns="0">
            <a:noAutofit/>
          </a:bodyPr>
          <a:lstStyle/>
          <a:p>
            <a:pPr algn="r"/>
            <a:r>
              <a:rPr sz="800" b="0" i="0">
                <a:solidFill>
                  <a:srgbClr val="000000"/>
                </a:solidFill>
                <a:latin typeface="Arial"/>
              </a:rPr>
              <a:t>0.0</a:t>
            </a:r>
          </a:p>
        </p:txBody>
      </p:sp>
      <p:sp>
        <p:nvSpPr>
          <p:cNvPr id="10" name="TextBox 9"/>
          <p:cNvSpPr txBox="1"/>
          <p:nvPr/>
        </p:nvSpPr>
        <p:spPr>
          <a:xfrm>
            <a:off x="932019" y="1411142"/>
            <a:ext cx="171450" cy="119186"/>
          </a:xfrm>
          <a:prstGeom prst="rect">
            <a:avLst/>
          </a:prstGeom>
          <a:noFill/>
        </p:spPr>
        <p:txBody>
          <a:bodyPr wrap="none" anchor="ctr" lIns="0" rIns="0" tIns="0" bIns="0">
            <a:noAutofit/>
          </a:bodyPr>
          <a:lstStyle/>
          <a:p>
            <a:pPr algn="r"/>
            <a:r>
              <a:rPr sz="800" b="0" i="0">
                <a:solidFill>
                  <a:srgbClr val="000000"/>
                </a:solidFill>
                <a:latin typeface="Arial"/>
              </a:rPr>
              <a:t>2.5</a:t>
            </a:r>
          </a:p>
        </p:txBody>
      </p:sp>
      <p:sp>
        <p:nvSpPr>
          <p:cNvPr id="11" name="TextBox 10"/>
          <p:cNvSpPr txBox="1"/>
          <p:nvPr/>
        </p:nvSpPr>
        <p:spPr>
          <a:xfrm>
            <a:off x="932019" y="1139603"/>
            <a:ext cx="171450" cy="119186"/>
          </a:xfrm>
          <a:prstGeom prst="rect">
            <a:avLst/>
          </a:prstGeom>
          <a:noFill/>
        </p:spPr>
        <p:txBody>
          <a:bodyPr wrap="none" anchor="ctr" lIns="0" rIns="0" tIns="0" bIns="0">
            <a:noAutofit/>
          </a:bodyPr>
          <a:lstStyle/>
          <a:p>
            <a:pPr algn="r"/>
            <a:r>
              <a:rPr sz="800" b="0" i="0">
                <a:solidFill>
                  <a:srgbClr val="000000"/>
                </a:solidFill>
                <a:latin typeface="Arial"/>
              </a:rPr>
              <a:t>5.0</a:t>
            </a:r>
          </a:p>
        </p:txBody>
      </p:sp>
      <p:sp>
        <p:nvSpPr>
          <p:cNvPr id="12" name="TextBox 11"/>
          <p:cNvSpPr txBox="1"/>
          <p:nvPr/>
        </p:nvSpPr>
        <p:spPr>
          <a:xfrm>
            <a:off x="932019" y="868063"/>
            <a:ext cx="171450" cy="119186"/>
          </a:xfrm>
          <a:prstGeom prst="rect">
            <a:avLst/>
          </a:prstGeom>
          <a:noFill/>
        </p:spPr>
        <p:txBody>
          <a:bodyPr wrap="none" anchor="ctr" lIns="0" rIns="0" tIns="0" bIns="0">
            <a:noAutofit/>
          </a:bodyPr>
          <a:lstStyle/>
          <a:p>
            <a:pPr algn="r"/>
            <a:r>
              <a:rPr sz="800" b="0" i="0">
                <a:solidFill>
                  <a:srgbClr val="000000"/>
                </a:solidFill>
                <a:latin typeface="Arial"/>
              </a:rPr>
              <a:t>7.5</a:t>
            </a:r>
          </a:p>
        </p:txBody>
      </p:sp>
      <p:sp>
        <p:nvSpPr>
          <p:cNvPr id="13" name="TextBox 12"/>
          <p:cNvSpPr txBox="1"/>
          <p:nvPr/>
        </p:nvSpPr>
        <p:spPr>
          <a:xfrm>
            <a:off x="870297" y="596524"/>
            <a:ext cx="240030" cy="119186"/>
          </a:xfrm>
          <a:prstGeom prst="rect">
            <a:avLst/>
          </a:prstGeom>
          <a:noFill/>
        </p:spPr>
        <p:txBody>
          <a:bodyPr wrap="none" anchor="ctr" lIns="0" rIns="0" tIns="0" bIns="0">
            <a:noAutofit/>
          </a:bodyPr>
          <a:lstStyle/>
          <a:p>
            <a:pPr algn="r"/>
            <a:r>
              <a:rPr sz="800" b="0" i="0">
                <a:solidFill>
                  <a:srgbClr val="000000"/>
                </a:solidFill>
                <a:latin typeface="Arial"/>
              </a:rPr>
              <a:t>10.0</a:t>
            </a:r>
          </a:p>
        </p:txBody>
      </p:sp>
      <p:sp>
        <p:nvSpPr>
          <p:cNvPr id="14" name="TextBox 13"/>
          <p:cNvSpPr txBox="1"/>
          <p:nvPr/>
        </p:nvSpPr>
        <p:spPr>
          <a:xfrm>
            <a:off x="1071910" y="635959"/>
            <a:ext cx="588645" cy="134084"/>
          </a:xfrm>
          <a:prstGeom prst="rect">
            <a:avLst/>
          </a:prstGeom>
          <a:noFill/>
        </p:spPr>
        <p:txBody>
          <a:bodyPr wrap="none" anchor="ctr" lIns="0" rIns="0" tIns="0" bIns="0">
            <a:noAutofit/>
          </a:bodyPr>
          <a:lstStyle/>
          <a:p>
            <a:pPr algn="l"/>
            <a:r>
              <a:rPr sz="900" b="0" i="0">
                <a:solidFill>
                  <a:srgbClr val="000000"/>
                </a:solidFill>
                <a:latin typeface="Arial"/>
              </a:rPr>
              <a:t>Empirical</a:t>
            </a:r>
          </a:p>
        </p:txBody>
      </p:sp>
      <p:sp>
        <p:nvSpPr>
          <p:cNvPr id="15" name="TextBox 14"/>
          <p:cNvSpPr txBox="1"/>
          <p:nvPr/>
        </p:nvSpPr>
        <p:spPr>
          <a:xfrm>
            <a:off x="3224045" y="796110"/>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16" name="TextBox 15"/>
          <p:cNvSpPr txBox="1"/>
          <p:nvPr/>
        </p:nvSpPr>
        <p:spPr>
          <a:xfrm>
            <a:off x="2907745" y="2180775"/>
            <a:ext cx="228600" cy="150566"/>
          </a:xfrm>
          <a:prstGeom prst="rect">
            <a:avLst/>
          </a:prstGeom>
          <a:noFill/>
        </p:spPr>
        <p:txBody>
          <a:bodyPr wrap="none" anchor="ctr" lIns="0" rIns="0" tIns="0" bIns="0">
            <a:noAutofit/>
          </a:bodyPr>
          <a:lstStyle/>
          <a:p>
            <a:pPr algn="ctr"/>
            <a:r>
              <a:rPr sz="1000" b="0" i="0">
                <a:solidFill>
                  <a:srgbClr val="000000"/>
                </a:solidFill>
                <a:latin typeface="Arial"/>
              </a:rPr>
              <a:t>HC</a:t>
            </a:r>
          </a:p>
        </p:txBody>
      </p:sp>
      <p:sp>
        <p:nvSpPr>
          <p:cNvPr id="17" name="TextBox 16"/>
          <p:cNvSpPr txBox="1"/>
          <p:nvPr/>
        </p:nvSpPr>
        <p:spPr>
          <a:xfrm>
            <a:off x="3407472" y="2180933"/>
            <a:ext cx="362902" cy="148983"/>
          </a:xfrm>
          <a:prstGeom prst="rect">
            <a:avLst/>
          </a:prstGeom>
          <a:noFill/>
        </p:spPr>
        <p:txBody>
          <a:bodyPr wrap="none" anchor="ctr" lIns="0" rIns="0" tIns="0" bIns="0">
            <a:noAutofit/>
          </a:bodyPr>
          <a:lstStyle/>
          <a:p>
            <a:pPr algn="ctr"/>
            <a:r>
              <a:rPr sz="1000" b="0" i="0">
                <a:solidFill>
                  <a:srgbClr val="000000"/>
                </a:solidFill>
                <a:latin typeface="Arial"/>
              </a:rPr>
              <a:t>MDD</a:t>
            </a:r>
          </a:p>
        </p:txBody>
      </p:sp>
      <p:sp>
        <p:nvSpPr>
          <p:cNvPr id="18" name="TextBox 17"/>
          <p:cNvSpPr txBox="1"/>
          <p:nvPr/>
        </p:nvSpPr>
        <p:spPr>
          <a:xfrm>
            <a:off x="2525833" y="2226903"/>
            <a:ext cx="111442"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19" name="TextBox 18"/>
          <p:cNvSpPr txBox="1"/>
          <p:nvPr/>
        </p:nvSpPr>
        <p:spPr>
          <a:xfrm>
            <a:off x="2525833" y="1989958"/>
            <a:ext cx="111442"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20" name="TextBox 19"/>
          <p:cNvSpPr txBox="1"/>
          <p:nvPr/>
        </p:nvSpPr>
        <p:spPr>
          <a:xfrm>
            <a:off x="2564409" y="1753013"/>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21" name="TextBox 20"/>
          <p:cNvSpPr txBox="1"/>
          <p:nvPr/>
        </p:nvSpPr>
        <p:spPr>
          <a:xfrm>
            <a:off x="2564409" y="1516069"/>
            <a:ext cx="68580"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22" name="TextBox 21"/>
          <p:cNvSpPr txBox="1"/>
          <p:nvPr/>
        </p:nvSpPr>
        <p:spPr>
          <a:xfrm>
            <a:off x="2564409" y="1279124"/>
            <a:ext cx="68580"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23" name="TextBox 22"/>
          <p:cNvSpPr txBox="1"/>
          <p:nvPr/>
        </p:nvSpPr>
        <p:spPr>
          <a:xfrm>
            <a:off x="2564409" y="1042179"/>
            <a:ext cx="68580" cy="119186"/>
          </a:xfrm>
          <a:prstGeom prst="rect">
            <a:avLst/>
          </a:prstGeom>
          <a:noFill/>
        </p:spPr>
        <p:txBody>
          <a:bodyPr wrap="none" anchor="ctr" lIns="0" rIns="0" tIns="0" bIns="0">
            <a:noAutofit/>
          </a:bodyPr>
          <a:lstStyle/>
          <a:p>
            <a:pPr algn="r"/>
            <a:r>
              <a:rPr sz="800" b="0" i="0">
                <a:solidFill>
                  <a:srgbClr val="000000"/>
                </a:solidFill>
                <a:latin typeface="Arial"/>
              </a:rPr>
              <a:t>6</a:t>
            </a:r>
          </a:p>
        </p:txBody>
      </p:sp>
      <p:sp>
        <p:nvSpPr>
          <p:cNvPr id="24" name="TextBox 23"/>
          <p:cNvSpPr txBox="1"/>
          <p:nvPr/>
        </p:nvSpPr>
        <p:spPr>
          <a:xfrm>
            <a:off x="2564409" y="805234"/>
            <a:ext cx="68580" cy="119186"/>
          </a:xfrm>
          <a:prstGeom prst="rect">
            <a:avLst/>
          </a:prstGeom>
          <a:noFill/>
        </p:spPr>
        <p:txBody>
          <a:bodyPr wrap="none" anchor="ctr" lIns="0" rIns="0" tIns="0" bIns="0">
            <a:noAutofit/>
          </a:bodyPr>
          <a:lstStyle/>
          <a:p>
            <a:pPr algn="r"/>
            <a:r>
              <a:rPr sz="800" b="0" i="0">
                <a:solidFill>
                  <a:srgbClr val="000000"/>
                </a:solidFill>
                <a:latin typeface="Arial"/>
              </a:rPr>
              <a:t>8</a:t>
            </a:r>
          </a:p>
        </p:txBody>
      </p:sp>
      <p:sp>
        <p:nvSpPr>
          <p:cNvPr id="25" name="TextBox 24"/>
          <p:cNvSpPr txBox="1"/>
          <p:nvPr/>
        </p:nvSpPr>
        <p:spPr>
          <a:xfrm>
            <a:off x="2502687" y="568289"/>
            <a:ext cx="137160"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26" name="TextBox 25"/>
          <p:cNvSpPr txBox="1"/>
          <p:nvPr/>
        </p:nvSpPr>
        <p:spPr>
          <a:xfrm>
            <a:off x="2549423" y="634420"/>
            <a:ext cx="1211580" cy="135795"/>
          </a:xfrm>
          <a:prstGeom prst="rect">
            <a:avLst/>
          </a:prstGeom>
          <a:noFill/>
        </p:spPr>
        <p:txBody>
          <a:bodyPr wrap="none" anchor="ctr" lIns="0" rIns="0" tIns="0" bIns="0">
            <a:noAutofit/>
          </a:bodyPr>
          <a:lstStyle/>
          <a:p>
            <a:pPr algn="l"/>
            <a:r>
              <a:rPr sz="900" b="0" i="0">
                <a:solidFill>
                  <a:srgbClr val="000000"/>
                </a:solidFill>
                <a:latin typeface="Arial"/>
              </a:rPr>
              <a:t>Simulated baseline</a:t>
            </a:r>
          </a:p>
        </p:txBody>
      </p:sp>
      <p:sp>
        <p:nvSpPr>
          <p:cNvPr id="27" name="TextBox 26"/>
          <p:cNvSpPr txBox="1"/>
          <p:nvPr/>
        </p:nvSpPr>
        <p:spPr>
          <a:xfrm>
            <a:off x="4729561" y="796110"/>
            <a:ext cx="231457" cy="134084"/>
          </a:xfrm>
          <a:prstGeom prst="rect">
            <a:avLst/>
          </a:prstGeom>
          <a:noFill/>
        </p:spPr>
        <p:txBody>
          <a:bodyPr wrap="none" anchor="ctr" lIns="0" rIns="0" tIns="0" bIns="0">
            <a:noAutofit/>
          </a:bodyPr>
          <a:lstStyle/>
          <a:p>
            <a:pPr algn="ctr"/>
            <a:r>
              <a:rPr sz="900" b="0" i="0">
                <a:solidFill>
                  <a:srgbClr val="000000"/>
                </a:solidFill>
                <a:latin typeface="Arial"/>
              </a:rPr>
              <a:t>n.s.</a:t>
            </a:r>
          </a:p>
        </p:txBody>
      </p:sp>
      <p:sp>
        <p:nvSpPr>
          <p:cNvPr id="28" name="TextBox 27"/>
          <p:cNvSpPr txBox="1"/>
          <p:nvPr/>
        </p:nvSpPr>
        <p:spPr>
          <a:xfrm>
            <a:off x="4447551" y="2180775"/>
            <a:ext cx="228600" cy="150566"/>
          </a:xfrm>
          <a:prstGeom prst="rect">
            <a:avLst/>
          </a:prstGeom>
          <a:noFill/>
        </p:spPr>
        <p:txBody>
          <a:bodyPr wrap="none" anchor="ctr" lIns="0" rIns="0" tIns="0" bIns="0">
            <a:noAutofit/>
          </a:bodyPr>
          <a:lstStyle/>
          <a:p>
            <a:pPr algn="ctr"/>
            <a:r>
              <a:rPr sz="1000" b="0" i="0">
                <a:solidFill>
                  <a:srgbClr val="000000"/>
                </a:solidFill>
                <a:latin typeface="Arial"/>
              </a:rPr>
              <a:t>HC</a:t>
            </a:r>
          </a:p>
        </p:txBody>
      </p:sp>
      <p:sp>
        <p:nvSpPr>
          <p:cNvPr id="29" name="TextBox 28"/>
          <p:cNvSpPr txBox="1"/>
          <p:nvPr/>
        </p:nvSpPr>
        <p:spPr>
          <a:xfrm>
            <a:off x="4947278" y="2180933"/>
            <a:ext cx="362902" cy="148983"/>
          </a:xfrm>
          <a:prstGeom prst="rect">
            <a:avLst/>
          </a:prstGeom>
          <a:noFill/>
        </p:spPr>
        <p:txBody>
          <a:bodyPr wrap="none" anchor="ctr" lIns="0" rIns="0" tIns="0" bIns="0">
            <a:noAutofit/>
          </a:bodyPr>
          <a:lstStyle/>
          <a:p>
            <a:pPr algn="ctr"/>
            <a:r>
              <a:rPr sz="1000" b="0" i="0">
                <a:solidFill>
                  <a:srgbClr val="000000"/>
                </a:solidFill>
                <a:latin typeface="Arial"/>
              </a:rPr>
              <a:t>MDD</a:t>
            </a:r>
          </a:p>
        </p:txBody>
      </p:sp>
      <p:sp>
        <p:nvSpPr>
          <p:cNvPr id="30" name="TextBox 29"/>
          <p:cNvSpPr txBox="1"/>
          <p:nvPr/>
        </p:nvSpPr>
        <p:spPr>
          <a:xfrm>
            <a:off x="4065639" y="2206078"/>
            <a:ext cx="111442"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31" name="TextBox 30"/>
          <p:cNvSpPr txBox="1"/>
          <p:nvPr/>
        </p:nvSpPr>
        <p:spPr>
          <a:xfrm>
            <a:off x="4065639" y="1941491"/>
            <a:ext cx="111442" cy="119186"/>
          </a:xfrm>
          <a:prstGeom prst="rect">
            <a:avLst/>
          </a:prstGeom>
          <a:noFill/>
        </p:spPr>
        <p:txBody>
          <a:bodyPr wrap="none" anchor="ctr" lIns="0" rIns="0" tIns="0" bIns="0">
            <a:noAutofit/>
          </a:bodyPr>
          <a:lstStyle/>
          <a:p>
            <a:pPr algn="r"/>
            <a:r>
              <a:rPr sz="800" b="0" i="0">
                <a:solidFill>
                  <a:srgbClr val="000000"/>
                </a:solidFill>
                <a:latin typeface="Arial"/>
              </a:rPr>
              <a:t>-1</a:t>
            </a:r>
          </a:p>
        </p:txBody>
      </p:sp>
      <p:sp>
        <p:nvSpPr>
          <p:cNvPr id="32" name="TextBox 31"/>
          <p:cNvSpPr txBox="1"/>
          <p:nvPr/>
        </p:nvSpPr>
        <p:spPr>
          <a:xfrm>
            <a:off x="4104215" y="1676904"/>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33" name="TextBox 32"/>
          <p:cNvSpPr txBox="1"/>
          <p:nvPr/>
        </p:nvSpPr>
        <p:spPr>
          <a:xfrm>
            <a:off x="4104215" y="1412316"/>
            <a:ext cx="68580" cy="119186"/>
          </a:xfrm>
          <a:prstGeom prst="rect">
            <a:avLst/>
          </a:prstGeom>
          <a:noFill/>
        </p:spPr>
        <p:txBody>
          <a:bodyPr wrap="none" anchor="ctr" lIns="0" rIns="0" tIns="0" bIns="0">
            <a:noAutofit/>
          </a:bodyPr>
          <a:lstStyle/>
          <a:p>
            <a:pPr algn="r"/>
            <a:r>
              <a:rPr sz="800" b="0" i="0">
                <a:solidFill>
                  <a:srgbClr val="000000"/>
                </a:solidFill>
                <a:latin typeface="Arial"/>
              </a:rPr>
              <a:t>1</a:t>
            </a:r>
          </a:p>
        </p:txBody>
      </p:sp>
      <p:sp>
        <p:nvSpPr>
          <p:cNvPr id="34" name="TextBox 33"/>
          <p:cNvSpPr txBox="1"/>
          <p:nvPr/>
        </p:nvSpPr>
        <p:spPr>
          <a:xfrm>
            <a:off x="4104215" y="1147729"/>
            <a:ext cx="68580"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35" name="TextBox 34"/>
          <p:cNvSpPr txBox="1"/>
          <p:nvPr/>
        </p:nvSpPr>
        <p:spPr>
          <a:xfrm>
            <a:off x="4104215" y="883142"/>
            <a:ext cx="68580" cy="119186"/>
          </a:xfrm>
          <a:prstGeom prst="rect">
            <a:avLst/>
          </a:prstGeom>
          <a:noFill/>
        </p:spPr>
        <p:txBody>
          <a:bodyPr wrap="none" anchor="ctr" lIns="0" rIns="0" tIns="0" bIns="0">
            <a:noAutofit/>
          </a:bodyPr>
          <a:lstStyle/>
          <a:p>
            <a:pPr algn="r"/>
            <a:r>
              <a:rPr sz="800" b="0" i="0">
                <a:solidFill>
                  <a:srgbClr val="000000"/>
                </a:solidFill>
                <a:latin typeface="Arial"/>
              </a:rPr>
              <a:t>3</a:t>
            </a:r>
          </a:p>
        </p:txBody>
      </p:sp>
      <p:sp>
        <p:nvSpPr>
          <p:cNvPr id="36" name="TextBox 35"/>
          <p:cNvSpPr txBox="1"/>
          <p:nvPr/>
        </p:nvSpPr>
        <p:spPr>
          <a:xfrm>
            <a:off x="4104215" y="618555"/>
            <a:ext cx="68580"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37" name="TextBox 36"/>
          <p:cNvSpPr txBox="1"/>
          <p:nvPr/>
        </p:nvSpPr>
        <p:spPr>
          <a:xfrm>
            <a:off x="4137655" y="635959"/>
            <a:ext cx="727323" cy="134084"/>
          </a:xfrm>
          <a:prstGeom prst="rect">
            <a:avLst/>
          </a:prstGeom>
          <a:noFill/>
        </p:spPr>
        <p:txBody>
          <a:bodyPr wrap="none" anchor="ctr" lIns="0" rIns="0" tIns="0" bIns="0">
            <a:noAutofit/>
          </a:bodyPr>
          <a:lstStyle/>
          <a:p>
            <a:pPr algn="l"/>
            <a:r>
              <a:rPr sz="900" b="0" i="0">
                <a:solidFill>
                  <a:srgbClr val="000000"/>
                </a:solidFill>
                <a:latin typeface="Arial"/>
              </a:rPr>
              <a:t>After AMPA</a:t>
            </a:r>
          </a:p>
        </p:txBody>
      </p:sp>
      <p:sp>
        <p:nvSpPr>
          <p:cNvPr id="38" name="TextBox 37"/>
          <p:cNvSpPr txBox="1"/>
          <p:nvPr/>
        </p:nvSpPr>
        <p:spPr>
          <a:xfrm>
            <a:off x="6330804" y="796110"/>
            <a:ext cx="108585"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39" name="TextBox 38"/>
          <p:cNvSpPr txBox="1"/>
          <p:nvPr/>
        </p:nvSpPr>
        <p:spPr>
          <a:xfrm>
            <a:off x="5987357" y="2180775"/>
            <a:ext cx="228600" cy="150566"/>
          </a:xfrm>
          <a:prstGeom prst="rect">
            <a:avLst/>
          </a:prstGeom>
          <a:noFill/>
        </p:spPr>
        <p:txBody>
          <a:bodyPr wrap="none" anchor="ctr" lIns="0" rIns="0" tIns="0" bIns="0">
            <a:noAutofit/>
          </a:bodyPr>
          <a:lstStyle/>
          <a:p>
            <a:pPr algn="ctr"/>
            <a:r>
              <a:rPr sz="1000" b="0" i="0">
                <a:solidFill>
                  <a:srgbClr val="000000"/>
                </a:solidFill>
                <a:latin typeface="Arial"/>
              </a:rPr>
              <a:t>HC</a:t>
            </a:r>
          </a:p>
        </p:txBody>
      </p:sp>
      <p:sp>
        <p:nvSpPr>
          <p:cNvPr id="40" name="TextBox 39"/>
          <p:cNvSpPr txBox="1"/>
          <p:nvPr/>
        </p:nvSpPr>
        <p:spPr>
          <a:xfrm>
            <a:off x="6487084" y="2180933"/>
            <a:ext cx="362902" cy="148983"/>
          </a:xfrm>
          <a:prstGeom prst="rect">
            <a:avLst/>
          </a:prstGeom>
          <a:noFill/>
        </p:spPr>
        <p:txBody>
          <a:bodyPr wrap="none" anchor="ctr" lIns="0" rIns="0" tIns="0" bIns="0">
            <a:noAutofit/>
          </a:bodyPr>
          <a:lstStyle/>
          <a:p>
            <a:pPr algn="ctr"/>
            <a:r>
              <a:rPr sz="1000" b="0" i="0">
                <a:solidFill>
                  <a:srgbClr val="000000"/>
                </a:solidFill>
                <a:latin typeface="Arial"/>
              </a:rPr>
              <a:t>MDD</a:t>
            </a:r>
          </a:p>
        </p:txBody>
      </p:sp>
      <p:sp>
        <p:nvSpPr>
          <p:cNvPr id="41" name="TextBox 40"/>
          <p:cNvSpPr txBox="1"/>
          <p:nvPr/>
        </p:nvSpPr>
        <p:spPr>
          <a:xfrm>
            <a:off x="5605445" y="2176363"/>
            <a:ext cx="111442" cy="119186"/>
          </a:xfrm>
          <a:prstGeom prst="rect">
            <a:avLst/>
          </a:prstGeom>
          <a:noFill/>
        </p:spPr>
        <p:txBody>
          <a:bodyPr wrap="none" anchor="ctr" lIns="0" rIns="0" tIns="0" bIns="0">
            <a:noAutofit/>
          </a:bodyPr>
          <a:lstStyle/>
          <a:p>
            <a:pPr algn="r"/>
            <a:r>
              <a:rPr sz="800" b="0" i="0">
                <a:solidFill>
                  <a:srgbClr val="000000"/>
                </a:solidFill>
                <a:latin typeface="Arial"/>
              </a:rPr>
              <a:t>-5</a:t>
            </a:r>
          </a:p>
        </p:txBody>
      </p:sp>
      <p:sp>
        <p:nvSpPr>
          <p:cNvPr id="42" name="TextBox 41"/>
          <p:cNvSpPr txBox="1"/>
          <p:nvPr/>
        </p:nvSpPr>
        <p:spPr>
          <a:xfrm>
            <a:off x="5644021" y="1838797"/>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43" name="TextBox 42"/>
          <p:cNvSpPr txBox="1"/>
          <p:nvPr/>
        </p:nvSpPr>
        <p:spPr>
          <a:xfrm>
            <a:off x="5644021" y="1501231"/>
            <a:ext cx="68580" cy="119186"/>
          </a:xfrm>
          <a:prstGeom prst="rect">
            <a:avLst/>
          </a:prstGeom>
          <a:noFill/>
        </p:spPr>
        <p:txBody>
          <a:bodyPr wrap="none" anchor="ctr" lIns="0" rIns="0" tIns="0" bIns="0">
            <a:noAutofit/>
          </a:bodyPr>
          <a:lstStyle/>
          <a:p>
            <a:pPr algn="r"/>
            <a:r>
              <a:rPr sz="800" b="0" i="0">
                <a:solidFill>
                  <a:srgbClr val="000000"/>
                </a:solidFill>
                <a:latin typeface="Arial"/>
              </a:rPr>
              <a:t>5</a:t>
            </a:r>
          </a:p>
        </p:txBody>
      </p:sp>
      <p:sp>
        <p:nvSpPr>
          <p:cNvPr id="44" name="TextBox 43"/>
          <p:cNvSpPr txBox="1"/>
          <p:nvPr/>
        </p:nvSpPr>
        <p:spPr>
          <a:xfrm>
            <a:off x="5582299" y="1163665"/>
            <a:ext cx="137160"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45" name="TextBox 44"/>
          <p:cNvSpPr txBox="1"/>
          <p:nvPr/>
        </p:nvSpPr>
        <p:spPr>
          <a:xfrm>
            <a:off x="5582299" y="826099"/>
            <a:ext cx="137160" cy="119186"/>
          </a:xfrm>
          <a:prstGeom prst="rect">
            <a:avLst/>
          </a:prstGeom>
          <a:noFill/>
        </p:spPr>
        <p:txBody>
          <a:bodyPr wrap="none" anchor="ctr" lIns="0" rIns="0" tIns="0" bIns="0">
            <a:noAutofit/>
          </a:bodyPr>
          <a:lstStyle/>
          <a:p>
            <a:pPr algn="r"/>
            <a:r>
              <a:rPr sz="800" b="0" i="0">
                <a:solidFill>
                  <a:srgbClr val="000000"/>
                </a:solidFill>
                <a:latin typeface="Arial"/>
              </a:rPr>
              <a:t>15</a:t>
            </a:r>
          </a:p>
        </p:txBody>
      </p:sp>
      <p:sp>
        <p:nvSpPr>
          <p:cNvPr id="46" name="TextBox 45"/>
          <p:cNvSpPr txBox="1"/>
          <p:nvPr/>
        </p:nvSpPr>
        <p:spPr>
          <a:xfrm>
            <a:off x="5582299" y="488532"/>
            <a:ext cx="137160" cy="119186"/>
          </a:xfrm>
          <a:prstGeom prst="rect">
            <a:avLst/>
          </a:prstGeom>
          <a:noFill/>
        </p:spPr>
        <p:txBody>
          <a:bodyPr wrap="none" anchor="ctr" lIns="0" rIns="0" tIns="0" bIns="0">
            <a:noAutofit/>
          </a:bodyPr>
          <a:lstStyle/>
          <a:p>
            <a:pPr algn="r"/>
            <a:r>
              <a:rPr sz="800" b="0" i="0">
                <a:solidFill>
                  <a:srgbClr val="000000"/>
                </a:solidFill>
                <a:latin typeface="Arial"/>
              </a:rPr>
              <a:t>20</a:t>
            </a:r>
          </a:p>
        </p:txBody>
      </p:sp>
      <p:sp>
        <p:nvSpPr>
          <p:cNvPr id="47" name="TextBox 46"/>
          <p:cNvSpPr txBox="1"/>
          <p:nvPr/>
        </p:nvSpPr>
        <p:spPr>
          <a:xfrm>
            <a:off x="5662182" y="634420"/>
            <a:ext cx="880110" cy="135795"/>
          </a:xfrm>
          <a:prstGeom prst="rect">
            <a:avLst/>
          </a:prstGeom>
          <a:noFill/>
        </p:spPr>
        <p:txBody>
          <a:bodyPr wrap="none" anchor="ctr" lIns="0" rIns="0" tIns="0" bIns="0">
            <a:noAutofit/>
          </a:bodyPr>
          <a:lstStyle/>
          <a:p>
            <a:pPr algn="l"/>
            <a:r>
              <a:rPr sz="900" b="0" i="0">
                <a:solidFill>
                  <a:srgbClr val="000000"/>
                </a:solidFill>
                <a:latin typeface="Arial"/>
              </a:rPr>
              <a:t>After GABA-A</a:t>
            </a:r>
          </a:p>
        </p:txBody>
      </p:sp>
      <p:sp>
        <p:nvSpPr>
          <p:cNvPr id="48" name="TextBox 47"/>
          <p:cNvSpPr txBox="1"/>
          <p:nvPr/>
        </p:nvSpPr>
        <p:spPr>
          <a:xfrm rot="16200000">
            <a:off x="1258916" y="4005328"/>
            <a:ext cx="220027" cy="119186"/>
          </a:xfrm>
          <a:prstGeom prst="rect">
            <a:avLst/>
          </a:prstGeom>
          <a:noFill/>
        </p:spPr>
        <p:txBody>
          <a:bodyPr wrap="none" anchor="ctr" lIns="0" rIns="0" tIns="0" bIns="0">
            <a:noAutofit/>
          </a:bodyPr>
          <a:lstStyle/>
          <a:p>
            <a:pPr algn="ctr"/>
            <a:r>
              <a:rPr sz="800" b="0" i="0">
                <a:solidFill>
                  <a:srgbClr val="000000"/>
                </a:solidFill>
                <a:latin typeface="Arial"/>
              </a:rPr>
              <a:t>E10</a:t>
            </a:r>
          </a:p>
        </p:txBody>
      </p:sp>
      <p:sp>
        <p:nvSpPr>
          <p:cNvPr id="49" name="TextBox 48"/>
          <p:cNvSpPr txBox="1"/>
          <p:nvPr/>
        </p:nvSpPr>
        <p:spPr>
          <a:xfrm rot="16200000">
            <a:off x="1470567" y="4005328"/>
            <a:ext cx="220027" cy="119186"/>
          </a:xfrm>
          <a:prstGeom prst="rect">
            <a:avLst/>
          </a:prstGeom>
          <a:noFill/>
        </p:spPr>
        <p:txBody>
          <a:bodyPr wrap="none" anchor="ctr" lIns="0" rIns="0" tIns="0" bIns="0">
            <a:noAutofit/>
          </a:bodyPr>
          <a:lstStyle/>
          <a:p>
            <a:pPr algn="ctr"/>
            <a:r>
              <a:rPr sz="800" b="0" i="0">
                <a:solidFill>
                  <a:srgbClr val="000000"/>
                </a:solidFill>
                <a:latin typeface="Arial"/>
              </a:rPr>
              <a:t>E13</a:t>
            </a:r>
          </a:p>
        </p:txBody>
      </p:sp>
      <p:sp>
        <p:nvSpPr>
          <p:cNvPr id="50" name="TextBox 49"/>
          <p:cNvSpPr txBox="1"/>
          <p:nvPr/>
        </p:nvSpPr>
        <p:spPr>
          <a:xfrm rot="16200000">
            <a:off x="1682217" y="4005328"/>
            <a:ext cx="220027" cy="119186"/>
          </a:xfrm>
          <a:prstGeom prst="rect">
            <a:avLst/>
          </a:prstGeom>
          <a:noFill/>
        </p:spPr>
        <p:txBody>
          <a:bodyPr wrap="none" anchor="ctr" lIns="0" rIns="0" tIns="0" bIns="0">
            <a:noAutofit/>
          </a:bodyPr>
          <a:lstStyle/>
          <a:p>
            <a:pPr algn="ctr"/>
            <a:r>
              <a:rPr sz="800" b="0" i="0">
                <a:solidFill>
                  <a:srgbClr val="000000"/>
                </a:solidFill>
                <a:latin typeface="Arial"/>
              </a:rPr>
              <a:t>E12</a:t>
            </a:r>
          </a:p>
        </p:txBody>
      </p:sp>
      <p:sp>
        <p:nvSpPr>
          <p:cNvPr id="51" name="TextBox 50"/>
          <p:cNvSpPr txBox="1"/>
          <p:nvPr/>
        </p:nvSpPr>
        <p:spPr>
          <a:xfrm rot="16200000">
            <a:off x="1928158" y="3977896"/>
            <a:ext cx="151447" cy="119186"/>
          </a:xfrm>
          <a:prstGeom prst="rect">
            <a:avLst/>
          </a:prstGeom>
          <a:noFill/>
        </p:spPr>
        <p:txBody>
          <a:bodyPr wrap="none" anchor="ctr" lIns="0" rIns="0" tIns="0" bIns="0">
            <a:noAutofit/>
          </a:bodyPr>
          <a:lstStyle/>
          <a:p>
            <a:pPr algn="ctr"/>
            <a:r>
              <a:rPr sz="800" b="0" i="0">
                <a:solidFill>
                  <a:srgbClr val="000000"/>
                </a:solidFill>
                <a:latin typeface="Arial"/>
              </a:rPr>
              <a:t>E3</a:t>
            </a:r>
          </a:p>
        </p:txBody>
      </p:sp>
      <p:sp>
        <p:nvSpPr>
          <p:cNvPr id="52" name="TextBox 51"/>
          <p:cNvSpPr txBox="1"/>
          <p:nvPr/>
        </p:nvSpPr>
        <p:spPr>
          <a:xfrm rot="16200000">
            <a:off x="2110229" y="4001560"/>
            <a:ext cx="210606" cy="119186"/>
          </a:xfrm>
          <a:prstGeom prst="rect">
            <a:avLst/>
          </a:prstGeom>
          <a:noFill/>
        </p:spPr>
        <p:txBody>
          <a:bodyPr wrap="none" anchor="ctr" lIns="0" rIns="0" tIns="0" bIns="0">
            <a:noAutofit/>
          </a:bodyPr>
          <a:lstStyle/>
          <a:p>
            <a:pPr algn="ctr"/>
            <a:r>
              <a:rPr sz="800" b="0" i="0">
                <a:solidFill>
                  <a:srgbClr val="000000"/>
                </a:solidFill>
                <a:latin typeface="Arial"/>
              </a:rPr>
              <a:t>E11</a:t>
            </a:r>
          </a:p>
        </p:txBody>
      </p:sp>
      <p:sp>
        <p:nvSpPr>
          <p:cNvPr id="53" name="TextBox 52"/>
          <p:cNvSpPr txBox="1"/>
          <p:nvPr/>
        </p:nvSpPr>
        <p:spPr>
          <a:xfrm rot="16200000">
            <a:off x="2351459" y="3977896"/>
            <a:ext cx="151447" cy="119186"/>
          </a:xfrm>
          <a:prstGeom prst="rect">
            <a:avLst/>
          </a:prstGeom>
          <a:noFill/>
        </p:spPr>
        <p:txBody>
          <a:bodyPr wrap="none" anchor="ctr" lIns="0" rIns="0" tIns="0" bIns="0">
            <a:noAutofit/>
          </a:bodyPr>
          <a:lstStyle/>
          <a:p>
            <a:pPr algn="ctr"/>
            <a:r>
              <a:rPr sz="800" b="0" i="0">
                <a:solidFill>
                  <a:srgbClr val="000000"/>
                </a:solidFill>
                <a:latin typeface="Arial"/>
              </a:rPr>
              <a:t>E6</a:t>
            </a:r>
          </a:p>
        </p:txBody>
      </p:sp>
      <p:sp>
        <p:nvSpPr>
          <p:cNvPr id="54" name="TextBox 53"/>
          <p:cNvSpPr txBox="1"/>
          <p:nvPr/>
        </p:nvSpPr>
        <p:spPr>
          <a:xfrm rot="16200000">
            <a:off x="2528819" y="4005328"/>
            <a:ext cx="220027" cy="119186"/>
          </a:xfrm>
          <a:prstGeom prst="rect">
            <a:avLst/>
          </a:prstGeom>
          <a:noFill/>
        </p:spPr>
        <p:txBody>
          <a:bodyPr wrap="none" anchor="ctr" lIns="0" rIns="0" tIns="0" bIns="0">
            <a:noAutofit/>
          </a:bodyPr>
          <a:lstStyle/>
          <a:p>
            <a:pPr algn="ctr"/>
            <a:r>
              <a:rPr sz="800" b="0" i="0">
                <a:solidFill>
                  <a:srgbClr val="000000"/>
                </a:solidFill>
                <a:latin typeface="Arial"/>
              </a:rPr>
              <a:t>E20</a:t>
            </a:r>
          </a:p>
        </p:txBody>
      </p:sp>
      <p:sp>
        <p:nvSpPr>
          <p:cNvPr id="55" name="TextBox 54"/>
          <p:cNvSpPr txBox="1"/>
          <p:nvPr/>
        </p:nvSpPr>
        <p:spPr>
          <a:xfrm rot="16200000">
            <a:off x="2740470" y="4005328"/>
            <a:ext cx="220027" cy="119186"/>
          </a:xfrm>
          <a:prstGeom prst="rect">
            <a:avLst/>
          </a:prstGeom>
          <a:noFill/>
        </p:spPr>
        <p:txBody>
          <a:bodyPr wrap="none" anchor="ctr" lIns="0" rIns="0" tIns="0" bIns="0">
            <a:noAutofit/>
          </a:bodyPr>
          <a:lstStyle/>
          <a:p>
            <a:pPr algn="ctr"/>
            <a:r>
              <a:rPr sz="800" b="0" i="0">
                <a:solidFill>
                  <a:srgbClr val="000000"/>
                </a:solidFill>
                <a:latin typeface="Arial"/>
              </a:rPr>
              <a:t>E26</a:t>
            </a:r>
          </a:p>
        </p:txBody>
      </p:sp>
      <p:sp>
        <p:nvSpPr>
          <p:cNvPr id="56" name="TextBox 55"/>
          <p:cNvSpPr txBox="1"/>
          <p:nvPr/>
        </p:nvSpPr>
        <p:spPr>
          <a:xfrm rot="16200000">
            <a:off x="2952121" y="4005328"/>
            <a:ext cx="220027" cy="119186"/>
          </a:xfrm>
          <a:prstGeom prst="rect">
            <a:avLst/>
          </a:prstGeom>
          <a:noFill/>
        </p:spPr>
        <p:txBody>
          <a:bodyPr wrap="none" anchor="ctr" lIns="0" rIns="0" tIns="0" bIns="0">
            <a:noAutofit/>
          </a:bodyPr>
          <a:lstStyle/>
          <a:p>
            <a:pPr algn="ctr"/>
            <a:r>
              <a:rPr sz="800" b="0" i="0">
                <a:solidFill>
                  <a:srgbClr val="000000"/>
                </a:solidFill>
                <a:latin typeface="Arial"/>
              </a:rPr>
              <a:t>E21</a:t>
            </a:r>
          </a:p>
        </p:txBody>
      </p:sp>
      <p:sp>
        <p:nvSpPr>
          <p:cNvPr id="57" name="TextBox 56"/>
          <p:cNvSpPr txBox="1"/>
          <p:nvPr/>
        </p:nvSpPr>
        <p:spPr>
          <a:xfrm rot="16200000">
            <a:off x="3198061" y="3977896"/>
            <a:ext cx="151447" cy="119186"/>
          </a:xfrm>
          <a:prstGeom prst="rect">
            <a:avLst/>
          </a:prstGeom>
          <a:noFill/>
        </p:spPr>
        <p:txBody>
          <a:bodyPr wrap="none" anchor="ctr" lIns="0" rIns="0" tIns="0" bIns="0">
            <a:noAutofit/>
          </a:bodyPr>
          <a:lstStyle/>
          <a:p>
            <a:pPr algn="ctr"/>
            <a:r>
              <a:rPr sz="800" b="0" i="0">
                <a:solidFill>
                  <a:srgbClr val="000000"/>
                </a:solidFill>
                <a:latin typeface="Arial"/>
              </a:rPr>
              <a:t>E2</a:t>
            </a:r>
          </a:p>
        </p:txBody>
      </p:sp>
      <p:sp>
        <p:nvSpPr>
          <p:cNvPr id="58" name="TextBox 57"/>
          <p:cNvSpPr txBox="1"/>
          <p:nvPr/>
        </p:nvSpPr>
        <p:spPr>
          <a:xfrm rot="16200000">
            <a:off x="3375422" y="4005328"/>
            <a:ext cx="220027" cy="119186"/>
          </a:xfrm>
          <a:prstGeom prst="rect">
            <a:avLst/>
          </a:prstGeom>
          <a:noFill/>
        </p:spPr>
        <p:txBody>
          <a:bodyPr wrap="none" anchor="ctr" lIns="0" rIns="0" tIns="0" bIns="0">
            <a:noAutofit/>
          </a:bodyPr>
          <a:lstStyle/>
          <a:p>
            <a:pPr algn="ctr"/>
            <a:r>
              <a:rPr sz="800" b="0" i="0">
                <a:solidFill>
                  <a:srgbClr val="000000"/>
                </a:solidFill>
                <a:latin typeface="Arial"/>
              </a:rPr>
              <a:t>E24</a:t>
            </a:r>
          </a:p>
        </p:txBody>
      </p:sp>
      <p:sp>
        <p:nvSpPr>
          <p:cNvPr id="59" name="TextBox 58"/>
          <p:cNvSpPr txBox="1"/>
          <p:nvPr/>
        </p:nvSpPr>
        <p:spPr>
          <a:xfrm rot="16200000">
            <a:off x="3621362" y="3977896"/>
            <a:ext cx="151447" cy="119186"/>
          </a:xfrm>
          <a:prstGeom prst="rect">
            <a:avLst/>
          </a:prstGeom>
          <a:noFill/>
        </p:spPr>
        <p:txBody>
          <a:bodyPr wrap="none" anchor="ctr" lIns="0" rIns="0" tIns="0" bIns="0">
            <a:noAutofit/>
          </a:bodyPr>
          <a:lstStyle/>
          <a:p>
            <a:pPr algn="ctr"/>
            <a:r>
              <a:rPr sz="800" b="0" i="0">
                <a:solidFill>
                  <a:srgbClr val="000000"/>
                </a:solidFill>
                <a:latin typeface="Arial"/>
              </a:rPr>
              <a:t>E7</a:t>
            </a:r>
          </a:p>
        </p:txBody>
      </p:sp>
      <p:sp>
        <p:nvSpPr>
          <p:cNvPr id="60" name="TextBox 59"/>
          <p:cNvSpPr txBox="1"/>
          <p:nvPr/>
        </p:nvSpPr>
        <p:spPr>
          <a:xfrm rot="16200000">
            <a:off x="3798723" y="4005328"/>
            <a:ext cx="220027" cy="119186"/>
          </a:xfrm>
          <a:prstGeom prst="rect">
            <a:avLst/>
          </a:prstGeom>
          <a:noFill/>
        </p:spPr>
        <p:txBody>
          <a:bodyPr wrap="none" anchor="ctr" lIns="0" rIns="0" tIns="0" bIns="0">
            <a:noAutofit/>
          </a:bodyPr>
          <a:lstStyle/>
          <a:p>
            <a:pPr algn="ctr"/>
            <a:r>
              <a:rPr sz="800" b="0" i="0">
                <a:solidFill>
                  <a:srgbClr val="000000"/>
                </a:solidFill>
                <a:latin typeface="Arial"/>
              </a:rPr>
              <a:t>E15</a:t>
            </a:r>
          </a:p>
        </p:txBody>
      </p:sp>
      <p:sp>
        <p:nvSpPr>
          <p:cNvPr id="61" name="TextBox 60"/>
          <p:cNvSpPr txBox="1"/>
          <p:nvPr/>
        </p:nvSpPr>
        <p:spPr>
          <a:xfrm rot="16200000">
            <a:off x="4044663" y="3977896"/>
            <a:ext cx="151447" cy="119186"/>
          </a:xfrm>
          <a:prstGeom prst="rect">
            <a:avLst/>
          </a:prstGeom>
          <a:noFill/>
        </p:spPr>
        <p:txBody>
          <a:bodyPr wrap="none" anchor="ctr" lIns="0" rIns="0" tIns="0" bIns="0">
            <a:noAutofit/>
          </a:bodyPr>
          <a:lstStyle/>
          <a:p>
            <a:pPr algn="ctr"/>
            <a:r>
              <a:rPr sz="800" b="0" i="0">
                <a:solidFill>
                  <a:srgbClr val="000000"/>
                </a:solidFill>
                <a:latin typeface="Arial"/>
              </a:rPr>
              <a:t>E9</a:t>
            </a:r>
          </a:p>
        </p:txBody>
      </p:sp>
      <p:sp>
        <p:nvSpPr>
          <p:cNvPr id="62" name="TextBox 61"/>
          <p:cNvSpPr txBox="1"/>
          <p:nvPr/>
        </p:nvSpPr>
        <p:spPr>
          <a:xfrm rot="16200000">
            <a:off x="4256314" y="3977896"/>
            <a:ext cx="151447" cy="119186"/>
          </a:xfrm>
          <a:prstGeom prst="rect">
            <a:avLst/>
          </a:prstGeom>
          <a:noFill/>
        </p:spPr>
        <p:txBody>
          <a:bodyPr wrap="none" anchor="ctr" lIns="0" rIns="0" tIns="0" bIns="0">
            <a:noAutofit/>
          </a:bodyPr>
          <a:lstStyle/>
          <a:p>
            <a:pPr algn="ctr"/>
            <a:r>
              <a:rPr sz="800" b="0" i="0">
                <a:solidFill>
                  <a:srgbClr val="000000"/>
                </a:solidFill>
                <a:latin typeface="Arial"/>
              </a:rPr>
              <a:t>E5</a:t>
            </a:r>
          </a:p>
        </p:txBody>
      </p:sp>
      <p:sp>
        <p:nvSpPr>
          <p:cNvPr id="63" name="TextBox 62"/>
          <p:cNvSpPr txBox="1"/>
          <p:nvPr/>
        </p:nvSpPr>
        <p:spPr>
          <a:xfrm rot="16200000">
            <a:off x="4467964" y="3977896"/>
            <a:ext cx="151447" cy="119186"/>
          </a:xfrm>
          <a:prstGeom prst="rect">
            <a:avLst/>
          </a:prstGeom>
          <a:noFill/>
        </p:spPr>
        <p:txBody>
          <a:bodyPr wrap="none" anchor="ctr" lIns="0" rIns="0" tIns="0" bIns="0">
            <a:noAutofit/>
          </a:bodyPr>
          <a:lstStyle/>
          <a:p>
            <a:pPr algn="ctr"/>
            <a:r>
              <a:rPr sz="800" b="0" i="0">
                <a:solidFill>
                  <a:srgbClr val="000000"/>
                </a:solidFill>
                <a:latin typeface="Arial"/>
              </a:rPr>
              <a:t>E8</a:t>
            </a:r>
          </a:p>
        </p:txBody>
      </p:sp>
      <p:sp>
        <p:nvSpPr>
          <p:cNvPr id="64" name="TextBox 63"/>
          <p:cNvSpPr txBox="1"/>
          <p:nvPr/>
        </p:nvSpPr>
        <p:spPr>
          <a:xfrm rot="16200000">
            <a:off x="4679615" y="3977896"/>
            <a:ext cx="151447" cy="119186"/>
          </a:xfrm>
          <a:prstGeom prst="rect">
            <a:avLst/>
          </a:prstGeom>
          <a:noFill/>
        </p:spPr>
        <p:txBody>
          <a:bodyPr wrap="none" anchor="ctr" lIns="0" rIns="0" tIns="0" bIns="0">
            <a:noAutofit/>
          </a:bodyPr>
          <a:lstStyle/>
          <a:p>
            <a:pPr algn="ctr"/>
            <a:r>
              <a:rPr sz="800" b="0" i="0">
                <a:solidFill>
                  <a:srgbClr val="000000"/>
                </a:solidFill>
                <a:latin typeface="Arial"/>
              </a:rPr>
              <a:t>E1</a:t>
            </a:r>
          </a:p>
        </p:txBody>
      </p:sp>
      <p:sp>
        <p:nvSpPr>
          <p:cNvPr id="65" name="TextBox 64"/>
          <p:cNvSpPr txBox="1"/>
          <p:nvPr/>
        </p:nvSpPr>
        <p:spPr>
          <a:xfrm rot="16200000">
            <a:off x="4856975" y="4005328"/>
            <a:ext cx="220027" cy="119186"/>
          </a:xfrm>
          <a:prstGeom prst="rect">
            <a:avLst/>
          </a:prstGeom>
          <a:noFill/>
        </p:spPr>
        <p:txBody>
          <a:bodyPr wrap="none" anchor="ctr" lIns="0" rIns="0" tIns="0" bIns="0">
            <a:noAutofit/>
          </a:bodyPr>
          <a:lstStyle/>
          <a:p>
            <a:pPr algn="ctr"/>
            <a:r>
              <a:rPr sz="800" b="0" i="0">
                <a:solidFill>
                  <a:srgbClr val="000000"/>
                </a:solidFill>
                <a:latin typeface="Arial"/>
              </a:rPr>
              <a:t>E22</a:t>
            </a:r>
          </a:p>
        </p:txBody>
      </p:sp>
      <p:sp>
        <p:nvSpPr>
          <p:cNvPr id="66" name="TextBox 65"/>
          <p:cNvSpPr txBox="1"/>
          <p:nvPr/>
        </p:nvSpPr>
        <p:spPr>
          <a:xfrm rot="16200000">
            <a:off x="5068626" y="4005328"/>
            <a:ext cx="220027" cy="119186"/>
          </a:xfrm>
          <a:prstGeom prst="rect">
            <a:avLst/>
          </a:prstGeom>
          <a:noFill/>
        </p:spPr>
        <p:txBody>
          <a:bodyPr wrap="none" anchor="ctr" lIns="0" rIns="0" tIns="0" bIns="0">
            <a:noAutofit/>
          </a:bodyPr>
          <a:lstStyle/>
          <a:p>
            <a:pPr algn="ctr"/>
            <a:r>
              <a:rPr sz="800" b="0" i="0">
                <a:solidFill>
                  <a:srgbClr val="000000"/>
                </a:solidFill>
                <a:latin typeface="Arial"/>
              </a:rPr>
              <a:t>E23</a:t>
            </a:r>
          </a:p>
        </p:txBody>
      </p:sp>
      <p:sp>
        <p:nvSpPr>
          <p:cNvPr id="67" name="TextBox 66"/>
          <p:cNvSpPr txBox="1"/>
          <p:nvPr/>
        </p:nvSpPr>
        <p:spPr>
          <a:xfrm rot="16200000">
            <a:off x="5280277" y="4005328"/>
            <a:ext cx="220027" cy="119186"/>
          </a:xfrm>
          <a:prstGeom prst="rect">
            <a:avLst/>
          </a:prstGeom>
          <a:noFill/>
        </p:spPr>
        <p:txBody>
          <a:bodyPr wrap="none" anchor="ctr" lIns="0" rIns="0" tIns="0" bIns="0">
            <a:noAutofit/>
          </a:bodyPr>
          <a:lstStyle/>
          <a:p>
            <a:pPr algn="ctr"/>
            <a:r>
              <a:rPr sz="800" b="0" i="0">
                <a:solidFill>
                  <a:srgbClr val="000000"/>
                </a:solidFill>
                <a:latin typeface="Arial"/>
              </a:rPr>
              <a:t>E25</a:t>
            </a:r>
          </a:p>
        </p:txBody>
      </p:sp>
      <p:sp>
        <p:nvSpPr>
          <p:cNvPr id="68" name="TextBox 67"/>
          <p:cNvSpPr txBox="1"/>
          <p:nvPr/>
        </p:nvSpPr>
        <p:spPr>
          <a:xfrm rot="16200000">
            <a:off x="5526217" y="3977896"/>
            <a:ext cx="151447" cy="119186"/>
          </a:xfrm>
          <a:prstGeom prst="rect">
            <a:avLst/>
          </a:prstGeom>
          <a:noFill/>
        </p:spPr>
        <p:txBody>
          <a:bodyPr wrap="none" anchor="ctr" lIns="0" rIns="0" tIns="0" bIns="0">
            <a:noAutofit/>
          </a:bodyPr>
          <a:lstStyle/>
          <a:p>
            <a:pPr algn="ctr"/>
            <a:r>
              <a:rPr sz="800" b="0" i="0">
                <a:solidFill>
                  <a:srgbClr val="000000"/>
                </a:solidFill>
                <a:latin typeface="Arial"/>
              </a:rPr>
              <a:t>E4</a:t>
            </a:r>
          </a:p>
        </p:txBody>
      </p:sp>
      <p:sp>
        <p:nvSpPr>
          <p:cNvPr id="69" name="TextBox 68"/>
          <p:cNvSpPr txBox="1"/>
          <p:nvPr/>
        </p:nvSpPr>
        <p:spPr>
          <a:xfrm rot="16200000">
            <a:off x="5703578" y="4005328"/>
            <a:ext cx="220027" cy="119186"/>
          </a:xfrm>
          <a:prstGeom prst="rect">
            <a:avLst/>
          </a:prstGeom>
          <a:noFill/>
        </p:spPr>
        <p:txBody>
          <a:bodyPr wrap="none" anchor="ctr" lIns="0" rIns="0" tIns="0" bIns="0">
            <a:noAutofit/>
          </a:bodyPr>
          <a:lstStyle/>
          <a:p>
            <a:pPr algn="ctr"/>
            <a:r>
              <a:rPr sz="800" b="0" i="0">
                <a:solidFill>
                  <a:srgbClr val="000000"/>
                </a:solidFill>
                <a:latin typeface="Arial"/>
              </a:rPr>
              <a:t>E14</a:t>
            </a:r>
          </a:p>
        </p:txBody>
      </p:sp>
      <p:sp>
        <p:nvSpPr>
          <p:cNvPr id="70" name="TextBox 69"/>
          <p:cNvSpPr txBox="1"/>
          <p:nvPr/>
        </p:nvSpPr>
        <p:spPr>
          <a:xfrm rot="16200000">
            <a:off x="5915228" y="4005328"/>
            <a:ext cx="220027" cy="119186"/>
          </a:xfrm>
          <a:prstGeom prst="rect">
            <a:avLst/>
          </a:prstGeom>
          <a:noFill/>
        </p:spPr>
        <p:txBody>
          <a:bodyPr wrap="none" anchor="ctr" lIns="0" rIns="0" tIns="0" bIns="0">
            <a:noAutofit/>
          </a:bodyPr>
          <a:lstStyle/>
          <a:p>
            <a:pPr algn="ctr"/>
            <a:r>
              <a:rPr sz="800" b="0" i="0">
                <a:solidFill>
                  <a:srgbClr val="000000"/>
                </a:solidFill>
                <a:latin typeface="Arial"/>
              </a:rPr>
              <a:t>E19</a:t>
            </a:r>
          </a:p>
        </p:txBody>
      </p:sp>
      <p:sp>
        <p:nvSpPr>
          <p:cNvPr id="71" name="TextBox 70"/>
          <p:cNvSpPr txBox="1"/>
          <p:nvPr/>
        </p:nvSpPr>
        <p:spPr>
          <a:xfrm rot="16200000">
            <a:off x="6126879" y="4005328"/>
            <a:ext cx="220027" cy="119186"/>
          </a:xfrm>
          <a:prstGeom prst="rect">
            <a:avLst/>
          </a:prstGeom>
          <a:noFill/>
        </p:spPr>
        <p:txBody>
          <a:bodyPr wrap="none" anchor="ctr" lIns="0" rIns="0" tIns="0" bIns="0">
            <a:noAutofit/>
          </a:bodyPr>
          <a:lstStyle/>
          <a:p>
            <a:pPr algn="ctr"/>
            <a:r>
              <a:rPr sz="800" b="0" i="0">
                <a:solidFill>
                  <a:srgbClr val="000000"/>
                </a:solidFill>
                <a:latin typeface="Arial"/>
              </a:rPr>
              <a:t>E27</a:t>
            </a:r>
          </a:p>
        </p:txBody>
      </p:sp>
      <p:sp>
        <p:nvSpPr>
          <p:cNvPr id="72" name="TextBox 71"/>
          <p:cNvSpPr txBox="1"/>
          <p:nvPr/>
        </p:nvSpPr>
        <p:spPr>
          <a:xfrm rot="16200000">
            <a:off x="6338529" y="4005328"/>
            <a:ext cx="220027" cy="119186"/>
          </a:xfrm>
          <a:prstGeom prst="rect">
            <a:avLst/>
          </a:prstGeom>
          <a:noFill/>
        </p:spPr>
        <p:txBody>
          <a:bodyPr wrap="none" anchor="ctr" lIns="0" rIns="0" tIns="0" bIns="0">
            <a:noAutofit/>
          </a:bodyPr>
          <a:lstStyle/>
          <a:p>
            <a:pPr algn="ctr"/>
            <a:r>
              <a:rPr sz="800" b="0" i="0">
                <a:solidFill>
                  <a:srgbClr val="000000"/>
                </a:solidFill>
                <a:latin typeface="Arial"/>
              </a:rPr>
              <a:t>E17</a:t>
            </a:r>
          </a:p>
        </p:txBody>
      </p:sp>
      <p:sp>
        <p:nvSpPr>
          <p:cNvPr id="73" name="TextBox 72"/>
          <p:cNvSpPr txBox="1"/>
          <p:nvPr/>
        </p:nvSpPr>
        <p:spPr>
          <a:xfrm rot="16200000">
            <a:off x="6550180" y="4005328"/>
            <a:ext cx="220027" cy="119186"/>
          </a:xfrm>
          <a:prstGeom prst="rect">
            <a:avLst/>
          </a:prstGeom>
          <a:noFill/>
        </p:spPr>
        <p:txBody>
          <a:bodyPr wrap="none" anchor="ctr" lIns="0" rIns="0" tIns="0" bIns="0">
            <a:noAutofit/>
          </a:bodyPr>
          <a:lstStyle/>
          <a:p>
            <a:pPr algn="ctr"/>
            <a:r>
              <a:rPr sz="800" b="0" i="0">
                <a:solidFill>
                  <a:srgbClr val="000000"/>
                </a:solidFill>
                <a:latin typeface="Arial"/>
              </a:rPr>
              <a:t>E16</a:t>
            </a:r>
          </a:p>
        </p:txBody>
      </p:sp>
      <p:sp>
        <p:nvSpPr>
          <p:cNvPr id="74" name="TextBox 73"/>
          <p:cNvSpPr txBox="1"/>
          <p:nvPr/>
        </p:nvSpPr>
        <p:spPr>
          <a:xfrm rot="16200000">
            <a:off x="6761830" y="4005328"/>
            <a:ext cx="220027" cy="119186"/>
          </a:xfrm>
          <a:prstGeom prst="rect">
            <a:avLst/>
          </a:prstGeom>
          <a:noFill/>
        </p:spPr>
        <p:txBody>
          <a:bodyPr wrap="none" anchor="ctr" lIns="0" rIns="0" tIns="0" bIns="0">
            <a:noAutofit/>
          </a:bodyPr>
          <a:lstStyle/>
          <a:p>
            <a:pPr algn="ctr"/>
            <a:r>
              <a:rPr sz="800" b="0" i="0">
                <a:solidFill>
                  <a:srgbClr val="000000"/>
                </a:solidFill>
                <a:latin typeface="Arial"/>
              </a:rPr>
              <a:t>E18</a:t>
            </a:r>
          </a:p>
        </p:txBody>
      </p:sp>
      <p:sp>
        <p:nvSpPr>
          <p:cNvPr id="75" name="TextBox 74"/>
          <p:cNvSpPr txBox="1"/>
          <p:nvPr/>
        </p:nvSpPr>
        <p:spPr>
          <a:xfrm rot="16200000">
            <a:off x="129960" y="3189399"/>
            <a:ext cx="1385887" cy="355322"/>
          </a:xfrm>
          <a:prstGeom prst="rect">
            <a:avLst/>
          </a:prstGeom>
          <a:noFill/>
        </p:spPr>
        <p:txBody>
          <a:bodyPr wrap="none" anchor="ctr" lIns="0" rIns="0" tIns="0" bIns="0">
            <a:noAutofit/>
          </a:bodyPr>
          <a:lstStyle/>
          <a:p>
            <a:pPr algn="ctr"/>
            <a:r>
              <a:rPr sz="1000" b="0" i="0">
                <a:solidFill>
                  <a:srgbClr val="000000"/>
                </a:solidFill>
                <a:latin typeface="Arial"/>
              </a:rPr>
              <a:t>Adjusted Cohen's d
(HC − MDD)</a:t>
            </a:r>
          </a:p>
        </p:txBody>
      </p:sp>
      <p:sp>
        <p:nvSpPr>
          <p:cNvPr id="76" name="TextBox 75"/>
          <p:cNvSpPr txBox="1"/>
          <p:nvPr/>
        </p:nvSpPr>
        <p:spPr>
          <a:xfrm>
            <a:off x="983443" y="3979149"/>
            <a:ext cx="214312" cy="119186"/>
          </a:xfrm>
          <a:prstGeom prst="rect">
            <a:avLst/>
          </a:prstGeom>
          <a:noFill/>
        </p:spPr>
        <p:txBody>
          <a:bodyPr wrap="none" anchor="ctr" lIns="0" rIns="0" tIns="0" bIns="0">
            <a:noAutofit/>
          </a:bodyPr>
          <a:lstStyle/>
          <a:p>
            <a:pPr algn="r"/>
            <a:r>
              <a:rPr sz="800" b="0" i="0">
                <a:solidFill>
                  <a:srgbClr val="000000"/>
                </a:solidFill>
                <a:latin typeface="Arial"/>
              </a:rPr>
              <a:t>-0.2</a:t>
            </a:r>
          </a:p>
        </p:txBody>
      </p:sp>
      <p:sp>
        <p:nvSpPr>
          <p:cNvPr id="77" name="TextBox 76"/>
          <p:cNvSpPr txBox="1"/>
          <p:nvPr/>
        </p:nvSpPr>
        <p:spPr>
          <a:xfrm>
            <a:off x="1022019" y="3742535"/>
            <a:ext cx="171450" cy="119186"/>
          </a:xfrm>
          <a:prstGeom prst="rect">
            <a:avLst/>
          </a:prstGeom>
          <a:noFill/>
        </p:spPr>
        <p:txBody>
          <a:bodyPr wrap="none" anchor="ctr" lIns="0" rIns="0" tIns="0" bIns="0">
            <a:noAutofit/>
          </a:bodyPr>
          <a:lstStyle/>
          <a:p>
            <a:pPr algn="r"/>
            <a:r>
              <a:rPr sz="800" b="0" i="0">
                <a:solidFill>
                  <a:srgbClr val="000000"/>
                </a:solidFill>
                <a:latin typeface="Arial"/>
              </a:rPr>
              <a:t>0.0</a:t>
            </a:r>
          </a:p>
        </p:txBody>
      </p:sp>
      <p:sp>
        <p:nvSpPr>
          <p:cNvPr id="78" name="TextBox 77"/>
          <p:cNvSpPr txBox="1"/>
          <p:nvPr/>
        </p:nvSpPr>
        <p:spPr>
          <a:xfrm>
            <a:off x="1022019" y="3505922"/>
            <a:ext cx="171450" cy="119186"/>
          </a:xfrm>
          <a:prstGeom prst="rect">
            <a:avLst/>
          </a:prstGeom>
          <a:noFill/>
        </p:spPr>
        <p:txBody>
          <a:bodyPr wrap="none" anchor="ctr" lIns="0" rIns="0" tIns="0" bIns="0">
            <a:noAutofit/>
          </a:bodyPr>
          <a:lstStyle/>
          <a:p>
            <a:pPr algn="r"/>
            <a:r>
              <a:rPr sz="800" b="0" i="0">
                <a:solidFill>
                  <a:srgbClr val="000000"/>
                </a:solidFill>
                <a:latin typeface="Arial"/>
              </a:rPr>
              <a:t>0.2</a:t>
            </a:r>
          </a:p>
        </p:txBody>
      </p:sp>
      <p:sp>
        <p:nvSpPr>
          <p:cNvPr id="79" name="TextBox 78"/>
          <p:cNvSpPr txBox="1"/>
          <p:nvPr/>
        </p:nvSpPr>
        <p:spPr>
          <a:xfrm>
            <a:off x="1022019" y="3269308"/>
            <a:ext cx="171450" cy="119186"/>
          </a:xfrm>
          <a:prstGeom prst="rect">
            <a:avLst/>
          </a:prstGeom>
          <a:noFill/>
        </p:spPr>
        <p:txBody>
          <a:bodyPr wrap="none" anchor="ctr" lIns="0" rIns="0" tIns="0" bIns="0">
            <a:noAutofit/>
          </a:bodyPr>
          <a:lstStyle/>
          <a:p>
            <a:pPr algn="r"/>
            <a:r>
              <a:rPr sz="800" b="0" i="0">
                <a:solidFill>
                  <a:srgbClr val="000000"/>
                </a:solidFill>
                <a:latin typeface="Arial"/>
              </a:rPr>
              <a:t>0.4</a:t>
            </a:r>
          </a:p>
        </p:txBody>
      </p:sp>
      <p:sp>
        <p:nvSpPr>
          <p:cNvPr id="80" name="TextBox 79"/>
          <p:cNvSpPr txBox="1"/>
          <p:nvPr/>
        </p:nvSpPr>
        <p:spPr>
          <a:xfrm>
            <a:off x="1022019" y="3032694"/>
            <a:ext cx="171450" cy="119186"/>
          </a:xfrm>
          <a:prstGeom prst="rect">
            <a:avLst/>
          </a:prstGeom>
          <a:noFill/>
        </p:spPr>
        <p:txBody>
          <a:bodyPr wrap="none" anchor="ctr" lIns="0" rIns="0" tIns="0" bIns="0">
            <a:noAutofit/>
          </a:bodyPr>
          <a:lstStyle/>
          <a:p>
            <a:pPr algn="r"/>
            <a:r>
              <a:rPr sz="800" b="0" i="0">
                <a:solidFill>
                  <a:srgbClr val="000000"/>
                </a:solidFill>
                <a:latin typeface="Arial"/>
              </a:rPr>
              <a:t>0.6</a:t>
            </a:r>
          </a:p>
        </p:txBody>
      </p:sp>
      <p:sp>
        <p:nvSpPr>
          <p:cNvPr id="81" name="TextBox 80"/>
          <p:cNvSpPr txBox="1"/>
          <p:nvPr/>
        </p:nvSpPr>
        <p:spPr>
          <a:xfrm>
            <a:off x="1022019" y="2796081"/>
            <a:ext cx="171450" cy="119186"/>
          </a:xfrm>
          <a:prstGeom prst="rect">
            <a:avLst/>
          </a:prstGeom>
          <a:noFill/>
        </p:spPr>
        <p:txBody>
          <a:bodyPr wrap="none" anchor="ctr" lIns="0" rIns="0" tIns="0" bIns="0">
            <a:noAutofit/>
          </a:bodyPr>
          <a:lstStyle/>
          <a:p>
            <a:pPr algn="r"/>
            <a:r>
              <a:rPr sz="800" b="0" i="0">
                <a:solidFill>
                  <a:srgbClr val="000000"/>
                </a:solidFill>
                <a:latin typeface="Arial"/>
              </a:rPr>
              <a:t>0.8</a:t>
            </a:r>
          </a:p>
        </p:txBody>
      </p:sp>
      <p:sp>
        <p:nvSpPr>
          <p:cNvPr id="82" name="TextBox 81"/>
          <p:cNvSpPr txBox="1"/>
          <p:nvPr/>
        </p:nvSpPr>
        <p:spPr>
          <a:xfrm>
            <a:off x="1022019" y="2559467"/>
            <a:ext cx="171450"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83" name="TextBox 82"/>
          <p:cNvSpPr txBox="1"/>
          <p:nvPr/>
        </p:nvSpPr>
        <p:spPr>
          <a:xfrm>
            <a:off x="1396511" y="2836341"/>
            <a:ext cx="528637" cy="135795"/>
          </a:xfrm>
          <a:prstGeom prst="rect">
            <a:avLst/>
          </a:prstGeom>
          <a:noFill/>
        </p:spPr>
        <p:txBody>
          <a:bodyPr wrap="none" anchor="ctr" lIns="0" rIns="0" tIns="0" bIns="0">
            <a:noAutofit/>
          </a:bodyPr>
          <a:lstStyle/>
          <a:p>
            <a:pPr algn="l"/>
            <a:r>
              <a:rPr sz="900" b="0" i="0">
                <a:solidFill>
                  <a:srgbClr val="000000"/>
                </a:solidFill>
                <a:latin typeface="Arial"/>
              </a:rPr>
              <a:t>P &lt; 0.05</a:t>
            </a:r>
          </a:p>
        </p:txBody>
      </p:sp>
      <p:sp>
        <p:nvSpPr>
          <p:cNvPr id="84" name="TextBox 83"/>
          <p:cNvSpPr txBox="1"/>
          <p:nvPr/>
        </p:nvSpPr>
        <p:spPr>
          <a:xfrm>
            <a:off x="2169179" y="2837881"/>
            <a:ext cx="231457" cy="134084"/>
          </a:xfrm>
          <a:prstGeom prst="rect">
            <a:avLst/>
          </a:prstGeom>
          <a:noFill/>
        </p:spPr>
        <p:txBody>
          <a:bodyPr wrap="none" anchor="ctr" lIns="0" rIns="0" tIns="0" bIns="0">
            <a:noAutofit/>
          </a:bodyPr>
          <a:lstStyle/>
          <a:p>
            <a:pPr algn="l"/>
            <a:r>
              <a:rPr sz="900" b="0" i="0">
                <a:solidFill>
                  <a:srgbClr val="000000"/>
                </a:solidFill>
                <a:latin typeface="Arial"/>
              </a:rPr>
              <a:t>n.s.</a:t>
            </a:r>
          </a:p>
        </p:txBody>
      </p:sp>
      <p:sp>
        <p:nvSpPr>
          <p:cNvPr id="85" name="TextBox 84"/>
          <p:cNvSpPr txBox="1"/>
          <p:nvPr/>
        </p:nvSpPr>
        <p:spPr>
          <a:xfrm>
            <a:off x="1302867" y="4966588"/>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86" name="TextBox 85"/>
          <p:cNvSpPr txBox="1"/>
          <p:nvPr/>
        </p:nvSpPr>
        <p:spPr>
          <a:xfrm>
            <a:off x="2055004" y="5100861"/>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87" name="TextBox 86"/>
          <p:cNvSpPr txBox="1"/>
          <p:nvPr/>
        </p:nvSpPr>
        <p:spPr>
          <a:xfrm>
            <a:off x="2772850" y="5733029"/>
            <a:ext cx="231457" cy="134084"/>
          </a:xfrm>
          <a:prstGeom prst="rect">
            <a:avLst/>
          </a:prstGeom>
          <a:noFill/>
        </p:spPr>
        <p:txBody>
          <a:bodyPr wrap="none" anchor="ctr" lIns="0" rIns="0" tIns="0" bIns="0">
            <a:noAutofit/>
          </a:bodyPr>
          <a:lstStyle/>
          <a:p>
            <a:pPr algn="ctr"/>
            <a:r>
              <a:rPr sz="900" b="0" i="0">
                <a:solidFill>
                  <a:srgbClr val="000000"/>
                </a:solidFill>
                <a:latin typeface="Arial"/>
              </a:rPr>
              <a:t>n.s.</a:t>
            </a:r>
          </a:p>
        </p:txBody>
      </p:sp>
      <p:sp>
        <p:nvSpPr>
          <p:cNvPr id="88" name="TextBox 87"/>
          <p:cNvSpPr txBox="1"/>
          <p:nvPr/>
        </p:nvSpPr>
        <p:spPr>
          <a:xfrm>
            <a:off x="3586423" y="4749694"/>
            <a:ext cx="108585"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89" name="TextBox 88"/>
          <p:cNvSpPr txBox="1"/>
          <p:nvPr/>
        </p:nvSpPr>
        <p:spPr>
          <a:xfrm>
            <a:off x="1125702" y="6315469"/>
            <a:ext cx="517207" cy="119186"/>
          </a:xfrm>
          <a:prstGeom prst="rect">
            <a:avLst/>
          </a:prstGeom>
          <a:noFill/>
        </p:spPr>
        <p:txBody>
          <a:bodyPr wrap="none" anchor="ctr" lIns="0" rIns="0" tIns="0" bIns="0">
            <a:noAutofit/>
          </a:bodyPr>
          <a:lstStyle/>
          <a:p>
            <a:pPr algn="ctr"/>
            <a:r>
              <a:rPr sz="800" b="0" i="0">
                <a:solidFill>
                  <a:srgbClr val="000000"/>
                </a:solidFill>
                <a:latin typeface="Arial"/>
              </a:rPr>
              <a:t>Empirical</a:t>
            </a:r>
          </a:p>
        </p:txBody>
      </p:sp>
      <p:sp>
        <p:nvSpPr>
          <p:cNvPr id="90" name="TextBox 89"/>
          <p:cNvSpPr txBox="1"/>
          <p:nvPr/>
        </p:nvSpPr>
        <p:spPr>
          <a:xfrm>
            <a:off x="1859265" y="6299743"/>
            <a:ext cx="554355" cy="276448"/>
          </a:xfrm>
          <a:prstGeom prst="rect">
            <a:avLst/>
          </a:prstGeom>
          <a:noFill/>
        </p:spPr>
        <p:txBody>
          <a:bodyPr wrap="none" anchor="ctr" lIns="0" rIns="0" tIns="0" bIns="0">
            <a:noAutofit/>
          </a:bodyPr>
          <a:lstStyle/>
          <a:p>
            <a:pPr algn="ctr"/>
            <a:r>
              <a:rPr sz="800" b="0" i="0">
                <a:solidFill>
                  <a:srgbClr val="000000"/>
                </a:solidFill>
                <a:latin typeface="Arial"/>
              </a:rPr>
              <a:t>Simulated
baseline</a:t>
            </a:r>
          </a:p>
        </p:txBody>
      </p:sp>
      <p:sp>
        <p:nvSpPr>
          <p:cNvPr id="91" name="TextBox 90"/>
          <p:cNvSpPr txBox="1"/>
          <p:nvPr/>
        </p:nvSpPr>
        <p:spPr>
          <a:xfrm>
            <a:off x="2716124" y="6299743"/>
            <a:ext cx="344909" cy="276448"/>
          </a:xfrm>
          <a:prstGeom prst="rect">
            <a:avLst/>
          </a:prstGeom>
          <a:noFill/>
        </p:spPr>
        <p:txBody>
          <a:bodyPr wrap="none" anchor="ctr" lIns="0" rIns="0" tIns="0" bIns="0">
            <a:noAutofit/>
          </a:bodyPr>
          <a:lstStyle/>
          <a:p>
            <a:pPr algn="ctr"/>
            <a:r>
              <a:rPr sz="800" b="0" i="0">
                <a:solidFill>
                  <a:srgbClr val="000000"/>
                </a:solidFill>
                <a:latin typeface="Arial"/>
              </a:rPr>
              <a:t>After
AMPA</a:t>
            </a:r>
          </a:p>
        </p:txBody>
      </p:sp>
      <p:sp>
        <p:nvSpPr>
          <p:cNvPr id="92" name="TextBox 91"/>
          <p:cNvSpPr txBox="1"/>
          <p:nvPr/>
        </p:nvSpPr>
        <p:spPr>
          <a:xfrm>
            <a:off x="3404972" y="6299743"/>
            <a:ext cx="471487" cy="276448"/>
          </a:xfrm>
          <a:prstGeom prst="rect">
            <a:avLst/>
          </a:prstGeom>
          <a:noFill/>
        </p:spPr>
        <p:txBody>
          <a:bodyPr wrap="none" anchor="ctr" lIns="0" rIns="0" tIns="0" bIns="0">
            <a:noAutofit/>
          </a:bodyPr>
          <a:lstStyle/>
          <a:p>
            <a:pPr algn="ctr"/>
            <a:r>
              <a:rPr sz="800" b="0" i="0">
                <a:solidFill>
                  <a:srgbClr val="000000"/>
                </a:solidFill>
                <a:latin typeface="Arial"/>
              </a:rPr>
              <a:t>After
GABA-A</a:t>
            </a:r>
          </a:p>
        </p:txBody>
      </p:sp>
      <p:sp>
        <p:nvSpPr>
          <p:cNvPr id="93" name="TextBox 92"/>
          <p:cNvSpPr txBox="1"/>
          <p:nvPr/>
        </p:nvSpPr>
        <p:spPr>
          <a:xfrm rot="16200000">
            <a:off x="-353420" y="5390254"/>
            <a:ext cx="2188845" cy="150566"/>
          </a:xfrm>
          <a:prstGeom prst="rect">
            <a:avLst/>
          </a:prstGeom>
          <a:noFill/>
        </p:spPr>
        <p:txBody>
          <a:bodyPr wrap="none" anchor="ctr" lIns="0" rIns="0" tIns="0" bIns="0">
            <a:noAutofit/>
          </a:bodyPr>
          <a:lstStyle/>
          <a:p>
            <a:pPr algn="ctr"/>
            <a:r>
              <a:rPr sz="1000" b="0" i="0">
                <a:solidFill>
                  <a:srgbClr val="000000"/>
                </a:solidFill>
                <a:latin typeface="Arial"/>
              </a:rPr>
              <a:t>Adjusted HC − MDD difference</a:t>
            </a:r>
          </a:p>
        </p:txBody>
      </p:sp>
      <p:sp>
        <p:nvSpPr>
          <p:cNvPr id="94" name="TextBox 93"/>
          <p:cNvSpPr txBox="1"/>
          <p:nvPr/>
        </p:nvSpPr>
        <p:spPr>
          <a:xfrm>
            <a:off x="770906" y="6331004"/>
            <a:ext cx="214312" cy="119186"/>
          </a:xfrm>
          <a:prstGeom prst="rect">
            <a:avLst/>
          </a:prstGeom>
          <a:noFill/>
        </p:spPr>
        <p:txBody>
          <a:bodyPr wrap="none" anchor="ctr" lIns="0" rIns="0" tIns="0" bIns="0">
            <a:noAutofit/>
          </a:bodyPr>
          <a:lstStyle/>
          <a:p>
            <a:pPr algn="r"/>
            <a:r>
              <a:rPr sz="800" b="0" i="0">
                <a:solidFill>
                  <a:srgbClr val="000000"/>
                </a:solidFill>
                <a:latin typeface="Arial"/>
              </a:rPr>
              <a:t>-0.5</a:t>
            </a:r>
          </a:p>
        </p:txBody>
      </p:sp>
      <p:sp>
        <p:nvSpPr>
          <p:cNvPr id="95" name="TextBox 94"/>
          <p:cNvSpPr txBox="1"/>
          <p:nvPr/>
        </p:nvSpPr>
        <p:spPr>
          <a:xfrm>
            <a:off x="809483" y="6049814"/>
            <a:ext cx="171450" cy="119186"/>
          </a:xfrm>
          <a:prstGeom prst="rect">
            <a:avLst/>
          </a:prstGeom>
          <a:noFill/>
        </p:spPr>
        <p:txBody>
          <a:bodyPr wrap="none" anchor="ctr" lIns="0" rIns="0" tIns="0" bIns="0">
            <a:noAutofit/>
          </a:bodyPr>
          <a:lstStyle/>
          <a:p>
            <a:pPr algn="r"/>
            <a:r>
              <a:rPr sz="800" b="0" i="0">
                <a:solidFill>
                  <a:srgbClr val="000000"/>
                </a:solidFill>
                <a:latin typeface="Arial"/>
              </a:rPr>
              <a:t>0.0</a:t>
            </a:r>
          </a:p>
        </p:txBody>
      </p:sp>
      <p:sp>
        <p:nvSpPr>
          <p:cNvPr id="96" name="TextBox 95"/>
          <p:cNvSpPr txBox="1"/>
          <p:nvPr/>
        </p:nvSpPr>
        <p:spPr>
          <a:xfrm>
            <a:off x="809483" y="5768623"/>
            <a:ext cx="171450" cy="119186"/>
          </a:xfrm>
          <a:prstGeom prst="rect">
            <a:avLst/>
          </a:prstGeom>
          <a:noFill/>
        </p:spPr>
        <p:txBody>
          <a:bodyPr wrap="none" anchor="ctr" lIns="0" rIns="0" tIns="0" bIns="0">
            <a:noAutofit/>
          </a:bodyPr>
          <a:lstStyle/>
          <a:p>
            <a:pPr algn="r"/>
            <a:r>
              <a:rPr sz="800" b="0" i="0">
                <a:solidFill>
                  <a:srgbClr val="000000"/>
                </a:solidFill>
                <a:latin typeface="Arial"/>
              </a:rPr>
              <a:t>0.5</a:t>
            </a:r>
          </a:p>
        </p:txBody>
      </p:sp>
      <p:sp>
        <p:nvSpPr>
          <p:cNvPr id="97" name="TextBox 96"/>
          <p:cNvSpPr txBox="1"/>
          <p:nvPr/>
        </p:nvSpPr>
        <p:spPr>
          <a:xfrm>
            <a:off x="809483" y="5487433"/>
            <a:ext cx="171450"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98" name="TextBox 97"/>
          <p:cNvSpPr txBox="1"/>
          <p:nvPr/>
        </p:nvSpPr>
        <p:spPr>
          <a:xfrm>
            <a:off x="809483" y="5206242"/>
            <a:ext cx="171450" cy="119186"/>
          </a:xfrm>
          <a:prstGeom prst="rect">
            <a:avLst/>
          </a:prstGeom>
          <a:noFill/>
        </p:spPr>
        <p:txBody>
          <a:bodyPr wrap="none" anchor="ctr" lIns="0" rIns="0" tIns="0" bIns="0">
            <a:noAutofit/>
          </a:bodyPr>
          <a:lstStyle/>
          <a:p>
            <a:pPr algn="r"/>
            <a:r>
              <a:rPr sz="800" b="0" i="0">
                <a:solidFill>
                  <a:srgbClr val="000000"/>
                </a:solidFill>
                <a:latin typeface="Arial"/>
              </a:rPr>
              <a:t>1.5</a:t>
            </a:r>
          </a:p>
        </p:txBody>
      </p:sp>
      <p:sp>
        <p:nvSpPr>
          <p:cNvPr id="99" name="TextBox 98"/>
          <p:cNvSpPr txBox="1"/>
          <p:nvPr/>
        </p:nvSpPr>
        <p:spPr>
          <a:xfrm>
            <a:off x="809483" y="4925052"/>
            <a:ext cx="171450" cy="119186"/>
          </a:xfrm>
          <a:prstGeom prst="rect">
            <a:avLst/>
          </a:prstGeom>
          <a:noFill/>
        </p:spPr>
        <p:txBody>
          <a:bodyPr wrap="none" anchor="ctr" lIns="0" rIns="0" tIns="0" bIns="0">
            <a:noAutofit/>
          </a:bodyPr>
          <a:lstStyle/>
          <a:p>
            <a:pPr algn="r"/>
            <a:r>
              <a:rPr sz="800" b="0" i="0">
                <a:solidFill>
                  <a:srgbClr val="000000"/>
                </a:solidFill>
                <a:latin typeface="Arial"/>
              </a:rPr>
              <a:t>2.0</a:t>
            </a:r>
          </a:p>
        </p:txBody>
      </p:sp>
      <p:sp>
        <p:nvSpPr>
          <p:cNvPr id="100" name="TextBox 99"/>
          <p:cNvSpPr txBox="1"/>
          <p:nvPr/>
        </p:nvSpPr>
        <p:spPr>
          <a:xfrm>
            <a:off x="809483" y="4643861"/>
            <a:ext cx="171450" cy="119186"/>
          </a:xfrm>
          <a:prstGeom prst="rect">
            <a:avLst/>
          </a:prstGeom>
          <a:noFill/>
        </p:spPr>
        <p:txBody>
          <a:bodyPr wrap="none" anchor="ctr" lIns="0" rIns="0" tIns="0" bIns="0">
            <a:noAutofit/>
          </a:bodyPr>
          <a:lstStyle/>
          <a:p>
            <a:pPr algn="r"/>
            <a:r>
              <a:rPr sz="800" b="0" i="0">
                <a:solidFill>
                  <a:srgbClr val="000000"/>
                </a:solidFill>
                <a:latin typeface="Arial"/>
              </a:rPr>
              <a:t>2.5</a:t>
            </a:r>
          </a:p>
        </p:txBody>
      </p:sp>
      <p:sp>
        <p:nvSpPr>
          <p:cNvPr id="101" name="TextBox 100"/>
          <p:cNvSpPr txBox="1"/>
          <p:nvPr/>
        </p:nvSpPr>
        <p:spPr>
          <a:xfrm>
            <a:off x="809483" y="4362671"/>
            <a:ext cx="171450" cy="119186"/>
          </a:xfrm>
          <a:prstGeom prst="rect">
            <a:avLst/>
          </a:prstGeom>
          <a:noFill/>
        </p:spPr>
        <p:txBody>
          <a:bodyPr wrap="none" anchor="ctr" lIns="0" rIns="0" tIns="0" bIns="0">
            <a:noAutofit/>
          </a:bodyPr>
          <a:lstStyle/>
          <a:p>
            <a:pPr algn="r"/>
            <a:r>
              <a:rPr sz="800" b="0" i="0">
                <a:solidFill>
                  <a:srgbClr val="000000"/>
                </a:solidFill>
                <a:latin typeface="Arial"/>
              </a:rPr>
              <a:t>3.0</a:t>
            </a:r>
          </a:p>
        </p:txBody>
      </p:sp>
      <p:sp>
        <p:nvSpPr>
          <p:cNvPr id="102" name="TextBox 101"/>
          <p:cNvSpPr txBox="1"/>
          <p:nvPr/>
        </p:nvSpPr>
        <p:spPr>
          <a:xfrm>
            <a:off x="1177973" y="5971075"/>
            <a:ext cx="588645" cy="134084"/>
          </a:xfrm>
          <a:prstGeom prst="rect">
            <a:avLst/>
          </a:prstGeom>
          <a:noFill/>
        </p:spPr>
        <p:txBody>
          <a:bodyPr wrap="none" anchor="ctr" lIns="0" rIns="0" tIns="0" bIns="0">
            <a:noAutofit/>
          </a:bodyPr>
          <a:lstStyle/>
          <a:p>
            <a:pPr algn="l"/>
            <a:r>
              <a:rPr sz="900" b="0" i="0">
                <a:solidFill>
                  <a:srgbClr val="000000"/>
                </a:solidFill>
                <a:latin typeface="Arial"/>
              </a:rPr>
              <a:t>Empirical</a:t>
            </a:r>
          </a:p>
        </p:txBody>
      </p:sp>
      <p:sp>
        <p:nvSpPr>
          <p:cNvPr id="103" name="TextBox 102"/>
          <p:cNvSpPr txBox="1"/>
          <p:nvPr/>
        </p:nvSpPr>
        <p:spPr>
          <a:xfrm>
            <a:off x="1173115" y="6112462"/>
            <a:ext cx="637222" cy="135795"/>
          </a:xfrm>
          <a:prstGeom prst="rect">
            <a:avLst/>
          </a:prstGeom>
          <a:noFill/>
        </p:spPr>
        <p:txBody>
          <a:bodyPr wrap="none" anchor="ctr" lIns="0" rIns="0" tIns="0" bIns="0">
            <a:noAutofit/>
          </a:bodyPr>
          <a:lstStyle/>
          <a:p>
            <a:pPr algn="l"/>
            <a:r>
              <a:rPr sz="900" b="0" i="0">
                <a:solidFill>
                  <a:srgbClr val="000000"/>
                </a:solidFill>
                <a:latin typeface="Arial"/>
              </a:rPr>
              <a:t>Simulated</a:t>
            </a:r>
          </a:p>
        </p:txBody>
      </p:sp>
      <p:sp>
        <p:nvSpPr>
          <p:cNvPr id="104" name="TextBox 103"/>
          <p:cNvSpPr txBox="1"/>
          <p:nvPr/>
        </p:nvSpPr>
        <p:spPr>
          <a:xfrm>
            <a:off x="5516437" y="4816230"/>
            <a:ext cx="54292"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105" name="TextBox 104"/>
          <p:cNvSpPr txBox="1"/>
          <p:nvPr/>
        </p:nvSpPr>
        <p:spPr>
          <a:xfrm>
            <a:off x="5810356" y="4631792"/>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106" name="TextBox 105"/>
          <p:cNvSpPr txBox="1"/>
          <p:nvPr/>
        </p:nvSpPr>
        <p:spPr>
          <a:xfrm>
            <a:off x="4891048" y="6228951"/>
            <a:ext cx="608647" cy="148983"/>
          </a:xfrm>
          <a:prstGeom prst="rect">
            <a:avLst/>
          </a:prstGeom>
          <a:noFill/>
        </p:spPr>
        <p:txBody>
          <a:bodyPr wrap="none" anchor="ctr" lIns="0" rIns="0" tIns="0" bIns="0">
            <a:noAutofit/>
          </a:bodyPr>
          <a:lstStyle/>
          <a:p>
            <a:pPr algn="ctr"/>
            <a:r>
              <a:rPr sz="1000" b="0" i="0">
                <a:solidFill>
                  <a:srgbClr val="000000"/>
                </a:solidFill>
                <a:latin typeface="Arial"/>
              </a:rPr>
              <a:t>Baseline</a:t>
            </a:r>
          </a:p>
        </p:txBody>
      </p:sp>
      <p:sp>
        <p:nvSpPr>
          <p:cNvPr id="107" name="TextBox 106"/>
          <p:cNvSpPr txBox="1"/>
          <p:nvPr/>
        </p:nvSpPr>
        <p:spPr>
          <a:xfrm>
            <a:off x="5624797" y="6228951"/>
            <a:ext cx="533995" cy="148983"/>
          </a:xfrm>
          <a:prstGeom prst="rect">
            <a:avLst/>
          </a:prstGeom>
          <a:noFill/>
        </p:spPr>
        <p:txBody>
          <a:bodyPr wrap="none" anchor="ctr" lIns="0" rIns="0" tIns="0" bIns="0">
            <a:noAutofit/>
          </a:bodyPr>
          <a:lstStyle/>
          <a:p>
            <a:pPr algn="ctr"/>
            <a:r>
              <a:rPr sz="1000" b="0" i="0">
                <a:solidFill>
                  <a:srgbClr val="000000"/>
                </a:solidFill>
                <a:latin typeface="Arial"/>
              </a:rPr>
              <a:t>+AMPA</a:t>
            </a:r>
          </a:p>
        </p:txBody>
      </p:sp>
      <p:sp>
        <p:nvSpPr>
          <p:cNvPr id="108" name="TextBox 107"/>
          <p:cNvSpPr txBox="1"/>
          <p:nvPr/>
        </p:nvSpPr>
        <p:spPr>
          <a:xfrm>
            <a:off x="6239602" y="6228793"/>
            <a:ext cx="697230" cy="150566"/>
          </a:xfrm>
          <a:prstGeom prst="rect">
            <a:avLst/>
          </a:prstGeom>
          <a:noFill/>
        </p:spPr>
        <p:txBody>
          <a:bodyPr wrap="none" anchor="ctr" lIns="0" rIns="0" tIns="0" bIns="0">
            <a:noAutofit/>
          </a:bodyPr>
          <a:lstStyle/>
          <a:p>
            <a:pPr algn="ctr"/>
            <a:r>
              <a:rPr sz="1000" b="0" i="0">
                <a:solidFill>
                  <a:srgbClr val="000000"/>
                </a:solidFill>
                <a:latin typeface="Arial"/>
              </a:rPr>
              <a:t>+GABA-A</a:t>
            </a:r>
          </a:p>
        </p:txBody>
      </p:sp>
      <p:sp>
        <p:nvSpPr>
          <p:cNvPr id="109" name="TextBox 108"/>
          <p:cNvSpPr txBox="1"/>
          <p:nvPr/>
        </p:nvSpPr>
        <p:spPr>
          <a:xfrm rot="16200000">
            <a:off x="3685109" y="5306716"/>
            <a:ext cx="1677352" cy="150566"/>
          </a:xfrm>
          <a:prstGeom prst="rect">
            <a:avLst/>
          </a:prstGeom>
          <a:noFill/>
        </p:spPr>
        <p:txBody>
          <a:bodyPr wrap="none" anchor="ctr" lIns="0" rIns="0" tIns="0" bIns="0">
            <a:noAutofit/>
          </a:bodyPr>
          <a:lstStyle/>
          <a:p>
            <a:pPr algn="ctr"/>
            <a:r>
              <a:rPr sz="1000" b="0" i="0">
                <a:solidFill>
                  <a:srgbClr val="000000"/>
                </a:solidFill>
                <a:latin typeface="Arial"/>
              </a:rPr>
              <a:t>Depression-network FC</a:t>
            </a:r>
          </a:p>
        </p:txBody>
      </p:sp>
      <p:sp>
        <p:nvSpPr>
          <p:cNvPr id="110" name="TextBox 109"/>
          <p:cNvSpPr txBox="1"/>
          <p:nvPr/>
        </p:nvSpPr>
        <p:spPr>
          <a:xfrm>
            <a:off x="4618842" y="6226672"/>
            <a:ext cx="111442" cy="119186"/>
          </a:xfrm>
          <a:prstGeom prst="rect">
            <a:avLst/>
          </a:prstGeom>
          <a:noFill/>
        </p:spPr>
        <p:txBody>
          <a:bodyPr wrap="none" anchor="ctr" lIns="0" rIns="0" tIns="0" bIns="0">
            <a:noAutofit/>
          </a:bodyPr>
          <a:lstStyle/>
          <a:p>
            <a:pPr algn="r"/>
            <a:r>
              <a:rPr sz="800" b="0" i="0">
                <a:solidFill>
                  <a:srgbClr val="000000"/>
                </a:solidFill>
                <a:latin typeface="Arial"/>
              </a:rPr>
              <a:t>-5</a:t>
            </a:r>
          </a:p>
        </p:txBody>
      </p:sp>
      <p:sp>
        <p:nvSpPr>
          <p:cNvPr id="111" name="TextBox 110"/>
          <p:cNvSpPr txBox="1"/>
          <p:nvPr/>
        </p:nvSpPr>
        <p:spPr>
          <a:xfrm>
            <a:off x="4657418" y="5881318"/>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112" name="TextBox 111"/>
          <p:cNvSpPr txBox="1"/>
          <p:nvPr/>
        </p:nvSpPr>
        <p:spPr>
          <a:xfrm>
            <a:off x="4657418" y="5535963"/>
            <a:ext cx="68580" cy="119186"/>
          </a:xfrm>
          <a:prstGeom prst="rect">
            <a:avLst/>
          </a:prstGeom>
          <a:noFill/>
        </p:spPr>
        <p:txBody>
          <a:bodyPr wrap="none" anchor="ctr" lIns="0" rIns="0" tIns="0" bIns="0">
            <a:noAutofit/>
          </a:bodyPr>
          <a:lstStyle/>
          <a:p>
            <a:pPr algn="r"/>
            <a:r>
              <a:rPr sz="800" b="0" i="0">
                <a:solidFill>
                  <a:srgbClr val="000000"/>
                </a:solidFill>
                <a:latin typeface="Arial"/>
              </a:rPr>
              <a:t>5</a:t>
            </a:r>
          </a:p>
        </p:txBody>
      </p:sp>
      <p:sp>
        <p:nvSpPr>
          <p:cNvPr id="113" name="TextBox 112"/>
          <p:cNvSpPr txBox="1"/>
          <p:nvPr/>
        </p:nvSpPr>
        <p:spPr>
          <a:xfrm>
            <a:off x="4595696" y="5190609"/>
            <a:ext cx="137160"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114" name="TextBox 113"/>
          <p:cNvSpPr txBox="1"/>
          <p:nvPr/>
        </p:nvSpPr>
        <p:spPr>
          <a:xfrm>
            <a:off x="4595696" y="4845255"/>
            <a:ext cx="137160" cy="119186"/>
          </a:xfrm>
          <a:prstGeom prst="rect">
            <a:avLst/>
          </a:prstGeom>
          <a:noFill/>
        </p:spPr>
        <p:txBody>
          <a:bodyPr wrap="none" anchor="ctr" lIns="0" rIns="0" tIns="0" bIns="0">
            <a:noAutofit/>
          </a:bodyPr>
          <a:lstStyle/>
          <a:p>
            <a:pPr algn="r"/>
            <a:r>
              <a:rPr sz="800" b="0" i="0">
                <a:solidFill>
                  <a:srgbClr val="000000"/>
                </a:solidFill>
                <a:latin typeface="Arial"/>
              </a:rPr>
              <a:t>15</a:t>
            </a:r>
          </a:p>
        </p:txBody>
      </p:sp>
      <p:sp>
        <p:nvSpPr>
          <p:cNvPr id="115" name="TextBox 114"/>
          <p:cNvSpPr txBox="1"/>
          <p:nvPr/>
        </p:nvSpPr>
        <p:spPr>
          <a:xfrm>
            <a:off x="4595696" y="4499900"/>
            <a:ext cx="137160" cy="119186"/>
          </a:xfrm>
          <a:prstGeom prst="rect">
            <a:avLst/>
          </a:prstGeom>
          <a:noFill/>
        </p:spPr>
        <p:txBody>
          <a:bodyPr wrap="none" anchor="ctr" lIns="0" rIns="0" tIns="0" bIns="0">
            <a:noAutofit/>
          </a:bodyPr>
          <a:lstStyle/>
          <a:p>
            <a:pPr algn="r"/>
            <a:r>
              <a:rPr sz="800" b="0" i="0">
                <a:solidFill>
                  <a:srgbClr val="000000"/>
                </a:solidFill>
                <a:latin typeface="Arial"/>
              </a:rPr>
              <a:t>20</a:t>
            </a:r>
          </a:p>
        </p:txBody>
      </p:sp>
      <p:sp>
        <p:nvSpPr>
          <p:cNvPr id="116" name="TextBox 115"/>
          <p:cNvSpPr txBox="1"/>
          <p:nvPr/>
        </p:nvSpPr>
        <p:spPr>
          <a:xfrm>
            <a:off x="530284" y="468106"/>
            <a:ext cx="97154" cy="163881"/>
          </a:xfrm>
          <a:prstGeom prst="rect">
            <a:avLst/>
          </a:prstGeom>
          <a:noFill/>
        </p:spPr>
        <p:txBody>
          <a:bodyPr wrap="none" anchor="ctr" lIns="0" rIns="0" tIns="0" bIns="0">
            <a:noAutofit/>
          </a:bodyPr>
          <a:lstStyle/>
          <a:p>
            <a:pPr algn="l"/>
            <a:r>
              <a:rPr sz="1100" b="1" i="0">
                <a:solidFill>
                  <a:srgbClr val="000000"/>
                </a:solidFill>
                <a:latin typeface="Arial"/>
              </a:rPr>
              <a:t>a</a:t>
            </a:r>
          </a:p>
        </p:txBody>
      </p:sp>
      <p:sp>
        <p:nvSpPr>
          <p:cNvPr id="117" name="TextBox 116"/>
          <p:cNvSpPr txBox="1"/>
          <p:nvPr/>
        </p:nvSpPr>
        <p:spPr>
          <a:xfrm>
            <a:off x="529427" y="2628106"/>
            <a:ext cx="105727" cy="163881"/>
          </a:xfrm>
          <a:prstGeom prst="rect">
            <a:avLst/>
          </a:prstGeom>
          <a:noFill/>
        </p:spPr>
        <p:txBody>
          <a:bodyPr wrap="none" anchor="ctr" lIns="0" rIns="0" tIns="0" bIns="0">
            <a:noAutofit/>
          </a:bodyPr>
          <a:lstStyle/>
          <a:p>
            <a:pPr algn="l"/>
            <a:r>
              <a:rPr sz="1100" b="1" i="0">
                <a:solidFill>
                  <a:srgbClr val="000000"/>
                </a:solidFill>
                <a:latin typeface="Arial"/>
              </a:rPr>
              <a:t>b</a:t>
            </a:r>
          </a:p>
        </p:txBody>
      </p:sp>
      <p:sp>
        <p:nvSpPr>
          <p:cNvPr id="118" name="TextBox 117"/>
          <p:cNvSpPr txBox="1"/>
          <p:nvPr/>
        </p:nvSpPr>
        <p:spPr>
          <a:xfrm>
            <a:off x="530284" y="4410106"/>
            <a:ext cx="97154" cy="163881"/>
          </a:xfrm>
          <a:prstGeom prst="rect">
            <a:avLst/>
          </a:prstGeom>
          <a:noFill/>
        </p:spPr>
        <p:txBody>
          <a:bodyPr wrap="none" anchor="ctr" lIns="0" rIns="0" tIns="0" bIns="0">
            <a:noAutofit/>
          </a:bodyPr>
          <a:lstStyle/>
          <a:p>
            <a:pPr algn="l"/>
            <a:r>
              <a:rPr sz="1100" b="1" i="0">
                <a:solidFill>
                  <a:srgbClr val="000000"/>
                </a:solidFill>
                <a:latin typeface="Arial"/>
              </a:rPr>
              <a:t>c</a:t>
            </a:r>
          </a:p>
        </p:txBody>
      </p:sp>
      <p:sp>
        <p:nvSpPr>
          <p:cNvPr id="119" name="TextBox 118"/>
          <p:cNvSpPr txBox="1"/>
          <p:nvPr/>
        </p:nvSpPr>
        <p:spPr>
          <a:xfrm>
            <a:off x="4312211" y="4410106"/>
            <a:ext cx="105727" cy="163881"/>
          </a:xfrm>
          <a:prstGeom prst="rect">
            <a:avLst/>
          </a:prstGeom>
          <a:noFill/>
        </p:spPr>
        <p:txBody>
          <a:bodyPr wrap="none" anchor="ctr" lIns="0" rIns="0" tIns="0" bIns="0">
            <a:noAutofit/>
          </a:bodyPr>
          <a:lstStyle/>
          <a:p>
            <a:pPr algn="l"/>
            <a:r>
              <a:rPr sz="1100" b="1" i="0">
                <a:solidFill>
                  <a:srgbClr val="000000"/>
                </a:solidFill>
                <a:latin typeface="Arial"/>
              </a:rPr>
              <a:t>d</a:t>
            </a:r>
          </a:p>
        </p:txBody>
      </p:sp>
      <p:sp>
        <p:nvSpPr>
          <p:cNvPr id="120" name="TextBox 119"/>
          <p:cNvSpPr txBox="1"/>
          <p:nvPr/>
        </p:nvSpPr>
        <p:spPr>
          <a:xfrm>
            <a:off x="540000" y="6725537"/>
            <a:ext cx="6480000" cy="2939400"/>
          </a:xfrm>
          <a:prstGeom prst="rect">
            <a:avLst/>
          </a:prstGeom>
          <a:noFill/>
        </p:spPr>
        <p:txBody>
          <a:bodyPr wrap="square" lIns="0" rIns="0" tIns="0" bIns="0">
            <a:spAutoFit/>
          </a:bodyPr>
          <a:lstStyle/>
          <a:p>
            <a:pPr algn="l"/>
            <a:r>
              <a:rPr sz="800" b="1">
                <a:latin typeface="Arial"/>
              </a:rPr>
              <a:t>Supplementary Fig. S6 | A depression-specific network: the AMPA perturbation abolishes the diagnostic difference, the GABA-A perturbation does not. </a:t>
            </a:r>
            <a:r>
              <a:rPr sz="800" b="0">
                <a:latin typeface="Arial"/>
              </a:rPr>
              <a:t>The depression-specific network is the set of 27 edges selected against the diagnosis in the population-scale simulation subsample (SI Results 5); every panel is computed in that same sample, n = 141 (healthy controls n = 69, MDD n = 72), and the measure is the summed connectivity of those 27 edges. The network was defined here, so a and b are descriptive of that selection rather than an independent test of it; what is tested is whether a perturbation of the digital twins moves the measure and whether it removes the group difference. Four conditions are compared throughout: the empirical connectivity, the simulated baseline of the twins, and the twins after the AMPA and after the GABA-A perturbation (GABA-A is applied on top of AMPA, as everywhere else in this work). Group tests are linear models of the condition on diagnosis with sex, recruitment site and mean head motion as covariates (df = 136), uncorrected across the four pre-specified conditions; a and c display adjusted values, i.e. the residual of those covariates plus that condition's own mean, so the covariates are removed without moving a condition off its real scale. Box plots show the median, 25th-75th percentiles and 1.5 x IQR whiskers with every subject overplotted. *P &lt; 0.05, **P &lt; 0.01, ***P &lt; 0.001; n.s., not significant. </a:t>
            </a:r>
            <a:r>
              <a:rPr sz="800" b="1">
                <a:latin typeface="Arial"/>
              </a:rPr>
              <a:t>a,</a:t>
            </a:r>
            <a:r>
              <a:rPr sz="800" b="0">
                <a:latin typeface="Arial"/>
              </a:rPr>
              <a:t> depression-network connectivity by diagnosis in each condition, each on its own scale: empirically 1.30 +/- 1.82 in controls versus 0.09 +/- 1.11 in MDD, adjusted difference 1.25 (95% CI 0.76 to 1.75, t = -4.98, df = 136, P = 1.9e-06, unadjusted Cohen's d = 0.81); in the simulated baseline 0.74 +/- 1.56 in controls versus -0.26 +/- 0.86 in MDD, adjusted difference 1.09 (95% CI 0.67 to 1.51, t = -5.13, df = 136, P = 9.9e-07, unadjusted Cohen's d = 0.80); after AMPA 0.68 +/- 0.76 in controls versus 0.51 +/- 0.80 in MDD, adjusted difference 0.13 (95% CI -0.13 to 0.39, t = -0.97, df = 136, P = 0.335, unadjusted Cohen's d = 0.22); after GABA-A 3.80 +/- 2.44 in controls versus 2.44 +/- 2.74 in MDD, adjusted difference 1.25 (95% CI 0.36 to 2.13, t = -2.78, df = 136, P = 0.00617, unadjusted Cohen's d = 0.52). The diagnostic difference survives in the simulated baseline, is abolished after AMPA and remains after GABA-A. </a:t>
            </a:r>
            <a:r>
              <a:rPr sz="800" b="1">
                <a:latin typeface="Arial"/>
              </a:rPr>
              <a:t>b,</a:t>
            </a:r>
            <a:r>
              <a:rPr sz="800" b="0">
                <a:latin typeface="Arial"/>
              </a:rPr>
              <a:t> the 27 edges of the network sorted by their adjusted effect size, oriented controls minus MDD and converted from the covariate model's t so that one convention holds across the figure (range -0.04 to 0.62). Filled symbols mark the 11 edges with an uncorrected P &lt; 0.05 empirically; 12 of the 27 reach the same threshold in the simulated baseline. 1 of these edges are shared with the NP-factor profile of Fig. 2. This panel resolves the empirical contrast of a edge by edge. Per-edge values are in depnet_edge_source_data.csv and carry no correction across edges. </a:t>
            </a:r>
            <a:r>
              <a:rPr sz="800" b="1">
                <a:latin typeface="Arial"/>
              </a:rPr>
              <a:t>c,</a:t>
            </a:r>
            <a:r>
              <a:rPr sz="800" b="0">
                <a:latin typeface="Arial"/>
              </a:rPr>
              <a:t> the same four contrasts as adjusted differences with their 95% confidence intervals; open symbol, empirical; filled symbols, simulated. The interval excludes zero in every condition except after AMPA, where it spans -0.13 to 0.39. The tests are those of a and are not repeated. </a:t>
            </a:r>
            <a:r>
              <a:rPr sz="800" b="1">
                <a:latin typeface="Arial"/>
              </a:rPr>
              <a:t>d,</a:t>
            </a:r>
            <a:r>
              <a:rPr sz="800" b="0">
                <a:latin typeface="Arial"/>
              </a:rPr>
              <a:t> the within-subject effect of each perturbation on the same measure, all 141 subjects pooled across diagnosis. AMPA raises it by +0.36 +/- 1.40 (94/141 subjects, 66.7%, increase), paired t = 3.03, df = 140, P = 0.00287; with the same covariates t = 2.34, df = 137, P = 0.0208. GABA-A raises it by +2.87 +/- 2.64 (124/141, 87.9%), paired t = 12.92, df = 140, P = 1.2e-25; adjusted t = 5.24, df = 137, P = 6.1e-07. Both perturbations therefore raise depression-network connectivity, but only AMPA removes the diagnostic difference.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