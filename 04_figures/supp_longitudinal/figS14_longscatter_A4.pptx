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gS14_longscatter_A4_bg.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1269108" y="626358"/>
            <a:ext cx="585787" cy="335212"/>
          </a:xfrm>
          <a:prstGeom prst="rect">
            <a:avLst/>
          </a:prstGeom>
          <a:noFill/>
        </p:spPr>
        <p:txBody>
          <a:bodyPr wrap="none" anchor="ctr" lIns="0" rIns="0" tIns="0" bIns="0">
            <a:noAutofit/>
          </a:bodyPr>
          <a:lstStyle/>
          <a:p>
            <a:pPr algn="l"/>
            <a:r>
              <a:rPr sz="900" b="0" i="0">
                <a:solidFill>
                  <a:srgbClr val="000000"/>
                </a:solidFill>
                <a:latin typeface="Arial"/>
              </a:rPr>
              <a:t>Age 19
r = −0.30</a:t>
            </a:r>
          </a:p>
        </p:txBody>
      </p:sp>
      <p:sp>
        <p:nvSpPr>
          <p:cNvPr id="4" name="TextBox 3"/>
          <p:cNvSpPr txBox="1"/>
          <p:nvPr/>
        </p:nvSpPr>
        <p:spPr>
          <a:xfrm>
            <a:off x="1278159" y="2011700"/>
            <a:ext cx="920115" cy="148983"/>
          </a:xfrm>
          <a:prstGeom prst="rect">
            <a:avLst/>
          </a:prstGeom>
          <a:noFill/>
        </p:spPr>
        <p:txBody>
          <a:bodyPr wrap="none" anchor="ctr" lIns="0" rIns="0" tIns="0" bIns="0">
            <a:noAutofit/>
          </a:bodyPr>
          <a:lstStyle/>
          <a:p>
            <a:pPr algn="ctr"/>
            <a:r>
              <a:rPr sz="1000" b="0" i="0">
                <a:solidFill>
                  <a:srgbClr val="000000"/>
                </a:solidFill>
                <a:latin typeface="Arial"/>
              </a:rPr>
              <a:t>Empirical NP</a:t>
            </a:r>
          </a:p>
        </p:txBody>
      </p:sp>
      <p:sp>
        <p:nvSpPr>
          <p:cNvPr id="5" name="TextBox 4"/>
          <p:cNvSpPr txBox="1"/>
          <p:nvPr/>
        </p:nvSpPr>
        <p:spPr>
          <a:xfrm>
            <a:off x="880517" y="1893931"/>
            <a:ext cx="214312" cy="119186"/>
          </a:xfrm>
          <a:prstGeom prst="rect">
            <a:avLst/>
          </a:prstGeom>
          <a:noFill/>
        </p:spPr>
        <p:txBody>
          <a:bodyPr wrap="none" anchor="ctr" lIns="0" rIns="0" tIns="0" bIns="0">
            <a:noAutofit/>
          </a:bodyPr>
          <a:lstStyle/>
          <a:p>
            <a:pPr algn="ctr"/>
            <a:r>
              <a:rPr sz="800" b="0" i="0">
                <a:solidFill>
                  <a:srgbClr val="000000"/>
                </a:solidFill>
                <a:latin typeface="Arial"/>
              </a:rPr>
              <a:t>-5.0</a:t>
            </a:r>
          </a:p>
        </p:txBody>
      </p:sp>
      <p:sp>
        <p:nvSpPr>
          <p:cNvPr id="6" name="TextBox 5"/>
          <p:cNvSpPr txBox="1"/>
          <p:nvPr/>
        </p:nvSpPr>
        <p:spPr>
          <a:xfrm>
            <a:off x="1297899" y="1893931"/>
            <a:ext cx="214312" cy="119186"/>
          </a:xfrm>
          <a:prstGeom prst="rect">
            <a:avLst/>
          </a:prstGeom>
          <a:noFill/>
        </p:spPr>
        <p:txBody>
          <a:bodyPr wrap="none" anchor="ctr" lIns="0" rIns="0" tIns="0" bIns="0">
            <a:noAutofit/>
          </a:bodyPr>
          <a:lstStyle/>
          <a:p>
            <a:pPr algn="ctr"/>
            <a:r>
              <a:rPr sz="800" b="0" i="0">
                <a:solidFill>
                  <a:srgbClr val="000000"/>
                </a:solidFill>
                <a:latin typeface="Arial"/>
              </a:rPr>
              <a:t>-2.5</a:t>
            </a:r>
          </a:p>
        </p:txBody>
      </p:sp>
      <p:sp>
        <p:nvSpPr>
          <p:cNvPr id="7" name="TextBox 6"/>
          <p:cNvSpPr txBox="1"/>
          <p:nvPr/>
        </p:nvSpPr>
        <p:spPr>
          <a:xfrm>
            <a:off x="1736711" y="1893931"/>
            <a:ext cx="171450" cy="119186"/>
          </a:xfrm>
          <a:prstGeom prst="rect">
            <a:avLst/>
          </a:prstGeom>
          <a:noFill/>
        </p:spPr>
        <p:txBody>
          <a:bodyPr wrap="none" anchor="ctr" lIns="0" rIns="0" tIns="0" bIns="0">
            <a:noAutofit/>
          </a:bodyPr>
          <a:lstStyle/>
          <a:p>
            <a:pPr algn="ctr"/>
            <a:r>
              <a:rPr sz="800" b="0" i="0">
                <a:solidFill>
                  <a:srgbClr val="000000"/>
                </a:solidFill>
                <a:latin typeface="Arial"/>
              </a:rPr>
              <a:t>0.0</a:t>
            </a:r>
          </a:p>
        </p:txBody>
      </p:sp>
      <p:sp>
        <p:nvSpPr>
          <p:cNvPr id="8" name="TextBox 7"/>
          <p:cNvSpPr txBox="1"/>
          <p:nvPr/>
        </p:nvSpPr>
        <p:spPr>
          <a:xfrm>
            <a:off x="2154093" y="1893931"/>
            <a:ext cx="171450" cy="119186"/>
          </a:xfrm>
          <a:prstGeom prst="rect">
            <a:avLst/>
          </a:prstGeom>
          <a:noFill/>
        </p:spPr>
        <p:txBody>
          <a:bodyPr wrap="none" anchor="ctr" lIns="0" rIns="0" tIns="0" bIns="0">
            <a:noAutofit/>
          </a:bodyPr>
          <a:lstStyle/>
          <a:p>
            <a:pPr algn="ctr"/>
            <a:r>
              <a:rPr sz="800" b="0" i="0">
                <a:solidFill>
                  <a:srgbClr val="000000"/>
                </a:solidFill>
                <a:latin typeface="Arial"/>
              </a:rPr>
              <a:t>2.5</a:t>
            </a:r>
          </a:p>
        </p:txBody>
      </p:sp>
      <p:sp>
        <p:nvSpPr>
          <p:cNvPr id="9" name="TextBox 8"/>
          <p:cNvSpPr txBox="1"/>
          <p:nvPr/>
        </p:nvSpPr>
        <p:spPr>
          <a:xfrm rot="16200000">
            <a:off x="191777" y="1069219"/>
            <a:ext cx="1254442" cy="345560"/>
          </a:xfrm>
          <a:prstGeom prst="rect">
            <a:avLst/>
          </a:prstGeom>
          <a:noFill/>
        </p:spPr>
        <p:txBody>
          <a:bodyPr wrap="none" anchor="ctr" lIns="0" rIns="0" tIns="0" bIns="0">
            <a:noAutofit/>
          </a:bodyPr>
          <a:lstStyle/>
          <a:p>
            <a:pPr algn="ctr"/>
            <a:r>
              <a:rPr sz="1000" b="0" i="0">
                <a:solidFill>
                  <a:srgbClr val="000000"/>
                </a:solidFill>
                <a:latin typeface="Arial"/>
              </a:rPr>
              <a:t>Internalising total,
age 19</a:t>
            </a:r>
          </a:p>
        </p:txBody>
      </p:sp>
      <p:sp>
        <p:nvSpPr>
          <p:cNvPr id="10" name="TextBox 9"/>
          <p:cNvSpPr txBox="1"/>
          <p:nvPr/>
        </p:nvSpPr>
        <p:spPr>
          <a:xfrm>
            <a:off x="1104111" y="2163529"/>
            <a:ext cx="180022"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11" name="TextBox 10"/>
          <p:cNvSpPr txBox="1"/>
          <p:nvPr/>
        </p:nvSpPr>
        <p:spPr>
          <a:xfrm>
            <a:off x="1204409" y="1760065"/>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12" name="TextBox 11"/>
          <p:cNvSpPr txBox="1"/>
          <p:nvPr/>
        </p:nvSpPr>
        <p:spPr>
          <a:xfrm>
            <a:off x="1142687" y="1356601"/>
            <a:ext cx="137160"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13" name="TextBox 12"/>
          <p:cNvSpPr txBox="1"/>
          <p:nvPr/>
        </p:nvSpPr>
        <p:spPr>
          <a:xfrm>
            <a:off x="1142687" y="953137"/>
            <a:ext cx="137160" cy="119186"/>
          </a:xfrm>
          <a:prstGeom prst="rect">
            <a:avLst/>
          </a:prstGeom>
          <a:noFill/>
        </p:spPr>
        <p:txBody>
          <a:bodyPr wrap="none" anchor="ctr" lIns="0" rIns="0" tIns="0" bIns="0">
            <a:noAutofit/>
          </a:bodyPr>
          <a:lstStyle/>
          <a:p>
            <a:pPr algn="r"/>
            <a:r>
              <a:rPr sz="800" b="0" i="0">
                <a:solidFill>
                  <a:srgbClr val="000000"/>
                </a:solidFill>
                <a:latin typeface="Arial"/>
              </a:rPr>
              <a:t>40</a:t>
            </a:r>
          </a:p>
        </p:txBody>
      </p:sp>
      <p:sp>
        <p:nvSpPr>
          <p:cNvPr id="14" name="TextBox 13"/>
          <p:cNvSpPr txBox="1"/>
          <p:nvPr/>
        </p:nvSpPr>
        <p:spPr>
          <a:xfrm>
            <a:off x="1142687" y="549673"/>
            <a:ext cx="137160" cy="119186"/>
          </a:xfrm>
          <a:prstGeom prst="rect">
            <a:avLst/>
          </a:prstGeom>
          <a:noFill/>
        </p:spPr>
        <p:txBody>
          <a:bodyPr wrap="none" anchor="ctr" lIns="0" rIns="0" tIns="0" bIns="0">
            <a:noAutofit/>
          </a:bodyPr>
          <a:lstStyle/>
          <a:p>
            <a:pPr algn="r"/>
            <a:r>
              <a:rPr sz="800" b="0" i="0">
                <a:solidFill>
                  <a:srgbClr val="000000"/>
                </a:solidFill>
                <a:latin typeface="Arial"/>
              </a:rPr>
              <a:t>60</a:t>
            </a:r>
          </a:p>
        </p:txBody>
      </p:sp>
      <p:sp>
        <p:nvSpPr>
          <p:cNvPr id="15" name="TextBox 14"/>
          <p:cNvSpPr txBox="1"/>
          <p:nvPr/>
        </p:nvSpPr>
        <p:spPr>
          <a:xfrm>
            <a:off x="3412666" y="609598"/>
            <a:ext cx="1317307" cy="502818"/>
          </a:xfrm>
          <a:prstGeom prst="rect">
            <a:avLst/>
          </a:prstGeom>
          <a:noFill/>
        </p:spPr>
        <p:txBody>
          <a:bodyPr wrap="none" anchor="ctr" lIns="0" rIns="0" tIns="0" bIns="0">
            <a:noAutofit/>
          </a:bodyPr>
          <a:lstStyle/>
          <a:p>
            <a:pPr algn="l"/>
            <a:r>
              <a:rPr sz="900" b="0" i="0">
                <a:solidFill>
                  <a:srgbClr val="000000"/>
                </a:solidFill>
                <a:latin typeface="Arial"/>
              </a:rPr>
              <a:t>AMPA
covariate: symptoms
r = 0.24</a:t>
            </a:r>
          </a:p>
        </p:txBody>
      </p:sp>
      <p:sp>
        <p:nvSpPr>
          <p:cNvPr id="16" name="TextBox 15"/>
          <p:cNvSpPr txBox="1"/>
          <p:nvPr/>
        </p:nvSpPr>
        <p:spPr>
          <a:xfrm>
            <a:off x="3333420" y="1992043"/>
            <a:ext cx="1243012" cy="345560"/>
          </a:xfrm>
          <a:prstGeom prst="rect">
            <a:avLst/>
          </a:prstGeom>
          <a:noFill/>
        </p:spPr>
        <p:txBody>
          <a:bodyPr wrap="none" anchor="ctr" lIns="0" rIns="0" tIns="0" bIns="0">
            <a:noAutofit/>
          </a:bodyPr>
          <a:lstStyle/>
          <a:p>
            <a:pPr algn="ctr"/>
            <a:r>
              <a:rPr sz="1000" b="0" i="0">
                <a:solidFill>
                  <a:srgbClr val="000000"/>
                </a:solidFill>
                <a:latin typeface="Arial"/>
              </a:rPr>
              <a:t>Restoration index
(residual)</a:t>
            </a:r>
          </a:p>
        </p:txBody>
      </p:sp>
      <p:sp>
        <p:nvSpPr>
          <p:cNvPr id="17" name="TextBox 16"/>
          <p:cNvSpPr txBox="1"/>
          <p:nvPr/>
        </p:nvSpPr>
        <p:spPr>
          <a:xfrm>
            <a:off x="3150890" y="1893931"/>
            <a:ext cx="180022" cy="119186"/>
          </a:xfrm>
          <a:prstGeom prst="rect">
            <a:avLst/>
          </a:prstGeom>
          <a:noFill/>
        </p:spPr>
        <p:txBody>
          <a:bodyPr wrap="none" anchor="ctr" lIns="0" rIns="0" tIns="0" bIns="0">
            <a:noAutofit/>
          </a:bodyPr>
          <a:lstStyle/>
          <a:p>
            <a:pPr algn="ctr"/>
            <a:r>
              <a:rPr sz="800" b="0" i="0">
                <a:solidFill>
                  <a:srgbClr val="000000"/>
                </a:solidFill>
                <a:latin typeface="Arial"/>
              </a:rPr>
              <a:t>-20</a:t>
            </a:r>
          </a:p>
        </p:txBody>
      </p:sp>
      <p:sp>
        <p:nvSpPr>
          <p:cNvPr id="18" name="TextBox 17"/>
          <p:cNvSpPr txBox="1"/>
          <p:nvPr/>
        </p:nvSpPr>
        <p:spPr>
          <a:xfrm>
            <a:off x="3530062" y="1893931"/>
            <a:ext cx="180022" cy="119186"/>
          </a:xfrm>
          <a:prstGeom prst="rect">
            <a:avLst/>
          </a:prstGeom>
          <a:noFill/>
        </p:spPr>
        <p:txBody>
          <a:bodyPr wrap="none" anchor="ctr" lIns="0" rIns="0" tIns="0" bIns="0">
            <a:noAutofit/>
          </a:bodyPr>
          <a:lstStyle/>
          <a:p>
            <a:pPr algn="ctr"/>
            <a:r>
              <a:rPr sz="800" b="0" i="0">
                <a:solidFill>
                  <a:srgbClr val="000000"/>
                </a:solidFill>
                <a:latin typeface="Arial"/>
              </a:rPr>
              <a:t>-10</a:t>
            </a:r>
          </a:p>
        </p:txBody>
      </p:sp>
      <p:sp>
        <p:nvSpPr>
          <p:cNvPr id="19" name="TextBox 18"/>
          <p:cNvSpPr txBox="1"/>
          <p:nvPr/>
        </p:nvSpPr>
        <p:spPr>
          <a:xfrm>
            <a:off x="3964955" y="1893931"/>
            <a:ext cx="68580" cy="119186"/>
          </a:xfrm>
          <a:prstGeom prst="rect">
            <a:avLst/>
          </a:prstGeom>
          <a:noFill/>
        </p:spPr>
        <p:txBody>
          <a:bodyPr wrap="none" anchor="ctr" lIns="0" rIns="0" tIns="0" bIns="0">
            <a:noAutofit/>
          </a:bodyPr>
          <a:lstStyle/>
          <a:p>
            <a:pPr algn="ctr"/>
            <a:r>
              <a:rPr sz="800" b="0" i="0">
                <a:solidFill>
                  <a:srgbClr val="000000"/>
                </a:solidFill>
                <a:latin typeface="Arial"/>
              </a:rPr>
              <a:t>0</a:t>
            </a:r>
          </a:p>
        </p:txBody>
      </p:sp>
      <p:sp>
        <p:nvSpPr>
          <p:cNvPr id="20" name="TextBox 19"/>
          <p:cNvSpPr txBox="1"/>
          <p:nvPr/>
        </p:nvSpPr>
        <p:spPr>
          <a:xfrm>
            <a:off x="4309837" y="1893931"/>
            <a:ext cx="137160" cy="119186"/>
          </a:xfrm>
          <a:prstGeom prst="rect">
            <a:avLst/>
          </a:prstGeom>
          <a:noFill/>
        </p:spPr>
        <p:txBody>
          <a:bodyPr wrap="none" anchor="ctr" lIns="0" rIns="0" tIns="0" bIns="0">
            <a:noAutofit/>
          </a:bodyPr>
          <a:lstStyle/>
          <a:p>
            <a:pPr algn="ctr"/>
            <a:r>
              <a:rPr sz="800" b="0" i="0">
                <a:solidFill>
                  <a:srgbClr val="000000"/>
                </a:solidFill>
                <a:latin typeface="Arial"/>
              </a:rPr>
              <a:t>10</a:t>
            </a:r>
          </a:p>
        </p:txBody>
      </p:sp>
      <p:sp>
        <p:nvSpPr>
          <p:cNvPr id="21" name="TextBox 20"/>
          <p:cNvSpPr txBox="1"/>
          <p:nvPr/>
        </p:nvSpPr>
        <p:spPr>
          <a:xfrm>
            <a:off x="4689008" y="1893931"/>
            <a:ext cx="137160" cy="119186"/>
          </a:xfrm>
          <a:prstGeom prst="rect">
            <a:avLst/>
          </a:prstGeom>
          <a:noFill/>
        </p:spPr>
        <p:txBody>
          <a:bodyPr wrap="none" anchor="ctr" lIns="0" rIns="0" tIns="0" bIns="0">
            <a:noAutofit/>
          </a:bodyPr>
          <a:lstStyle/>
          <a:p>
            <a:pPr algn="ctr"/>
            <a:r>
              <a:rPr sz="800" b="0" i="0">
                <a:solidFill>
                  <a:srgbClr val="000000"/>
                </a:solidFill>
                <a:latin typeface="Arial"/>
              </a:rPr>
              <a:t>20</a:t>
            </a:r>
          </a:p>
        </p:txBody>
      </p:sp>
      <p:sp>
        <p:nvSpPr>
          <p:cNvPr id="22" name="TextBox 21"/>
          <p:cNvSpPr txBox="1"/>
          <p:nvPr/>
        </p:nvSpPr>
        <p:spPr>
          <a:xfrm rot="16200000">
            <a:off x="2459659" y="982038"/>
            <a:ext cx="1291590" cy="519923"/>
          </a:xfrm>
          <a:prstGeom prst="rect">
            <a:avLst/>
          </a:prstGeom>
          <a:noFill/>
        </p:spPr>
        <p:txBody>
          <a:bodyPr wrap="none" anchor="ctr" lIns="0" rIns="0" tIns="0" bIns="0">
            <a:noAutofit/>
          </a:bodyPr>
          <a:lstStyle/>
          <a:p>
            <a:pPr algn="ctr"/>
            <a:r>
              <a:rPr sz="1000" b="0" i="0">
                <a:solidFill>
                  <a:srgbClr val="000000"/>
                </a:solidFill>
                <a:latin typeface="Arial"/>
              </a:rPr>
              <a:t>Symptom change,
age 19–23
(residual)</a:t>
            </a:r>
          </a:p>
        </p:txBody>
      </p:sp>
      <p:sp>
        <p:nvSpPr>
          <p:cNvPr id="23" name="TextBox 22"/>
          <p:cNvSpPr txBox="1"/>
          <p:nvPr/>
        </p:nvSpPr>
        <p:spPr>
          <a:xfrm>
            <a:off x="3320821" y="2000754"/>
            <a:ext cx="180022"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24" name="TextBox 23"/>
          <p:cNvSpPr txBox="1"/>
          <p:nvPr/>
        </p:nvSpPr>
        <p:spPr>
          <a:xfrm>
            <a:off x="3320821" y="1703486"/>
            <a:ext cx="180022"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25" name="TextBox 24"/>
          <p:cNvSpPr txBox="1"/>
          <p:nvPr/>
        </p:nvSpPr>
        <p:spPr>
          <a:xfrm>
            <a:off x="3421119" y="1406217"/>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26" name="TextBox 25"/>
          <p:cNvSpPr txBox="1"/>
          <p:nvPr/>
        </p:nvSpPr>
        <p:spPr>
          <a:xfrm>
            <a:off x="3359397" y="1108949"/>
            <a:ext cx="137160"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27" name="TextBox 26"/>
          <p:cNvSpPr txBox="1"/>
          <p:nvPr/>
        </p:nvSpPr>
        <p:spPr>
          <a:xfrm>
            <a:off x="3359397" y="811680"/>
            <a:ext cx="137160"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28" name="TextBox 27"/>
          <p:cNvSpPr txBox="1"/>
          <p:nvPr/>
        </p:nvSpPr>
        <p:spPr>
          <a:xfrm>
            <a:off x="3359397" y="514412"/>
            <a:ext cx="137160" cy="119186"/>
          </a:xfrm>
          <a:prstGeom prst="rect">
            <a:avLst/>
          </a:prstGeom>
          <a:noFill/>
        </p:spPr>
        <p:txBody>
          <a:bodyPr wrap="none" anchor="ctr" lIns="0" rIns="0" tIns="0" bIns="0">
            <a:noAutofit/>
          </a:bodyPr>
          <a:lstStyle/>
          <a:p>
            <a:pPr algn="r"/>
            <a:r>
              <a:rPr sz="800" b="0" i="0">
                <a:solidFill>
                  <a:srgbClr val="000000"/>
                </a:solidFill>
                <a:latin typeface="Arial"/>
              </a:rPr>
              <a:t>30</a:t>
            </a:r>
          </a:p>
        </p:txBody>
      </p:sp>
      <p:sp>
        <p:nvSpPr>
          <p:cNvPr id="29" name="TextBox 28"/>
          <p:cNvSpPr txBox="1"/>
          <p:nvPr/>
        </p:nvSpPr>
        <p:spPr>
          <a:xfrm>
            <a:off x="5763491" y="609598"/>
            <a:ext cx="987355" cy="502818"/>
          </a:xfrm>
          <a:prstGeom prst="rect">
            <a:avLst/>
          </a:prstGeom>
          <a:noFill/>
        </p:spPr>
        <p:txBody>
          <a:bodyPr wrap="none" anchor="ctr" lIns="0" rIns="0" tIns="0" bIns="0">
            <a:noAutofit/>
          </a:bodyPr>
          <a:lstStyle/>
          <a:p>
            <a:pPr algn="l"/>
            <a:r>
              <a:rPr sz="900" b="0" i="0">
                <a:solidFill>
                  <a:srgbClr val="000000"/>
                </a:solidFill>
                <a:latin typeface="Arial"/>
              </a:rPr>
              <a:t>Model of b
(AMPA + items)
r = 0.48</a:t>
            </a:r>
          </a:p>
        </p:txBody>
      </p:sp>
      <p:sp>
        <p:nvSpPr>
          <p:cNvPr id="30" name="TextBox 29"/>
          <p:cNvSpPr txBox="1"/>
          <p:nvPr/>
        </p:nvSpPr>
        <p:spPr>
          <a:xfrm>
            <a:off x="5302635" y="2011700"/>
            <a:ext cx="1940242" cy="148983"/>
          </a:xfrm>
          <a:prstGeom prst="rect">
            <a:avLst/>
          </a:prstGeom>
          <a:noFill/>
        </p:spPr>
        <p:txBody>
          <a:bodyPr wrap="none" anchor="ctr" lIns="0" rIns="0" tIns="0" bIns="0">
            <a:noAutofit/>
          </a:bodyPr>
          <a:lstStyle/>
          <a:p>
            <a:pPr algn="ctr"/>
            <a:r>
              <a:rPr sz="1000" b="0" i="0">
                <a:solidFill>
                  <a:srgbClr val="000000"/>
                </a:solidFill>
                <a:latin typeface="Arial"/>
              </a:rPr>
              <a:t>Predicted symptom change</a:t>
            </a:r>
          </a:p>
        </p:txBody>
      </p:sp>
      <p:sp>
        <p:nvSpPr>
          <p:cNvPr id="31" name="TextBox 30"/>
          <p:cNvSpPr txBox="1"/>
          <p:nvPr/>
        </p:nvSpPr>
        <p:spPr>
          <a:xfrm>
            <a:off x="5203132" y="1893931"/>
            <a:ext cx="180022" cy="119186"/>
          </a:xfrm>
          <a:prstGeom prst="rect">
            <a:avLst/>
          </a:prstGeom>
          <a:noFill/>
        </p:spPr>
        <p:txBody>
          <a:bodyPr wrap="none" anchor="ctr" lIns="0" rIns="0" tIns="0" bIns="0">
            <a:noAutofit/>
          </a:bodyPr>
          <a:lstStyle/>
          <a:p>
            <a:pPr algn="ctr"/>
            <a:r>
              <a:rPr sz="800" b="0" i="0">
                <a:solidFill>
                  <a:srgbClr val="000000"/>
                </a:solidFill>
                <a:latin typeface="Arial"/>
              </a:rPr>
              <a:t>-20</a:t>
            </a:r>
          </a:p>
        </p:txBody>
      </p:sp>
      <p:sp>
        <p:nvSpPr>
          <p:cNvPr id="32" name="TextBox 31"/>
          <p:cNvSpPr txBox="1"/>
          <p:nvPr/>
        </p:nvSpPr>
        <p:spPr>
          <a:xfrm>
            <a:off x="5815537" y="1893931"/>
            <a:ext cx="180022" cy="119186"/>
          </a:xfrm>
          <a:prstGeom prst="rect">
            <a:avLst/>
          </a:prstGeom>
          <a:noFill/>
        </p:spPr>
        <p:txBody>
          <a:bodyPr wrap="none" anchor="ctr" lIns="0" rIns="0" tIns="0" bIns="0">
            <a:noAutofit/>
          </a:bodyPr>
          <a:lstStyle/>
          <a:p>
            <a:pPr algn="ctr"/>
            <a:r>
              <a:rPr sz="800" b="0" i="0">
                <a:solidFill>
                  <a:srgbClr val="000000"/>
                </a:solidFill>
                <a:latin typeface="Arial"/>
              </a:rPr>
              <a:t>-10</a:t>
            </a:r>
          </a:p>
        </p:txBody>
      </p:sp>
      <p:sp>
        <p:nvSpPr>
          <p:cNvPr id="33" name="TextBox 32"/>
          <p:cNvSpPr txBox="1"/>
          <p:nvPr/>
        </p:nvSpPr>
        <p:spPr>
          <a:xfrm>
            <a:off x="6483663" y="1893931"/>
            <a:ext cx="68580" cy="119186"/>
          </a:xfrm>
          <a:prstGeom prst="rect">
            <a:avLst/>
          </a:prstGeom>
          <a:noFill/>
        </p:spPr>
        <p:txBody>
          <a:bodyPr wrap="none" anchor="ctr" lIns="0" rIns="0" tIns="0" bIns="0">
            <a:noAutofit/>
          </a:bodyPr>
          <a:lstStyle/>
          <a:p>
            <a:pPr algn="ctr"/>
            <a:r>
              <a:rPr sz="800" b="0" i="0">
                <a:solidFill>
                  <a:srgbClr val="000000"/>
                </a:solidFill>
                <a:latin typeface="Arial"/>
              </a:rPr>
              <a:t>0</a:t>
            </a:r>
          </a:p>
        </p:txBody>
      </p:sp>
      <p:sp>
        <p:nvSpPr>
          <p:cNvPr id="34" name="TextBox 33"/>
          <p:cNvSpPr txBox="1"/>
          <p:nvPr/>
        </p:nvSpPr>
        <p:spPr>
          <a:xfrm>
            <a:off x="7061778" y="1893931"/>
            <a:ext cx="137160" cy="119186"/>
          </a:xfrm>
          <a:prstGeom prst="rect">
            <a:avLst/>
          </a:prstGeom>
          <a:noFill/>
        </p:spPr>
        <p:txBody>
          <a:bodyPr wrap="none" anchor="ctr" lIns="0" rIns="0" tIns="0" bIns="0">
            <a:noAutofit/>
          </a:bodyPr>
          <a:lstStyle/>
          <a:p>
            <a:pPr algn="ctr"/>
            <a:r>
              <a:rPr sz="800" b="0" i="0">
                <a:solidFill>
                  <a:srgbClr val="000000"/>
                </a:solidFill>
                <a:latin typeface="Arial"/>
              </a:rPr>
              <a:t>10</a:t>
            </a:r>
          </a:p>
        </p:txBody>
      </p:sp>
      <p:sp>
        <p:nvSpPr>
          <p:cNvPr id="35" name="TextBox 34"/>
          <p:cNvSpPr txBox="1"/>
          <p:nvPr/>
        </p:nvSpPr>
        <p:spPr>
          <a:xfrm rot="16200000">
            <a:off x="4708376" y="1068428"/>
            <a:ext cx="1291590" cy="347143"/>
          </a:xfrm>
          <a:prstGeom prst="rect">
            <a:avLst/>
          </a:prstGeom>
          <a:noFill/>
        </p:spPr>
        <p:txBody>
          <a:bodyPr wrap="none" anchor="ctr" lIns="0" rIns="0" tIns="0" bIns="0">
            <a:noAutofit/>
          </a:bodyPr>
          <a:lstStyle/>
          <a:p>
            <a:pPr algn="ctr"/>
            <a:r>
              <a:rPr sz="1000" b="0" i="0">
                <a:solidFill>
                  <a:srgbClr val="000000"/>
                </a:solidFill>
                <a:latin typeface="Arial"/>
              </a:rPr>
              <a:t>Symptom change,
age 19–23</a:t>
            </a:r>
          </a:p>
        </p:txBody>
      </p:sp>
      <p:sp>
        <p:nvSpPr>
          <p:cNvPr id="36" name="TextBox 35"/>
          <p:cNvSpPr txBox="1"/>
          <p:nvPr/>
        </p:nvSpPr>
        <p:spPr>
          <a:xfrm>
            <a:off x="5638651" y="2025310"/>
            <a:ext cx="180022" cy="119186"/>
          </a:xfrm>
          <a:prstGeom prst="rect">
            <a:avLst/>
          </a:prstGeom>
          <a:noFill/>
        </p:spPr>
        <p:txBody>
          <a:bodyPr wrap="none" anchor="ctr" lIns="0" rIns="0" tIns="0" bIns="0">
            <a:noAutofit/>
          </a:bodyPr>
          <a:lstStyle/>
          <a:p>
            <a:pPr algn="r"/>
            <a:r>
              <a:rPr sz="800" b="0" i="0">
                <a:solidFill>
                  <a:srgbClr val="000000"/>
                </a:solidFill>
                <a:latin typeface="Arial"/>
              </a:rPr>
              <a:t>-30</a:t>
            </a:r>
          </a:p>
        </p:txBody>
      </p:sp>
      <p:sp>
        <p:nvSpPr>
          <p:cNvPr id="37" name="TextBox 36"/>
          <p:cNvSpPr txBox="1"/>
          <p:nvPr/>
        </p:nvSpPr>
        <p:spPr>
          <a:xfrm>
            <a:off x="5638651" y="1769717"/>
            <a:ext cx="180022"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38" name="TextBox 37"/>
          <p:cNvSpPr txBox="1"/>
          <p:nvPr/>
        </p:nvSpPr>
        <p:spPr>
          <a:xfrm>
            <a:off x="5638651" y="1514123"/>
            <a:ext cx="180022"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39" name="TextBox 38"/>
          <p:cNvSpPr txBox="1"/>
          <p:nvPr/>
        </p:nvSpPr>
        <p:spPr>
          <a:xfrm>
            <a:off x="5738949" y="1258529"/>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40" name="TextBox 39"/>
          <p:cNvSpPr txBox="1"/>
          <p:nvPr/>
        </p:nvSpPr>
        <p:spPr>
          <a:xfrm>
            <a:off x="5677227" y="1002935"/>
            <a:ext cx="137160"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41" name="TextBox 40"/>
          <p:cNvSpPr txBox="1"/>
          <p:nvPr/>
        </p:nvSpPr>
        <p:spPr>
          <a:xfrm>
            <a:off x="5677227" y="747341"/>
            <a:ext cx="137160"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42" name="TextBox 41"/>
          <p:cNvSpPr txBox="1"/>
          <p:nvPr/>
        </p:nvSpPr>
        <p:spPr>
          <a:xfrm>
            <a:off x="5677227" y="491748"/>
            <a:ext cx="137160" cy="119186"/>
          </a:xfrm>
          <a:prstGeom prst="rect">
            <a:avLst/>
          </a:prstGeom>
          <a:noFill/>
        </p:spPr>
        <p:txBody>
          <a:bodyPr wrap="none" anchor="ctr" lIns="0" rIns="0" tIns="0" bIns="0">
            <a:noAutofit/>
          </a:bodyPr>
          <a:lstStyle/>
          <a:p>
            <a:pPr algn="r"/>
            <a:r>
              <a:rPr sz="800" b="0" i="0">
                <a:solidFill>
                  <a:srgbClr val="000000"/>
                </a:solidFill>
                <a:latin typeface="Arial"/>
              </a:rPr>
              <a:t>30</a:t>
            </a:r>
          </a:p>
        </p:txBody>
      </p:sp>
      <p:sp>
        <p:nvSpPr>
          <p:cNvPr id="43" name="TextBox 42"/>
          <p:cNvSpPr txBox="1"/>
          <p:nvPr/>
        </p:nvSpPr>
        <p:spPr>
          <a:xfrm>
            <a:off x="1277681" y="2660358"/>
            <a:ext cx="500062" cy="335212"/>
          </a:xfrm>
          <a:prstGeom prst="rect">
            <a:avLst/>
          </a:prstGeom>
          <a:noFill/>
        </p:spPr>
        <p:txBody>
          <a:bodyPr wrap="none" anchor="ctr" lIns="0" rIns="0" tIns="0" bIns="0">
            <a:noAutofit/>
          </a:bodyPr>
          <a:lstStyle/>
          <a:p>
            <a:pPr algn="l"/>
            <a:r>
              <a:rPr sz="900" b="0" i="0">
                <a:solidFill>
                  <a:srgbClr val="000000"/>
                </a:solidFill>
                <a:latin typeface="Arial"/>
              </a:rPr>
              <a:t>AMPA
r = 0.10</a:t>
            </a:r>
          </a:p>
        </p:txBody>
      </p:sp>
      <p:sp>
        <p:nvSpPr>
          <p:cNvPr id="44" name="TextBox 43"/>
          <p:cNvSpPr txBox="1"/>
          <p:nvPr/>
        </p:nvSpPr>
        <p:spPr>
          <a:xfrm>
            <a:off x="1116711" y="4045700"/>
            <a:ext cx="1243012" cy="148983"/>
          </a:xfrm>
          <a:prstGeom prst="rect">
            <a:avLst/>
          </a:prstGeom>
          <a:noFill/>
        </p:spPr>
        <p:txBody>
          <a:bodyPr wrap="none" anchor="ctr" lIns="0" rIns="0" tIns="0" bIns="0">
            <a:noAutofit/>
          </a:bodyPr>
          <a:lstStyle/>
          <a:p>
            <a:pPr algn="ctr"/>
            <a:r>
              <a:rPr sz="1000" b="0" i="0">
                <a:solidFill>
                  <a:srgbClr val="000000"/>
                </a:solidFill>
                <a:latin typeface="Arial"/>
              </a:rPr>
              <a:t>Restoration index</a:t>
            </a:r>
          </a:p>
        </p:txBody>
      </p:sp>
      <p:sp>
        <p:nvSpPr>
          <p:cNvPr id="45" name="TextBox 44"/>
          <p:cNvSpPr txBox="1"/>
          <p:nvPr/>
        </p:nvSpPr>
        <p:spPr>
          <a:xfrm>
            <a:off x="1039343" y="3927931"/>
            <a:ext cx="180022" cy="119186"/>
          </a:xfrm>
          <a:prstGeom prst="rect">
            <a:avLst/>
          </a:prstGeom>
          <a:noFill/>
        </p:spPr>
        <p:txBody>
          <a:bodyPr wrap="none" anchor="ctr" lIns="0" rIns="0" tIns="0" bIns="0">
            <a:noAutofit/>
          </a:bodyPr>
          <a:lstStyle/>
          <a:p>
            <a:pPr algn="ctr"/>
            <a:r>
              <a:rPr sz="800" b="0" i="0">
                <a:solidFill>
                  <a:srgbClr val="000000"/>
                </a:solidFill>
                <a:latin typeface="Arial"/>
              </a:rPr>
              <a:t>-20</a:t>
            </a:r>
          </a:p>
        </p:txBody>
      </p:sp>
      <p:sp>
        <p:nvSpPr>
          <p:cNvPr id="46" name="TextBox 45"/>
          <p:cNvSpPr txBox="1"/>
          <p:nvPr/>
        </p:nvSpPr>
        <p:spPr>
          <a:xfrm>
            <a:off x="1368997" y="3927931"/>
            <a:ext cx="180022" cy="119186"/>
          </a:xfrm>
          <a:prstGeom prst="rect">
            <a:avLst/>
          </a:prstGeom>
          <a:noFill/>
        </p:spPr>
        <p:txBody>
          <a:bodyPr wrap="none" anchor="ctr" lIns="0" rIns="0" tIns="0" bIns="0">
            <a:noAutofit/>
          </a:bodyPr>
          <a:lstStyle/>
          <a:p>
            <a:pPr algn="ctr"/>
            <a:r>
              <a:rPr sz="800" b="0" i="0">
                <a:solidFill>
                  <a:srgbClr val="000000"/>
                </a:solidFill>
                <a:latin typeface="Arial"/>
              </a:rPr>
              <a:t>-10</a:t>
            </a:r>
          </a:p>
        </p:txBody>
      </p:sp>
      <p:sp>
        <p:nvSpPr>
          <p:cNvPr id="47" name="TextBox 46"/>
          <p:cNvSpPr txBox="1"/>
          <p:nvPr/>
        </p:nvSpPr>
        <p:spPr>
          <a:xfrm>
            <a:off x="1754373" y="3927931"/>
            <a:ext cx="68580" cy="119186"/>
          </a:xfrm>
          <a:prstGeom prst="rect">
            <a:avLst/>
          </a:prstGeom>
          <a:noFill/>
        </p:spPr>
        <p:txBody>
          <a:bodyPr wrap="none" anchor="ctr" lIns="0" rIns="0" tIns="0" bIns="0">
            <a:noAutofit/>
          </a:bodyPr>
          <a:lstStyle/>
          <a:p>
            <a:pPr algn="ctr"/>
            <a:r>
              <a:rPr sz="800" b="0" i="0">
                <a:solidFill>
                  <a:srgbClr val="000000"/>
                </a:solidFill>
                <a:latin typeface="Arial"/>
              </a:rPr>
              <a:t>0</a:t>
            </a:r>
          </a:p>
        </p:txBody>
      </p:sp>
      <p:sp>
        <p:nvSpPr>
          <p:cNvPr id="48" name="TextBox 47"/>
          <p:cNvSpPr txBox="1"/>
          <p:nvPr/>
        </p:nvSpPr>
        <p:spPr>
          <a:xfrm>
            <a:off x="2049737" y="3927931"/>
            <a:ext cx="137160" cy="119186"/>
          </a:xfrm>
          <a:prstGeom prst="rect">
            <a:avLst/>
          </a:prstGeom>
          <a:noFill/>
        </p:spPr>
        <p:txBody>
          <a:bodyPr wrap="none" anchor="ctr" lIns="0" rIns="0" tIns="0" bIns="0">
            <a:noAutofit/>
          </a:bodyPr>
          <a:lstStyle/>
          <a:p>
            <a:pPr algn="ctr"/>
            <a:r>
              <a:rPr sz="800" b="0" i="0">
                <a:solidFill>
                  <a:srgbClr val="000000"/>
                </a:solidFill>
                <a:latin typeface="Arial"/>
              </a:rPr>
              <a:t>10</a:t>
            </a:r>
          </a:p>
        </p:txBody>
      </p:sp>
      <p:sp>
        <p:nvSpPr>
          <p:cNvPr id="49" name="TextBox 48"/>
          <p:cNvSpPr txBox="1"/>
          <p:nvPr/>
        </p:nvSpPr>
        <p:spPr>
          <a:xfrm>
            <a:off x="2379391" y="3927931"/>
            <a:ext cx="137160" cy="119186"/>
          </a:xfrm>
          <a:prstGeom prst="rect">
            <a:avLst/>
          </a:prstGeom>
          <a:noFill/>
        </p:spPr>
        <p:txBody>
          <a:bodyPr wrap="none" anchor="ctr" lIns="0" rIns="0" tIns="0" bIns="0">
            <a:noAutofit/>
          </a:bodyPr>
          <a:lstStyle/>
          <a:p>
            <a:pPr algn="ctr"/>
            <a:r>
              <a:rPr sz="800" b="0" i="0">
                <a:solidFill>
                  <a:srgbClr val="000000"/>
                </a:solidFill>
                <a:latin typeface="Arial"/>
              </a:rPr>
              <a:t>20</a:t>
            </a:r>
          </a:p>
        </p:txBody>
      </p:sp>
      <p:sp>
        <p:nvSpPr>
          <p:cNvPr id="50" name="TextBox 49"/>
          <p:cNvSpPr txBox="1"/>
          <p:nvPr/>
        </p:nvSpPr>
        <p:spPr>
          <a:xfrm rot="16200000">
            <a:off x="346306" y="3103219"/>
            <a:ext cx="945386" cy="345560"/>
          </a:xfrm>
          <a:prstGeom prst="rect">
            <a:avLst/>
          </a:prstGeom>
          <a:noFill/>
        </p:spPr>
        <p:txBody>
          <a:bodyPr wrap="none" anchor="ctr" lIns="0" rIns="0" tIns="0" bIns="0">
            <a:noAutofit/>
          </a:bodyPr>
          <a:lstStyle/>
          <a:p>
            <a:pPr algn="ctr"/>
            <a:r>
              <a:rPr sz="1000" b="0" i="0">
                <a:solidFill>
                  <a:srgbClr val="000000"/>
                </a:solidFill>
                <a:latin typeface="Arial"/>
              </a:rPr>
              <a:t>Empirical NP,
age 19</a:t>
            </a:r>
          </a:p>
        </p:txBody>
      </p:sp>
      <p:sp>
        <p:nvSpPr>
          <p:cNvPr id="51" name="TextBox 50"/>
          <p:cNvSpPr txBox="1"/>
          <p:nvPr/>
        </p:nvSpPr>
        <p:spPr>
          <a:xfrm>
            <a:off x="1165833" y="3971037"/>
            <a:ext cx="111442"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52" name="TextBox 51"/>
          <p:cNvSpPr txBox="1"/>
          <p:nvPr/>
        </p:nvSpPr>
        <p:spPr>
          <a:xfrm>
            <a:off x="1165833" y="3633166"/>
            <a:ext cx="111442"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53" name="TextBox 52"/>
          <p:cNvSpPr txBox="1"/>
          <p:nvPr/>
        </p:nvSpPr>
        <p:spPr>
          <a:xfrm>
            <a:off x="1204409" y="3295294"/>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54" name="TextBox 53"/>
          <p:cNvSpPr txBox="1"/>
          <p:nvPr/>
        </p:nvSpPr>
        <p:spPr>
          <a:xfrm>
            <a:off x="1204409" y="2957423"/>
            <a:ext cx="68580"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55" name="TextBox 54"/>
          <p:cNvSpPr txBox="1"/>
          <p:nvPr/>
        </p:nvSpPr>
        <p:spPr>
          <a:xfrm>
            <a:off x="1204409" y="2619552"/>
            <a:ext cx="68580"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56" name="TextBox 55"/>
          <p:cNvSpPr txBox="1"/>
          <p:nvPr/>
        </p:nvSpPr>
        <p:spPr>
          <a:xfrm>
            <a:off x="3485818" y="2660358"/>
            <a:ext cx="585787" cy="335212"/>
          </a:xfrm>
          <a:prstGeom prst="rect">
            <a:avLst/>
          </a:prstGeom>
          <a:noFill/>
        </p:spPr>
        <p:txBody>
          <a:bodyPr wrap="none" anchor="ctr" lIns="0" rIns="0" tIns="0" bIns="0">
            <a:noAutofit/>
          </a:bodyPr>
          <a:lstStyle/>
          <a:p>
            <a:pPr algn="l"/>
            <a:r>
              <a:rPr sz="900" b="0" i="0">
                <a:solidFill>
                  <a:srgbClr val="000000"/>
                </a:solidFill>
                <a:latin typeface="Arial"/>
              </a:rPr>
              <a:t>AMPA
r = −0.16</a:t>
            </a:r>
          </a:p>
        </p:txBody>
      </p:sp>
      <p:sp>
        <p:nvSpPr>
          <p:cNvPr id="57" name="TextBox 56"/>
          <p:cNvSpPr txBox="1"/>
          <p:nvPr/>
        </p:nvSpPr>
        <p:spPr>
          <a:xfrm>
            <a:off x="3333420" y="4045700"/>
            <a:ext cx="1243012" cy="148983"/>
          </a:xfrm>
          <a:prstGeom prst="rect">
            <a:avLst/>
          </a:prstGeom>
          <a:noFill/>
        </p:spPr>
        <p:txBody>
          <a:bodyPr wrap="none" anchor="ctr" lIns="0" rIns="0" tIns="0" bIns="0">
            <a:noAutofit/>
          </a:bodyPr>
          <a:lstStyle/>
          <a:p>
            <a:pPr algn="ctr"/>
            <a:r>
              <a:rPr sz="1000" b="0" i="0">
                <a:solidFill>
                  <a:srgbClr val="000000"/>
                </a:solidFill>
                <a:latin typeface="Arial"/>
              </a:rPr>
              <a:t>Restoration index</a:t>
            </a:r>
          </a:p>
        </p:txBody>
      </p:sp>
      <p:sp>
        <p:nvSpPr>
          <p:cNvPr id="58" name="TextBox 57"/>
          <p:cNvSpPr txBox="1"/>
          <p:nvPr/>
        </p:nvSpPr>
        <p:spPr>
          <a:xfrm>
            <a:off x="3256053" y="3927931"/>
            <a:ext cx="180022" cy="119186"/>
          </a:xfrm>
          <a:prstGeom prst="rect">
            <a:avLst/>
          </a:prstGeom>
          <a:noFill/>
        </p:spPr>
        <p:txBody>
          <a:bodyPr wrap="none" anchor="ctr" lIns="0" rIns="0" tIns="0" bIns="0">
            <a:noAutofit/>
          </a:bodyPr>
          <a:lstStyle/>
          <a:p>
            <a:pPr algn="ctr"/>
            <a:r>
              <a:rPr sz="800" b="0" i="0">
                <a:solidFill>
                  <a:srgbClr val="000000"/>
                </a:solidFill>
                <a:latin typeface="Arial"/>
              </a:rPr>
              <a:t>-20</a:t>
            </a:r>
          </a:p>
        </p:txBody>
      </p:sp>
      <p:sp>
        <p:nvSpPr>
          <p:cNvPr id="59" name="TextBox 58"/>
          <p:cNvSpPr txBox="1"/>
          <p:nvPr/>
        </p:nvSpPr>
        <p:spPr>
          <a:xfrm>
            <a:off x="3585707" y="3927931"/>
            <a:ext cx="180022" cy="119186"/>
          </a:xfrm>
          <a:prstGeom prst="rect">
            <a:avLst/>
          </a:prstGeom>
          <a:noFill/>
        </p:spPr>
        <p:txBody>
          <a:bodyPr wrap="none" anchor="ctr" lIns="0" rIns="0" tIns="0" bIns="0">
            <a:noAutofit/>
          </a:bodyPr>
          <a:lstStyle/>
          <a:p>
            <a:pPr algn="ctr"/>
            <a:r>
              <a:rPr sz="800" b="0" i="0">
                <a:solidFill>
                  <a:srgbClr val="000000"/>
                </a:solidFill>
                <a:latin typeface="Arial"/>
              </a:rPr>
              <a:t>-10</a:t>
            </a:r>
          </a:p>
        </p:txBody>
      </p:sp>
      <p:sp>
        <p:nvSpPr>
          <p:cNvPr id="60" name="TextBox 59"/>
          <p:cNvSpPr txBox="1"/>
          <p:nvPr/>
        </p:nvSpPr>
        <p:spPr>
          <a:xfrm>
            <a:off x="3971082" y="3927931"/>
            <a:ext cx="68580" cy="119186"/>
          </a:xfrm>
          <a:prstGeom prst="rect">
            <a:avLst/>
          </a:prstGeom>
          <a:noFill/>
        </p:spPr>
        <p:txBody>
          <a:bodyPr wrap="none" anchor="ctr" lIns="0" rIns="0" tIns="0" bIns="0">
            <a:noAutofit/>
          </a:bodyPr>
          <a:lstStyle/>
          <a:p>
            <a:pPr algn="ctr"/>
            <a:r>
              <a:rPr sz="800" b="0" i="0">
                <a:solidFill>
                  <a:srgbClr val="000000"/>
                </a:solidFill>
                <a:latin typeface="Arial"/>
              </a:rPr>
              <a:t>0</a:t>
            </a:r>
          </a:p>
        </p:txBody>
      </p:sp>
      <p:sp>
        <p:nvSpPr>
          <p:cNvPr id="61" name="TextBox 60"/>
          <p:cNvSpPr txBox="1"/>
          <p:nvPr/>
        </p:nvSpPr>
        <p:spPr>
          <a:xfrm>
            <a:off x="4266447" y="3927931"/>
            <a:ext cx="137160" cy="119186"/>
          </a:xfrm>
          <a:prstGeom prst="rect">
            <a:avLst/>
          </a:prstGeom>
          <a:noFill/>
        </p:spPr>
        <p:txBody>
          <a:bodyPr wrap="none" anchor="ctr" lIns="0" rIns="0" tIns="0" bIns="0">
            <a:noAutofit/>
          </a:bodyPr>
          <a:lstStyle/>
          <a:p>
            <a:pPr algn="ctr"/>
            <a:r>
              <a:rPr sz="800" b="0" i="0">
                <a:solidFill>
                  <a:srgbClr val="000000"/>
                </a:solidFill>
                <a:latin typeface="Arial"/>
              </a:rPr>
              <a:t>10</a:t>
            </a:r>
          </a:p>
        </p:txBody>
      </p:sp>
      <p:sp>
        <p:nvSpPr>
          <p:cNvPr id="62" name="TextBox 61"/>
          <p:cNvSpPr txBox="1"/>
          <p:nvPr/>
        </p:nvSpPr>
        <p:spPr>
          <a:xfrm>
            <a:off x="4596101" y="3927931"/>
            <a:ext cx="137159" cy="119186"/>
          </a:xfrm>
          <a:prstGeom prst="rect">
            <a:avLst/>
          </a:prstGeom>
          <a:noFill/>
        </p:spPr>
        <p:txBody>
          <a:bodyPr wrap="none" anchor="ctr" lIns="0" rIns="0" tIns="0" bIns="0">
            <a:noAutofit/>
          </a:bodyPr>
          <a:lstStyle/>
          <a:p>
            <a:pPr algn="ctr"/>
            <a:r>
              <a:rPr sz="800" b="0" i="0">
                <a:solidFill>
                  <a:srgbClr val="000000"/>
                </a:solidFill>
                <a:latin typeface="Arial"/>
              </a:rPr>
              <a:t>20</a:t>
            </a:r>
          </a:p>
        </p:txBody>
      </p:sp>
      <p:sp>
        <p:nvSpPr>
          <p:cNvPr id="63" name="TextBox 62"/>
          <p:cNvSpPr txBox="1"/>
          <p:nvPr/>
        </p:nvSpPr>
        <p:spPr>
          <a:xfrm rot="16200000">
            <a:off x="2408487" y="3103219"/>
            <a:ext cx="1254442" cy="345560"/>
          </a:xfrm>
          <a:prstGeom prst="rect">
            <a:avLst/>
          </a:prstGeom>
          <a:noFill/>
        </p:spPr>
        <p:txBody>
          <a:bodyPr wrap="none" anchor="ctr" lIns="0" rIns="0" tIns="0" bIns="0">
            <a:noAutofit/>
          </a:bodyPr>
          <a:lstStyle/>
          <a:p>
            <a:pPr algn="ctr"/>
            <a:r>
              <a:rPr sz="1000" b="0" i="0">
                <a:solidFill>
                  <a:srgbClr val="000000"/>
                </a:solidFill>
                <a:latin typeface="Arial"/>
              </a:rPr>
              <a:t>Internalising total,
age 19</a:t>
            </a:r>
          </a:p>
        </p:txBody>
      </p:sp>
      <p:sp>
        <p:nvSpPr>
          <p:cNvPr id="64" name="TextBox 63"/>
          <p:cNvSpPr txBox="1"/>
          <p:nvPr/>
        </p:nvSpPr>
        <p:spPr>
          <a:xfrm>
            <a:off x="3320821" y="4197529"/>
            <a:ext cx="180022"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65" name="TextBox 64"/>
          <p:cNvSpPr txBox="1"/>
          <p:nvPr/>
        </p:nvSpPr>
        <p:spPr>
          <a:xfrm>
            <a:off x="3421119" y="3794065"/>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66" name="TextBox 65"/>
          <p:cNvSpPr txBox="1"/>
          <p:nvPr/>
        </p:nvSpPr>
        <p:spPr>
          <a:xfrm>
            <a:off x="3359397" y="3390601"/>
            <a:ext cx="137160"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67" name="TextBox 66"/>
          <p:cNvSpPr txBox="1"/>
          <p:nvPr/>
        </p:nvSpPr>
        <p:spPr>
          <a:xfrm>
            <a:off x="3359397" y="2987137"/>
            <a:ext cx="137160" cy="119186"/>
          </a:xfrm>
          <a:prstGeom prst="rect">
            <a:avLst/>
          </a:prstGeom>
          <a:noFill/>
        </p:spPr>
        <p:txBody>
          <a:bodyPr wrap="none" anchor="ctr" lIns="0" rIns="0" tIns="0" bIns="0">
            <a:noAutofit/>
          </a:bodyPr>
          <a:lstStyle/>
          <a:p>
            <a:pPr algn="r"/>
            <a:r>
              <a:rPr sz="800" b="0" i="0">
                <a:solidFill>
                  <a:srgbClr val="000000"/>
                </a:solidFill>
                <a:latin typeface="Arial"/>
              </a:rPr>
              <a:t>40</a:t>
            </a:r>
          </a:p>
        </p:txBody>
      </p:sp>
      <p:sp>
        <p:nvSpPr>
          <p:cNvPr id="68" name="TextBox 67"/>
          <p:cNvSpPr txBox="1"/>
          <p:nvPr/>
        </p:nvSpPr>
        <p:spPr>
          <a:xfrm>
            <a:off x="3359397" y="2583673"/>
            <a:ext cx="137160" cy="119186"/>
          </a:xfrm>
          <a:prstGeom prst="rect">
            <a:avLst/>
          </a:prstGeom>
          <a:noFill/>
        </p:spPr>
        <p:txBody>
          <a:bodyPr wrap="none" anchor="ctr" lIns="0" rIns="0" tIns="0" bIns="0">
            <a:noAutofit/>
          </a:bodyPr>
          <a:lstStyle/>
          <a:p>
            <a:pPr algn="r"/>
            <a:r>
              <a:rPr sz="800" b="0" i="0">
                <a:solidFill>
                  <a:srgbClr val="000000"/>
                </a:solidFill>
                <a:latin typeface="Arial"/>
              </a:rPr>
              <a:t>60</a:t>
            </a:r>
          </a:p>
        </p:txBody>
      </p:sp>
      <p:sp>
        <p:nvSpPr>
          <p:cNvPr id="69" name="TextBox 68"/>
          <p:cNvSpPr txBox="1"/>
          <p:nvPr/>
        </p:nvSpPr>
        <p:spPr>
          <a:xfrm>
            <a:off x="5730495" y="2643598"/>
            <a:ext cx="1317307" cy="502818"/>
          </a:xfrm>
          <a:prstGeom prst="rect">
            <a:avLst/>
          </a:prstGeom>
          <a:noFill/>
        </p:spPr>
        <p:txBody>
          <a:bodyPr wrap="none" anchor="ctr" lIns="0" rIns="0" tIns="0" bIns="0">
            <a:noAutofit/>
          </a:bodyPr>
          <a:lstStyle/>
          <a:p>
            <a:pPr algn="l"/>
            <a:r>
              <a:rPr sz="900" b="0" i="0">
                <a:solidFill>
                  <a:srgbClr val="000000"/>
                </a:solidFill>
                <a:latin typeface="Arial"/>
              </a:rPr>
              <a:t>GABA-A
covariate: symptoms
r = 0.16</a:t>
            </a:r>
          </a:p>
        </p:txBody>
      </p:sp>
      <p:sp>
        <p:nvSpPr>
          <p:cNvPr id="70" name="TextBox 69"/>
          <p:cNvSpPr txBox="1"/>
          <p:nvPr/>
        </p:nvSpPr>
        <p:spPr>
          <a:xfrm>
            <a:off x="5651250" y="4026043"/>
            <a:ext cx="1243012" cy="345560"/>
          </a:xfrm>
          <a:prstGeom prst="rect">
            <a:avLst/>
          </a:prstGeom>
          <a:noFill/>
        </p:spPr>
        <p:txBody>
          <a:bodyPr wrap="none" anchor="ctr" lIns="0" rIns="0" tIns="0" bIns="0">
            <a:noAutofit/>
          </a:bodyPr>
          <a:lstStyle/>
          <a:p>
            <a:pPr algn="ctr"/>
            <a:r>
              <a:rPr sz="1000" b="0" i="0">
                <a:solidFill>
                  <a:srgbClr val="000000"/>
                </a:solidFill>
                <a:latin typeface="Arial"/>
              </a:rPr>
              <a:t>Restoration index
(residual)</a:t>
            </a:r>
          </a:p>
        </p:txBody>
      </p:sp>
      <p:sp>
        <p:nvSpPr>
          <p:cNvPr id="71" name="TextBox 70"/>
          <p:cNvSpPr txBox="1"/>
          <p:nvPr/>
        </p:nvSpPr>
        <p:spPr>
          <a:xfrm>
            <a:off x="5379736" y="3927931"/>
            <a:ext cx="180022" cy="119186"/>
          </a:xfrm>
          <a:prstGeom prst="rect">
            <a:avLst/>
          </a:prstGeom>
          <a:noFill/>
        </p:spPr>
        <p:txBody>
          <a:bodyPr wrap="none" anchor="ctr" lIns="0" rIns="0" tIns="0" bIns="0">
            <a:noAutofit/>
          </a:bodyPr>
          <a:lstStyle/>
          <a:p>
            <a:pPr algn="ctr"/>
            <a:r>
              <a:rPr sz="800" b="0" i="0">
                <a:solidFill>
                  <a:srgbClr val="000000"/>
                </a:solidFill>
                <a:latin typeface="Arial"/>
              </a:rPr>
              <a:t>-40</a:t>
            </a:r>
          </a:p>
        </p:txBody>
      </p:sp>
      <p:sp>
        <p:nvSpPr>
          <p:cNvPr id="72" name="TextBox 71"/>
          <p:cNvSpPr txBox="1"/>
          <p:nvPr/>
        </p:nvSpPr>
        <p:spPr>
          <a:xfrm>
            <a:off x="5768372" y="3927931"/>
            <a:ext cx="180022" cy="119186"/>
          </a:xfrm>
          <a:prstGeom prst="rect">
            <a:avLst/>
          </a:prstGeom>
          <a:noFill/>
        </p:spPr>
        <p:txBody>
          <a:bodyPr wrap="none" anchor="ctr" lIns="0" rIns="0" tIns="0" bIns="0">
            <a:noAutofit/>
          </a:bodyPr>
          <a:lstStyle/>
          <a:p>
            <a:pPr algn="ctr"/>
            <a:r>
              <a:rPr sz="800" b="0" i="0">
                <a:solidFill>
                  <a:srgbClr val="000000"/>
                </a:solidFill>
                <a:latin typeface="Arial"/>
              </a:rPr>
              <a:t>-20</a:t>
            </a:r>
          </a:p>
        </p:txBody>
      </p:sp>
      <p:sp>
        <p:nvSpPr>
          <p:cNvPr id="73" name="TextBox 72"/>
          <p:cNvSpPr txBox="1"/>
          <p:nvPr/>
        </p:nvSpPr>
        <p:spPr>
          <a:xfrm>
            <a:off x="6212730" y="3927931"/>
            <a:ext cx="68580" cy="119186"/>
          </a:xfrm>
          <a:prstGeom prst="rect">
            <a:avLst/>
          </a:prstGeom>
          <a:noFill/>
        </p:spPr>
        <p:txBody>
          <a:bodyPr wrap="none" anchor="ctr" lIns="0" rIns="0" tIns="0" bIns="0">
            <a:noAutofit/>
          </a:bodyPr>
          <a:lstStyle/>
          <a:p>
            <a:pPr algn="ctr"/>
            <a:r>
              <a:rPr sz="800" b="0" i="0">
                <a:solidFill>
                  <a:srgbClr val="000000"/>
                </a:solidFill>
                <a:latin typeface="Arial"/>
              </a:rPr>
              <a:t>0</a:t>
            </a:r>
          </a:p>
        </p:txBody>
      </p:sp>
      <p:sp>
        <p:nvSpPr>
          <p:cNvPr id="74" name="TextBox 73"/>
          <p:cNvSpPr txBox="1"/>
          <p:nvPr/>
        </p:nvSpPr>
        <p:spPr>
          <a:xfrm>
            <a:off x="6567076" y="3927931"/>
            <a:ext cx="137160" cy="119186"/>
          </a:xfrm>
          <a:prstGeom prst="rect">
            <a:avLst/>
          </a:prstGeom>
          <a:noFill/>
        </p:spPr>
        <p:txBody>
          <a:bodyPr wrap="none" anchor="ctr" lIns="0" rIns="0" tIns="0" bIns="0">
            <a:noAutofit/>
          </a:bodyPr>
          <a:lstStyle/>
          <a:p>
            <a:pPr algn="ctr"/>
            <a:r>
              <a:rPr sz="800" b="0" i="0">
                <a:solidFill>
                  <a:srgbClr val="000000"/>
                </a:solidFill>
                <a:latin typeface="Arial"/>
              </a:rPr>
              <a:t>20</a:t>
            </a:r>
          </a:p>
        </p:txBody>
      </p:sp>
      <p:sp>
        <p:nvSpPr>
          <p:cNvPr id="75" name="TextBox 74"/>
          <p:cNvSpPr txBox="1"/>
          <p:nvPr/>
        </p:nvSpPr>
        <p:spPr>
          <a:xfrm>
            <a:off x="6955712" y="3927931"/>
            <a:ext cx="137160" cy="119186"/>
          </a:xfrm>
          <a:prstGeom prst="rect">
            <a:avLst/>
          </a:prstGeom>
          <a:noFill/>
        </p:spPr>
        <p:txBody>
          <a:bodyPr wrap="none" anchor="ctr" lIns="0" rIns="0" tIns="0" bIns="0">
            <a:noAutofit/>
          </a:bodyPr>
          <a:lstStyle/>
          <a:p>
            <a:pPr algn="ctr"/>
            <a:r>
              <a:rPr sz="800" b="0" i="0">
                <a:solidFill>
                  <a:srgbClr val="000000"/>
                </a:solidFill>
                <a:latin typeface="Arial"/>
              </a:rPr>
              <a:t>40</a:t>
            </a:r>
          </a:p>
        </p:txBody>
      </p:sp>
      <p:sp>
        <p:nvSpPr>
          <p:cNvPr id="76" name="TextBox 75"/>
          <p:cNvSpPr txBox="1"/>
          <p:nvPr/>
        </p:nvSpPr>
        <p:spPr>
          <a:xfrm rot="16200000">
            <a:off x="4777488" y="3016038"/>
            <a:ext cx="1291590" cy="519923"/>
          </a:xfrm>
          <a:prstGeom prst="rect">
            <a:avLst/>
          </a:prstGeom>
          <a:noFill/>
        </p:spPr>
        <p:txBody>
          <a:bodyPr wrap="none" anchor="ctr" lIns="0" rIns="0" tIns="0" bIns="0">
            <a:noAutofit/>
          </a:bodyPr>
          <a:lstStyle/>
          <a:p>
            <a:pPr algn="ctr"/>
            <a:r>
              <a:rPr sz="1000" b="0" i="0">
                <a:solidFill>
                  <a:srgbClr val="000000"/>
                </a:solidFill>
                <a:latin typeface="Arial"/>
              </a:rPr>
              <a:t>Symptom change,
age 19–23
(residual)</a:t>
            </a:r>
          </a:p>
        </p:txBody>
      </p:sp>
      <p:sp>
        <p:nvSpPr>
          <p:cNvPr id="77" name="TextBox 76"/>
          <p:cNvSpPr txBox="1"/>
          <p:nvPr/>
        </p:nvSpPr>
        <p:spPr>
          <a:xfrm>
            <a:off x="5638651" y="4034754"/>
            <a:ext cx="180022"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78" name="TextBox 77"/>
          <p:cNvSpPr txBox="1"/>
          <p:nvPr/>
        </p:nvSpPr>
        <p:spPr>
          <a:xfrm>
            <a:off x="5638651" y="3737486"/>
            <a:ext cx="180022"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79" name="TextBox 78"/>
          <p:cNvSpPr txBox="1"/>
          <p:nvPr/>
        </p:nvSpPr>
        <p:spPr>
          <a:xfrm>
            <a:off x="5738949" y="3440217"/>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80" name="TextBox 79"/>
          <p:cNvSpPr txBox="1"/>
          <p:nvPr/>
        </p:nvSpPr>
        <p:spPr>
          <a:xfrm>
            <a:off x="5677227" y="3142949"/>
            <a:ext cx="137160"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81" name="TextBox 80"/>
          <p:cNvSpPr txBox="1"/>
          <p:nvPr/>
        </p:nvSpPr>
        <p:spPr>
          <a:xfrm>
            <a:off x="5677227" y="2845680"/>
            <a:ext cx="137160"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82" name="TextBox 81"/>
          <p:cNvSpPr txBox="1"/>
          <p:nvPr/>
        </p:nvSpPr>
        <p:spPr>
          <a:xfrm>
            <a:off x="5677227" y="2548412"/>
            <a:ext cx="137160" cy="119186"/>
          </a:xfrm>
          <a:prstGeom prst="rect">
            <a:avLst/>
          </a:prstGeom>
          <a:noFill/>
        </p:spPr>
        <p:txBody>
          <a:bodyPr wrap="none" anchor="ctr" lIns="0" rIns="0" tIns="0" bIns="0">
            <a:noAutofit/>
          </a:bodyPr>
          <a:lstStyle/>
          <a:p>
            <a:pPr algn="r"/>
            <a:r>
              <a:rPr sz="800" b="0" i="0">
                <a:solidFill>
                  <a:srgbClr val="000000"/>
                </a:solidFill>
                <a:latin typeface="Arial"/>
              </a:rPr>
              <a:t>30</a:t>
            </a:r>
          </a:p>
        </p:txBody>
      </p:sp>
      <p:sp>
        <p:nvSpPr>
          <p:cNvPr id="83" name="TextBox 82"/>
          <p:cNvSpPr txBox="1"/>
          <p:nvPr/>
        </p:nvSpPr>
        <p:spPr>
          <a:xfrm>
            <a:off x="1180240" y="4677598"/>
            <a:ext cx="1474470" cy="502818"/>
          </a:xfrm>
          <a:prstGeom prst="rect">
            <a:avLst/>
          </a:prstGeom>
          <a:noFill/>
        </p:spPr>
        <p:txBody>
          <a:bodyPr wrap="none" anchor="ctr" lIns="0" rIns="0" tIns="0" bIns="0">
            <a:noAutofit/>
          </a:bodyPr>
          <a:lstStyle/>
          <a:p>
            <a:pPr algn="l"/>
            <a:r>
              <a:rPr sz="900" b="0" i="0">
                <a:solidFill>
                  <a:srgbClr val="000000"/>
                </a:solidFill>
                <a:latin typeface="Arial"/>
              </a:rPr>
              <a:t>GABA-A
covariate: empirical NP
r = 0.22</a:t>
            </a:r>
          </a:p>
        </p:txBody>
      </p:sp>
      <p:sp>
        <p:nvSpPr>
          <p:cNvPr id="84" name="TextBox 83"/>
          <p:cNvSpPr txBox="1"/>
          <p:nvPr/>
        </p:nvSpPr>
        <p:spPr>
          <a:xfrm>
            <a:off x="1116711" y="6060043"/>
            <a:ext cx="1243012" cy="345560"/>
          </a:xfrm>
          <a:prstGeom prst="rect">
            <a:avLst/>
          </a:prstGeom>
          <a:noFill/>
        </p:spPr>
        <p:txBody>
          <a:bodyPr wrap="none" anchor="ctr" lIns="0" rIns="0" tIns="0" bIns="0">
            <a:noAutofit/>
          </a:bodyPr>
          <a:lstStyle/>
          <a:p>
            <a:pPr algn="ctr"/>
            <a:r>
              <a:rPr sz="1000" b="0" i="0">
                <a:solidFill>
                  <a:srgbClr val="000000"/>
                </a:solidFill>
                <a:latin typeface="Arial"/>
              </a:rPr>
              <a:t>Restoration index
(residual)</a:t>
            </a:r>
          </a:p>
        </p:txBody>
      </p:sp>
      <p:sp>
        <p:nvSpPr>
          <p:cNvPr id="85" name="TextBox 84"/>
          <p:cNvSpPr txBox="1"/>
          <p:nvPr/>
        </p:nvSpPr>
        <p:spPr>
          <a:xfrm>
            <a:off x="1198786" y="5961931"/>
            <a:ext cx="180022" cy="119186"/>
          </a:xfrm>
          <a:prstGeom prst="rect">
            <a:avLst/>
          </a:prstGeom>
          <a:noFill/>
        </p:spPr>
        <p:txBody>
          <a:bodyPr wrap="none" anchor="ctr" lIns="0" rIns="0" tIns="0" bIns="0">
            <a:noAutofit/>
          </a:bodyPr>
          <a:lstStyle/>
          <a:p>
            <a:pPr algn="ctr"/>
            <a:r>
              <a:rPr sz="800" b="0" i="0">
                <a:solidFill>
                  <a:srgbClr val="000000"/>
                </a:solidFill>
                <a:latin typeface="Arial"/>
              </a:rPr>
              <a:t>-20</a:t>
            </a:r>
          </a:p>
        </p:txBody>
      </p:sp>
      <p:sp>
        <p:nvSpPr>
          <p:cNvPr id="86" name="TextBox 85"/>
          <p:cNvSpPr txBox="1"/>
          <p:nvPr/>
        </p:nvSpPr>
        <p:spPr>
          <a:xfrm>
            <a:off x="1682921" y="5961931"/>
            <a:ext cx="68580" cy="119186"/>
          </a:xfrm>
          <a:prstGeom prst="rect">
            <a:avLst/>
          </a:prstGeom>
          <a:noFill/>
        </p:spPr>
        <p:txBody>
          <a:bodyPr wrap="none" anchor="ctr" lIns="0" rIns="0" tIns="0" bIns="0">
            <a:noAutofit/>
          </a:bodyPr>
          <a:lstStyle/>
          <a:p>
            <a:pPr algn="ctr"/>
            <a:r>
              <a:rPr sz="800" b="0" i="0">
                <a:solidFill>
                  <a:srgbClr val="000000"/>
                </a:solidFill>
                <a:latin typeface="Arial"/>
              </a:rPr>
              <a:t>0</a:t>
            </a:r>
          </a:p>
        </p:txBody>
      </p:sp>
      <p:sp>
        <p:nvSpPr>
          <p:cNvPr id="87" name="TextBox 86"/>
          <p:cNvSpPr txBox="1"/>
          <p:nvPr/>
        </p:nvSpPr>
        <p:spPr>
          <a:xfrm>
            <a:off x="2077044" y="5961931"/>
            <a:ext cx="137160" cy="119186"/>
          </a:xfrm>
          <a:prstGeom prst="rect">
            <a:avLst/>
          </a:prstGeom>
          <a:noFill/>
        </p:spPr>
        <p:txBody>
          <a:bodyPr wrap="none" anchor="ctr" lIns="0" rIns="0" tIns="0" bIns="0">
            <a:noAutofit/>
          </a:bodyPr>
          <a:lstStyle/>
          <a:p>
            <a:pPr algn="ctr"/>
            <a:r>
              <a:rPr sz="800" b="0" i="0">
                <a:solidFill>
                  <a:srgbClr val="000000"/>
                </a:solidFill>
                <a:latin typeface="Arial"/>
              </a:rPr>
              <a:t>20</a:t>
            </a:r>
          </a:p>
        </p:txBody>
      </p:sp>
      <p:sp>
        <p:nvSpPr>
          <p:cNvPr id="88" name="TextBox 87"/>
          <p:cNvSpPr txBox="1"/>
          <p:nvPr/>
        </p:nvSpPr>
        <p:spPr>
          <a:xfrm>
            <a:off x="2505457" y="5961931"/>
            <a:ext cx="137160" cy="119186"/>
          </a:xfrm>
          <a:prstGeom prst="rect">
            <a:avLst/>
          </a:prstGeom>
          <a:noFill/>
        </p:spPr>
        <p:txBody>
          <a:bodyPr wrap="none" anchor="ctr" lIns="0" rIns="0" tIns="0" bIns="0">
            <a:noAutofit/>
          </a:bodyPr>
          <a:lstStyle/>
          <a:p>
            <a:pPr algn="ctr"/>
            <a:r>
              <a:rPr sz="800" b="0" i="0">
                <a:solidFill>
                  <a:srgbClr val="000000"/>
                </a:solidFill>
                <a:latin typeface="Arial"/>
              </a:rPr>
              <a:t>40</a:t>
            </a:r>
          </a:p>
        </p:txBody>
      </p:sp>
      <p:sp>
        <p:nvSpPr>
          <p:cNvPr id="89" name="TextBox 88"/>
          <p:cNvSpPr txBox="1"/>
          <p:nvPr/>
        </p:nvSpPr>
        <p:spPr>
          <a:xfrm rot="16200000">
            <a:off x="242949" y="5050038"/>
            <a:ext cx="1291590" cy="519923"/>
          </a:xfrm>
          <a:prstGeom prst="rect">
            <a:avLst/>
          </a:prstGeom>
          <a:noFill/>
        </p:spPr>
        <p:txBody>
          <a:bodyPr wrap="none" anchor="ctr" lIns="0" rIns="0" tIns="0" bIns="0">
            <a:noAutofit/>
          </a:bodyPr>
          <a:lstStyle/>
          <a:p>
            <a:pPr algn="ctr"/>
            <a:r>
              <a:rPr sz="1000" b="0" i="0">
                <a:solidFill>
                  <a:srgbClr val="000000"/>
                </a:solidFill>
                <a:latin typeface="Arial"/>
              </a:rPr>
              <a:t>Symptom change,
age 19–23
(residual)</a:t>
            </a:r>
          </a:p>
        </p:txBody>
      </p:sp>
      <p:sp>
        <p:nvSpPr>
          <p:cNvPr id="90" name="TextBox 89"/>
          <p:cNvSpPr txBox="1"/>
          <p:nvPr/>
        </p:nvSpPr>
        <p:spPr>
          <a:xfrm>
            <a:off x="1104111" y="6051373"/>
            <a:ext cx="180022"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91" name="TextBox 90"/>
          <p:cNvSpPr txBox="1"/>
          <p:nvPr/>
        </p:nvSpPr>
        <p:spPr>
          <a:xfrm>
            <a:off x="1104111" y="5755431"/>
            <a:ext cx="180022"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92" name="TextBox 91"/>
          <p:cNvSpPr txBox="1"/>
          <p:nvPr/>
        </p:nvSpPr>
        <p:spPr>
          <a:xfrm>
            <a:off x="1204409" y="5459489"/>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93" name="TextBox 92"/>
          <p:cNvSpPr txBox="1"/>
          <p:nvPr/>
        </p:nvSpPr>
        <p:spPr>
          <a:xfrm>
            <a:off x="1142687" y="5163548"/>
            <a:ext cx="137160"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94" name="TextBox 93"/>
          <p:cNvSpPr txBox="1"/>
          <p:nvPr/>
        </p:nvSpPr>
        <p:spPr>
          <a:xfrm>
            <a:off x="1142687" y="4867606"/>
            <a:ext cx="137160"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95" name="TextBox 94"/>
          <p:cNvSpPr txBox="1"/>
          <p:nvPr/>
        </p:nvSpPr>
        <p:spPr>
          <a:xfrm>
            <a:off x="1142687" y="4571664"/>
            <a:ext cx="137160" cy="119186"/>
          </a:xfrm>
          <a:prstGeom prst="rect">
            <a:avLst/>
          </a:prstGeom>
          <a:noFill/>
        </p:spPr>
        <p:txBody>
          <a:bodyPr wrap="none" anchor="ctr" lIns="0" rIns="0" tIns="0" bIns="0">
            <a:noAutofit/>
          </a:bodyPr>
          <a:lstStyle/>
          <a:p>
            <a:pPr algn="r"/>
            <a:r>
              <a:rPr sz="800" b="0" i="0">
                <a:solidFill>
                  <a:srgbClr val="000000"/>
                </a:solidFill>
                <a:latin typeface="Arial"/>
              </a:rPr>
              <a:t>30</a:t>
            </a:r>
          </a:p>
        </p:txBody>
      </p:sp>
      <p:sp>
        <p:nvSpPr>
          <p:cNvPr id="96" name="TextBox 95"/>
          <p:cNvSpPr txBox="1"/>
          <p:nvPr/>
        </p:nvSpPr>
        <p:spPr>
          <a:xfrm>
            <a:off x="3384310" y="4677598"/>
            <a:ext cx="1600869" cy="502818"/>
          </a:xfrm>
          <a:prstGeom prst="rect">
            <a:avLst/>
          </a:prstGeom>
          <a:noFill/>
        </p:spPr>
        <p:txBody>
          <a:bodyPr wrap="none" anchor="ctr" lIns="0" rIns="0" tIns="0" bIns="0">
            <a:noAutofit/>
          </a:bodyPr>
          <a:lstStyle/>
          <a:p>
            <a:pPr algn="l"/>
            <a:r>
              <a:rPr sz="900" b="0" i="0">
                <a:solidFill>
                  <a:srgbClr val="000000"/>
                </a:solidFill>
                <a:latin typeface="Arial"/>
              </a:rPr>
              <a:t>Model of g
(GABA-A + empirical NP)
r = 0.44</a:t>
            </a:r>
          </a:p>
        </p:txBody>
      </p:sp>
      <p:sp>
        <p:nvSpPr>
          <p:cNvPr id="97" name="TextBox 96"/>
          <p:cNvSpPr txBox="1"/>
          <p:nvPr/>
        </p:nvSpPr>
        <p:spPr>
          <a:xfrm>
            <a:off x="2984805" y="6079700"/>
            <a:ext cx="1940242" cy="148983"/>
          </a:xfrm>
          <a:prstGeom prst="rect">
            <a:avLst/>
          </a:prstGeom>
          <a:noFill/>
        </p:spPr>
        <p:txBody>
          <a:bodyPr wrap="none" anchor="ctr" lIns="0" rIns="0" tIns="0" bIns="0">
            <a:noAutofit/>
          </a:bodyPr>
          <a:lstStyle/>
          <a:p>
            <a:pPr algn="ctr"/>
            <a:r>
              <a:rPr sz="1000" b="0" i="0">
                <a:solidFill>
                  <a:srgbClr val="000000"/>
                </a:solidFill>
                <a:latin typeface="Arial"/>
              </a:rPr>
              <a:t>Predicted symptom change</a:t>
            </a:r>
          </a:p>
        </p:txBody>
      </p:sp>
      <p:sp>
        <p:nvSpPr>
          <p:cNvPr id="98" name="TextBox 97"/>
          <p:cNvSpPr txBox="1"/>
          <p:nvPr/>
        </p:nvSpPr>
        <p:spPr>
          <a:xfrm>
            <a:off x="3051414" y="5961931"/>
            <a:ext cx="180022" cy="119186"/>
          </a:xfrm>
          <a:prstGeom prst="rect">
            <a:avLst/>
          </a:prstGeom>
          <a:noFill/>
        </p:spPr>
        <p:txBody>
          <a:bodyPr wrap="none" anchor="ctr" lIns="0" rIns="0" tIns="0" bIns="0">
            <a:noAutofit/>
          </a:bodyPr>
          <a:lstStyle/>
          <a:p>
            <a:pPr algn="ctr"/>
            <a:r>
              <a:rPr sz="800" b="0" i="0">
                <a:solidFill>
                  <a:srgbClr val="000000"/>
                </a:solidFill>
                <a:latin typeface="Arial"/>
              </a:rPr>
              <a:t>-20</a:t>
            </a:r>
          </a:p>
        </p:txBody>
      </p:sp>
      <p:sp>
        <p:nvSpPr>
          <p:cNvPr id="99" name="TextBox 98"/>
          <p:cNvSpPr txBox="1"/>
          <p:nvPr/>
        </p:nvSpPr>
        <p:spPr>
          <a:xfrm>
            <a:off x="3600535" y="5961931"/>
            <a:ext cx="180022" cy="119186"/>
          </a:xfrm>
          <a:prstGeom prst="rect">
            <a:avLst/>
          </a:prstGeom>
          <a:noFill/>
        </p:spPr>
        <p:txBody>
          <a:bodyPr wrap="none" anchor="ctr" lIns="0" rIns="0" tIns="0" bIns="0">
            <a:noAutofit/>
          </a:bodyPr>
          <a:lstStyle/>
          <a:p>
            <a:pPr algn="ctr"/>
            <a:r>
              <a:rPr sz="800" b="0" i="0">
                <a:solidFill>
                  <a:srgbClr val="000000"/>
                </a:solidFill>
                <a:latin typeface="Arial"/>
              </a:rPr>
              <a:t>-10</a:t>
            </a:r>
          </a:p>
        </p:txBody>
      </p:sp>
      <p:sp>
        <p:nvSpPr>
          <p:cNvPr id="100" name="TextBox 99"/>
          <p:cNvSpPr txBox="1"/>
          <p:nvPr/>
        </p:nvSpPr>
        <p:spPr>
          <a:xfrm>
            <a:off x="4205379" y="5961931"/>
            <a:ext cx="68580" cy="119186"/>
          </a:xfrm>
          <a:prstGeom prst="rect">
            <a:avLst/>
          </a:prstGeom>
          <a:noFill/>
        </p:spPr>
        <p:txBody>
          <a:bodyPr wrap="none" anchor="ctr" lIns="0" rIns="0" tIns="0" bIns="0">
            <a:noAutofit/>
          </a:bodyPr>
          <a:lstStyle/>
          <a:p>
            <a:pPr algn="ctr"/>
            <a:r>
              <a:rPr sz="800" b="0" i="0">
                <a:solidFill>
                  <a:srgbClr val="000000"/>
                </a:solidFill>
                <a:latin typeface="Arial"/>
              </a:rPr>
              <a:t>0</a:t>
            </a:r>
          </a:p>
        </p:txBody>
      </p:sp>
      <p:sp>
        <p:nvSpPr>
          <p:cNvPr id="101" name="TextBox 100"/>
          <p:cNvSpPr txBox="1"/>
          <p:nvPr/>
        </p:nvSpPr>
        <p:spPr>
          <a:xfrm>
            <a:off x="4720211" y="5961931"/>
            <a:ext cx="137160" cy="119186"/>
          </a:xfrm>
          <a:prstGeom prst="rect">
            <a:avLst/>
          </a:prstGeom>
          <a:noFill/>
        </p:spPr>
        <p:txBody>
          <a:bodyPr wrap="none" anchor="ctr" lIns="0" rIns="0" tIns="0" bIns="0">
            <a:noAutofit/>
          </a:bodyPr>
          <a:lstStyle/>
          <a:p>
            <a:pPr algn="ctr"/>
            <a:r>
              <a:rPr sz="800" b="0" i="0">
                <a:solidFill>
                  <a:srgbClr val="000000"/>
                </a:solidFill>
                <a:latin typeface="Arial"/>
              </a:rPr>
              <a:t>10</a:t>
            </a:r>
          </a:p>
        </p:txBody>
      </p:sp>
      <p:sp>
        <p:nvSpPr>
          <p:cNvPr id="102" name="TextBox 101"/>
          <p:cNvSpPr txBox="1"/>
          <p:nvPr/>
        </p:nvSpPr>
        <p:spPr>
          <a:xfrm rot="16200000">
            <a:off x="2390547" y="5136428"/>
            <a:ext cx="1291590" cy="347143"/>
          </a:xfrm>
          <a:prstGeom prst="rect">
            <a:avLst/>
          </a:prstGeom>
          <a:noFill/>
        </p:spPr>
        <p:txBody>
          <a:bodyPr wrap="none" anchor="ctr" lIns="0" rIns="0" tIns="0" bIns="0">
            <a:noAutofit/>
          </a:bodyPr>
          <a:lstStyle/>
          <a:p>
            <a:pPr algn="ctr"/>
            <a:r>
              <a:rPr sz="1000" b="0" i="0">
                <a:solidFill>
                  <a:srgbClr val="000000"/>
                </a:solidFill>
                <a:latin typeface="Arial"/>
              </a:rPr>
              <a:t>Symptom change,
age 19–23</a:t>
            </a:r>
          </a:p>
        </p:txBody>
      </p:sp>
      <p:sp>
        <p:nvSpPr>
          <p:cNvPr id="103" name="TextBox 102"/>
          <p:cNvSpPr txBox="1"/>
          <p:nvPr/>
        </p:nvSpPr>
        <p:spPr>
          <a:xfrm>
            <a:off x="3320821" y="6093310"/>
            <a:ext cx="180022" cy="119186"/>
          </a:xfrm>
          <a:prstGeom prst="rect">
            <a:avLst/>
          </a:prstGeom>
          <a:noFill/>
        </p:spPr>
        <p:txBody>
          <a:bodyPr wrap="none" anchor="ctr" lIns="0" rIns="0" tIns="0" bIns="0">
            <a:noAutofit/>
          </a:bodyPr>
          <a:lstStyle/>
          <a:p>
            <a:pPr algn="r"/>
            <a:r>
              <a:rPr sz="800" b="0" i="0">
                <a:solidFill>
                  <a:srgbClr val="000000"/>
                </a:solidFill>
                <a:latin typeface="Arial"/>
              </a:rPr>
              <a:t>-30</a:t>
            </a:r>
          </a:p>
        </p:txBody>
      </p:sp>
      <p:sp>
        <p:nvSpPr>
          <p:cNvPr id="104" name="TextBox 103"/>
          <p:cNvSpPr txBox="1"/>
          <p:nvPr/>
        </p:nvSpPr>
        <p:spPr>
          <a:xfrm>
            <a:off x="3320821" y="5837717"/>
            <a:ext cx="180022"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105" name="TextBox 104"/>
          <p:cNvSpPr txBox="1"/>
          <p:nvPr/>
        </p:nvSpPr>
        <p:spPr>
          <a:xfrm>
            <a:off x="3320821" y="5582123"/>
            <a:ext cx="180022"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106" name="TextBox 105"/>
          <p:cNvSpPr txBox="1"/>
          <p:nvPr/>
        </p:nvSpPr>
        <p:spPr>
          <a:xfrm>
            <a:off x="3421119" y="5326529"/>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107" name="TextBox 106"/>
          <p:cNvSpPr txBox="1"/>
          <p:nvPr/>
        </p:nvSpPr>
        <p:spPr>
          <a:xfrm>
            <a:off x="3359397" y="5070935"/>
            <a:ext cx="137160"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108" name="TextBox 107"/>
          <p:cNvSpPr txBox="1"/>
          <p:nvPr/>
        </p:nvSpPr>
        <p:spPr>
          <a:xfrm>
            <a:off x="3359397" y="4815341"/>
            <a:ext cx="137160"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109" name="TextBox 108"/>
          <p:cNvSpPr txBox="1"/>
          <p:nvPr/>
        </p:nvSpPr>
        <p:spPr>
          <a:xfrm>
            <a:off x="3359397" y="4559748"/>
            <a:ext cx="137160" cy="119186"/>
          </a:xfrm>
          <a:prstGeom prst="rect">
            <a:avLst/>
          </a:prstGeom>
          <a:noFill/>
        </p:spPr>
        <p:txBody>
          <a:bodyPr wrap="none" anchor="ctr" lIns="0" rIns="0" tIns="0" bIns="0">
            <a:noAutofit/>
          </a:bodyPr>
          <a:lstStyle/>
          <a:p>
            <a:pPr algn="r"/>
            <a:r>
              <a:rPr sz="800" b="0" i="0">
                <a:solidFill>
                  <a:srgbClr val="000000"/>
                </a:solidFill>
                <a:latin typeface="Arial"/>
              </a:rPr>
              <a:t>30</a:t>
            </a:r>
          </a:p>
        </p:txBody>
      </p:sp>
      <p:sp>
        <p:nvSpPr>
          <p:cNvPr id="110" name="TextBox 109"/>
          <p:cNvSpPr txBox="1"/>
          <p:nvPr/>
        </p:nvSpPr>
        <p:spPr>
          <a:xfrm>
            <a:off x="530284" y="468106"/>
            <a:ext cx="97155" cy="163881"/>
          </a:xfrm>
          <a:prstGeom prst="rect">
            <a:avLst/>
          </a:prstGeom>
          <a:noFill/>
        </p:spPr>
        <p:txBody>
          <a:bodyPr wrap="none" anchor="ctr" lIns="0" rIns="0" tIns="0" bIns="0">
            <a:noAutofit/>
          </a:bodyPr>
          <a:lstStyle/>
          <a:p>
            <a:pPr algn="l"/>
            <a:r>
              <a:rPr sz="1100" b="1" i="0">
                <a:solidFill>
                  <a:srgbClr val="000000"/>
                </a:solidFill>
                <a:latin typeface="Arial"/>
              </a:rPr>
              <a:t>a</a:t>
            </a:r>
          </a:p>
        </p:txBody>
      </p:sp>
      <p:sp>
        <p:nvSpPr>
          <p:cNvPr id="111" name="TextBox 110"/>
          <p:cNvSpPr txBox="1"/>
          <p:nvPr/>
        </p:nvSpPr>
        <p:spPr>
          <a:xfrm>
            <a:off x="2746137" y="468106"/>
            <a:ext cx="105727" cy="163881"/>
          </a:xfrm>
          <a:prstGeom prst="rect">
            <a:avLst/>
          </a:prstGeom>
          <a:noFill/>
        </p:spPr>
        <p:txBody>
          <a:bodyPr wrap="none" anchor="ctr" lIns="0" rIns="0" tIns="0" bIns="0">
            <a:noAutofit/>
          </a:bodyPr>
          <a:lstStyle/>
          <a:p>
            <a:pPr algn="l"/>
            <a:r>
              <a:rPr sz="1100" b="1" i="0">
                <a:solidFill>
                  <a:srgbClr val="000000"/>
                </a:solidFill>
                <a:latin typeface="Arial"/>
              </a:rPr>
              <a:t>b</a:t>
            </a:r>
          </a:p>
        </p:txBody>
      </p:sp>
      <p:sp>
        <p:nvSpPr>
          <p:cNvPr id="112" name="TextBox 111"/>
          <p:cNvSpPr txBox="1"/>
          <p:nvPr/>
        </p:nvSpPr>
        <p:spPr>
          <a:xfrm>
            <a:off x="5064823" y="468106"/>
            <a:ext cx="97155" cy="163881"/>
          </a:xfrm>
          <a:prstGeom prst="rect">
            <a:avLst/>
          </a:prstGeom>
          <a:noFill/>
        </p:spPr>
        <p:txBody>
          <a:bodyPr wrap="none" anchor="ctr" lIns="0" rIns="0" tIns="0" bIns="0">
            <a:noAutofit/>
          </a:bodyPr>
          <a:lstStyle/>
          <a:p>
            <a:pPr algn="l"/>
            <a:r>
              <a:rPr sz="1100" b="1" i="0">
                <a:solidFill>
                  <a:srgbClr val="000000"/>
                </a:solidFill>
                <a:latin typeface="Arial"/>
              </a:rPr>
              <a:t>c</a:t>
            </a:r>
          </a:p>
        </p:txBody>
      </p:sp>
      <p:sp>
        <p:nvSpPr>
          <p:cNvPr id="113" name="TextBox 112"/>
          <p:cNvSpPr txBox="1"/>
          <p:nvPr/>
        </p:nvSpPr>
        <p:spPr>
          <a:xfrm>
            <a:off x="529427" y="2502106"/>
            <a:ext cx="105727" cy="163881"/>
          </a:xfrm>
          <a:prstGeom prst="rect">
            <a:avLst/>
          </a:prstGeom>
          <a:noFill/>
        </p:spPr>
        <p:txBody>
          <a:bodyPr wrap="none" anchor="ctr" lIns="0" rIns="0" tIns="0" bIns="0">
            <a:noAutofit/>
          </a:bodyPr>
          <a:lstStyle/>
          <a:p>
            <a:pPr algn="l"/>
            <a:r>
              <a:rPr sz="1100" b="1" i="0">
                <a:solidFill>
                  <a:srgbClr val="000000"/>
                </a:solidFill>
                <a:latin typeface="Arial"/>
              </a:rPr>
              <a:t>d</a:t>
            </a:r>
          </a:p>
        </p:txBody>
      </p:sp>
      <p:sp>
        <p:nvSpPr>
          <p:cNvPr id="114" name="TextBox 113"/>
          <p:cNvSpPr txBox="1"/>
          <p:nvPr/>
        </p:nvSpPr>
        <p:spPr>
          <a:xfrm>
            <a:off x="2746994" y="2502106"/>
            <a:ext cx="97155" cy="163881"/>
          </a:xfrm>
          <a:prstGeom prst="rect">
            <a:avLst/>
          </a:prstGeom>
          <a:noFill/>
        </p:spPr>
        <p:txBody>
          <a:bodyPr wrap="none" anchor="ctr" lIns="0" rIns="0" tIns="0" bIns="0">
            <a:noAutofit/>
          </a:bodyPr>
          <a:lstStyle/>
          <a:p>
            <a:pPr algn="l"/>
            <a:r>
              <a:rPr sz="1100" b="1" i="0">
                <a:solidFill>
                  <a:srgbClr val="000000"/>
                </a:solidFill>
                <a:latin typeface="Arial"/>
              </a:rPr>
              <a:t>e</a:t>
            </a:r>
          </a:p>
        </p:txBody>
      </p:sp>
      <p:sp>
        <p:nvSpPr>
          <p:cNvPr id="115" name="TextBox 114"/>
          <p:cNvSpPr txBox="1"/>
          <p:nvPr/>
        </p:nvSpPr>
        <p:spPr>
          <a:xfrm>
            <a:off x="5068824" y="2500796"/>
            <a:ext cx="57150" cy="165337"/>
          </a:xfrm>
          <a:prstGeom prst="rect">
            <a:avLst/>
          </a:prstGeom>
          <a:noFill/>
        </p:spPr>
        <p:txBody>
          <a:bodyPr wrap="none" anchor="ctr" lIns="0" rIns="0" tIns="0" bIns="0">
            <a:noAutofit/>
          </a:bodyPr>
          <a:lstStyle/>
          <a:p>
            <a:pPr algn="l"/>
            <a:r>
              <a:rPr sz="1100" b="1" i="0">
                <a:solidFill>
                  <a:srgbClr val="000000"/>
                </a:solidFill>
                <a:latin typeface="Arial"/>
              </a:rPr>
              <a:t>f</a:t>
            </a:r>
          </a:p>
        </p:txBody>
      </p:sp>
      <p:sp>
        <p:nvSpPr>
          <p:cNvPr id="116" name="TextBox 115"/>
          <p:cNvSpPr txBox="1"/>
          <p:nvPr/>
        </p:nvSpPr>
        <p:spPr>
          <a:xfrm>
            <a:off x="529427" y="4535748"/>
            <a:ext cx="105727" cy="164279"/>
          </a:xfrm>
          <a:prstGeom prst="rect">
            <a:avLst/>
          </a:prstGeom>
          <a:noFill/>
        </p:spPr>
        <p:txBody>
          <a:bodyPr wrap="none" anchor="ctr" lIns="0" rIns="0" tIns="0" bIns="0">
            <a:noAutofit/>
          </a:bodyPr>
          <a:lstStyle/>
          <a:p>
            <a:pPr algn="l"/>
            <a:r>
              <a:rPr sz="1100" b="1" i="0">
                <a:solidFill>
                  <a:srgbClr val="000000"/>
                </a:solidFill>
                <a:latin typeface="Arial"/>
              </a:rPr>
              <a:t>g</a:t>
            </a:r>
          </a:p>
        </p:txBody>
      </p:sp>
      <p:sp>
        <p:nvSpPr>
          <p:cNvPr id="117" name="TextBox 116"/>
          <p:cNvSpPr txBox="1"/>
          <p:nvPr/>
        </p:nvSpPr>
        <p:spPr>
          <a:xfrm>
            <a:off x="2746137" y="4536106"/>
            <a:ext cx="105727" cy="163881"/>
          </a:xfrm>
          <a:prstGeom prst="rect">
            <a:avLst/>
          </a:prstGeom>
          <a:noFill/>
        </p:spPr>
        <p:txBody>
          <a:bodyPr wrap="none" anchor="ctr" lIns="0" rIns="0" tIns="0" bIns="0">
            <a:noAutofit/>
          </a:bodyPr>
          <a:lstStyle/>
          <a:p>
            <a:pPr algn="l"/>
            <a:r>
              <a:rPr sz="1100" b="1" i="0">
                <a:solidFill>
                  <a:srgbClr val="000000"/>
                </a:solidFill>
                <a:latin typeface="Arial"/>
              </a:rPr>
              <a:t>h</a:t>
            </a:r>
          </a:p>
        </p:txBody>
      </p:sp>
      <p:sp>
        <p:nvSpPr>
          <p:cNvPr id="118" name="TextBox 117"/>
          <p:cNvSpPr txBox="1"/>
          <p:nvPr/>
        </p:nvSpPr>
        <p:spPr>
          <a:xfrm>
            <a:off x="540000" y="6372000"/>
            <a:ext cx="6480000" cy="3151800"/>
          </a:xfrm>
          <a:prstGeom prst="rect">
            <a:avLst/>
          </a:prstGeom>
          <a:noFill/>
        </p:spPr>
        <p:txBody>
          <a:bodyPr wrap="square" lIns="0" rIns="0" tIns="0" bIns="0">
            <a:spAutoFit/>
          </a:bodyPr>
          <a:lstStyle/>
          <a:p>
            <a:pPr algn="l"/>
            <a:r>
              <a:rPr sz="800" b="1">
                <a:latin typeface="Arial"/>
              </a:rPr>
              <a:t>Supplementary Fig. S14 | Longitudinal prediction of symptom trajectories from the virtual perturbations. </a:t>
            </a:r>
            <a:r>
              <a:rPr sz="800" b="0">
                <a:latin typeface="Arial"/>
              </a:rPr>
              <a:t>Unit of observation, one participant; n = 85 IMAGEN participants with a digital twin at age 19 and a symptom assessment at age 23. The symptom measure is the internalising total, the sum of items 3-6 of the battery; the outcome is its change from age 19 to 23. The restoration index is the difference between the symptom score predicted from the simulated baseline twin and from the perturbed twin, computed separately for the AMPA and the GABA-A perturbation with the same weights; longitudinal change was used neither in model fitting nor in the perturbation nor in the construction of the index. In every panel one dot is one participant, the line is the ordinary least-squares fit and the band its 95% confidence interval. Correlations are Pearson, with Fisher-z intervals; all tests two-sided and unpaired, with no correction for multiple comparisons (two pre-specified indices over two pre-specified covariate sets). Permutation P values come from 5,000 permutations of the outcome, matched to each increment. In b, f and g both axes are residualised on that panel's covariates, so the plotted slope is the contribution the index makes over and above them; there the partial correlation and the nested F test are the same test on the same residual degrees of freedom and their P values agree exactly. </a:t>
            </a:r>
            <a:r>
              <a:rPr sz="800" b="1">
                <a:latin typeface="Arial"/>
              </a:rPr>
              <a:t>a,</a:t>
            </a:r>
            <a:r>
              <a:rPr sz="800" b="0">
                <a:latin typeface="Arial"/>
              </a:rPr>
              <a:t> the mapping the index is built on: the empirical NP at age 19 against the concurrent internalising total, r = -0.30 (95% CI -0.48 to -0.10, P = 0.00488). The weights of the mapping were fitted on the imaging sample, not on this sample's later change. </a:t>
            </a:r>
            <a:r>
              <a:rPr sz="800" b="1">
                <a:latin typeface="Arial"/>
              </a:rPr>
              <a:t>b,</a:t>
            </a:r>
            <a:r>
              <a:rPr sz="800" b="0">
                <a:latin typeface="Arial"/>
              </a:rPr>
              <a:t> the AMPA index against later symptom change with the four baseline symptom items as covariates: partial r = +0.242 (95% CI +0.02 to +0.44), df = 79, t = 2.22, P = 0.0295; delta R2 = 0.0477 (R2 0.1853 to 0.2330), F(1, 79) = 4.91, P = 0.0295, permutation P = 0.0428. Greater predicted restoration corresponds to greater symptom reduction. With the baseline empirical NP as covariate instead, the same index gives partial r = +0.243 (95% CI +0.03 to +0.43), df = 82, t = 2.27, P = 0.0259; delta R2 = 0.0502 (R2 0.1515 to 0.2017), F(1, 82) = 5.15, P = 0.0259, permutation P = 0.0388; that scatter is Fig. 5f of the main figure and is not repeated here. </a:t>
            </a:r>
            <a:r>
              <a:rPr sz="800" b="1">
                <a:latin typeface="Arial"/>
              </a:rPr>
              <a:t>c,</a:t>
            </a:r>
            <a:r>
              <a:rPr sz="800" b="0">
                <a:latin typeface="Arial"/>
              </a:rPr>
              <a:t> the model of b as a prediction: its fitted values against the empirical change, r = 0.483, R2 = 0.2330, F(5, 79) = 4.80, P = 0.0007. These are in-sample values, so the correlation shown is that model's multiple R and the panel carries no independent test; this is the model quoted in the main text. </a:t>
            </a:r>
            <a:r>
              <a:rPr sz="800" b="1">
                <a:latin typeface="Arial"/>
              </a:rPr>
              <a:t>d,</a:t>
            </a:r>
            <a:r>
              <a:rPr sz="800" b="0">
                <a:latin typeface="Arial"/>
              </a:rPr>
              <a:t> the AMPA restoration index against the baseline empirical NP, r = +0.10 (95% CI -0.11 to +0.31, P = 0.34) -- the index is not a repackaging of the baseline scan. </a:t>
            </a:r>
            <a:r>
              <a:rPr sz="800" b="1">
                <a:latin typeface="Arial"/>
              </a:rPr>
              <a:t>e,</a:t>
            </a:r>
            <a:r>
              <a:rPr sz="800" b="0">
                <a:latin typeface="Arial"/>
              </a:rPr>
              <a:t> the AMPA restoration index against the baseline internalising total, r = -0.16 (95% CI -0.36 to +0.06, P = 0.153) -- nor of baseline symptoms. The GABA-A index behaves the same way against the scan (r = +0.07 (95% CI -0.14 to +0.28, P = 0.506)) and is weakly related to baseline symptoms (r = -0.23 (95% CI -0.42 to -0.01, P = 0.0379)). </a:t>
            </a:r>
            <a:r>
              <a:rPr sz="800" b="1">
                <a:latin typeface="Arial"/>
              </a:rPr>
              <a:t>f,</a:t>
            </a:r>
            <a:r>
              <a:rPr sz="800" b="0">
                <a:latin typeface="Arial"/>
              </a:rPr>
              <a:t> the GABA-A index with the baseline symptom items as covariates: partial r = +0.159 (95% CI -0.06 to +0.36), df = 79, t = 1.43, P = 0.156; delta R2 = 0.0206 (R2 0.1853 to 0.2060), F(1, 79) = 2.05, P = 0.156, permutation P = 0.1876 -- it adds nothing there. </a:t>
            </a:r>
            <a:r>
              <a:rPr sz="800" b="1">
                <a:latin typeface="Arial"/>
              </a:rPr>
              <a:t>g,</a:t>
            </a:r>
            <a:r>
              <a:rPr sz="800" b="0">
                <a:latin typeface="Arial"/>
              </a:rPr>
              <a:t> the GABA-A index with the baseline empirical NP as covariate: partial r = +0.224 (95% CI +0.01 to +0.42), df = 82, t = 2.08, P = 0.0405; delta R2 = 0.0426 (R2 0.1515 to 0.1941), F(1, 82) = 4.33, P = 0.0405, permutation P = 0.0592 -- it reaches the conventional threshold on the F test but not on the permutation test. </a:t>
            </a:r>
            <a:r>
              <a:rPr sz="800" b="1">
                <a:latin typeface="Arial"/>
              </a:rPr>
              <a:t>h,</a:t>
            </a:r>
            <a:r>
              <a:rPr sz="800" b="0">
                <a:latin typeface="Arial"/>
              </a:rPr>
              <a:t> the same for the model of g, the GABA-A model that reaches significance: r = 0.441, R2 = 0.1941, F(2, 82) = 9.88, P = 0.00014 -- also in-sample and also without an independent test. The cross-validated versions of these models are in Supplementary Fig. S13c, where the out-of-sample R2 is 0.111 for the four items plus the AMPA index, 0.136 for the empirical NP plus the AMPA index and 0.088 for the four items plus the GABA-A index.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