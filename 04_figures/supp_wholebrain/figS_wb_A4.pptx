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wb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0549" y="2267205"/>
            <a:ext cx="591502" cy="34644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FDR
q &lt; 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4202" y="2285562"/>
            <a:ext cx="674370" cy="1628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|d_z| &gt;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9289" y="2285562"/>
            <a:ext cx="674370" cy="1628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|d_z| &gt; 0.8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62619" y="1365508"/>
            <a:ext cx="146304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Edges of 23,436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602" y="2183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880" y="18662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880" y="15494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80" y="12326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80" y="9158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158" y="59909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9707" y="658819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5218" y="794491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929" y="931703"/>
            <a:ext cx="86010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Stop-success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628" y="657280"/>
            <a:ext cx="73437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Stop-failure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915" y="794662"/>
            <a:ext cx="6315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056" y="930505"/>
            <a:ext cx="7400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Anticipation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0118" y="1260965"/>
            <a:ext cx="5114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2425" y="760755"/>
            <a:ext cx="32004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Arial"/>
              </a:rPr>
              <a:t>large</a:t>
            </a:r>
          </a:p>
        </p:txBody>
      </p:sp>
      <p:sp>
        <p:nvSpPr>
          <p:cNvPr id="21" name="TextBox 20"/>
          <p:cNvSpPr txBox="1"/>
          <p:nvPr/>
        </p:nvSpPr>
        <p:spPr>
          <a:xfrm rot="18900000">
            <a:off x="4793892" y="2559818"/>
            <a:ext cx="10035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SST stop-success</a:t>
            </a:r>
          </a:p>
        </p:txBody>
      </p:sp>
      <p:sp>
        <p:nvSpPr>
          <p:cNvPr id="22" name="TextBox 21"/>
          <p:cNvSpPr txBox="1"/>
          <p:nvPr/>
        </p:nvSpPr>
        <p:spPr>
          <a:xfrm rot="18900000">
            <a:off x="5271902" y="2528297"/>
            <a:ext cx="8921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SST stop-failure</a:t>
            </a:r>
          </a:p>
        </p:txBody>
      </p:sp>
      <p:sp>
        <p:nvSpPr>
          <p:cNvPr id="23" name="TextBox 22"/>
          <p:cNvSpPr txBox="1"/>
          <p:nvPr/>
        </p:nvSpPr>
        <p:spPr>
          <a:xfrm rot="18900000">
            <a:off x="5759314" y="2493379"/>
            <a:ext cx="76866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MID feedback</a:t>
            </a:r>
          </a:p>
        </p:txBody>
      </p:sp>
      <p:sp>
        <p:nvSpPr>
          <p:cNvPr id="24" name="TextBox 23"/>
          <p:cNvSpPr txBox="1"/>
          <p:nvPr/>
        </p:nvSpPr>
        <p:spPr>
          <a:xfrm rot="18900000">
            <a:off x="6051655" y="2528941"/>
            <a:ext cx="8943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MID anticipation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379330" y="1260272"/>
            <a:ext cx="1297305" cy="35945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Median |d_z|
(significant edges)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0020" y="2183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20" y="18496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0020" y="15161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0020" y="118267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0020" y="84920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0020" y="5157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8142" y="657451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3653" y="798838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1221616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1386479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1477047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644768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1818204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1987353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1922545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2186774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2315918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578" y="3516242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010" y="3662531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2" y="3808821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288" y="3955111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152" y="4101400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300" y="4247690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324" y="4393979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614" y="4540269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753" y="4686559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7590" y="3210556"/>
            <a:ext cx="115184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 stop-success
AMPA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2617422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2782285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2872853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3040574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3214010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3383160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3318351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3582580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3711724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73397" y="3209017"/>
            <a:ext cx="1151840" cy="31442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 stop-success
GABA-A</a:t>
            </a:r>
          </a:p>
        </p:txBody>
      </p:sp>
      <p:sp>
        <p:nvSpPr>
          <p:cNvPr id="63" name="TextBox 62"/>
          <p:cNvSpPr txBox="1"/>
          <p:nvPr/>
        </p:nvSpPr>
        <p:spPr>
          <a:xfrm rot="16200000">
            <a:off x="4013228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4178091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4268660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4436381" y="4921478"/>
            <a:ext cx="32003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4609816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4778966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4714158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4978386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71" name="TextBox 70"/>
          <p:cNvSpPr txBox="1"/>
          <p:nvPr/>
        </p:nvSpPr>
        <p:spPr>
          <a:xfrm rot="16200000">
            <a:off x="5107531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95805" y="3212096"/>
            <a:ext cx="885825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 feedback
AMPA</a:t>
            </a:r>
          </a:p>
        </p:txBody>
      </p:sp>
      <p:sp>
        <p:nvSpPr>
          <p:cNvPr id="73" name="TextBox 72"/>
          <p:cNvSpPr txBox="1"/>
          <p:nvPr/>
        </p:nvSpPr>
        <p:spPr>
          <a:xfrm rot="16200000">
            <a:off x="5409034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5573898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5664466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76" name="TextBox 75"/>
          <p:cNvSpPr txBox="1"/>
          <p:nvPr/>
        </p:nvSpPr>
        <p:spPr>
          <a:xfrm rot="16200000">
            <a:off x="5832187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77" name="TextBox 76"/>
          <p:cNvSpPr txBox="1"/>
          <p:nvPr/>
        </p:nvSpPr>
        <p:spPr>
          <a:xfrm rot="16200000">
            <a:off x="6005623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6174772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79" name="TextBox 78"/>
          <p:cNvSpPr txBox="1"/>
          <p:nvPr/>
        </p:nvSpPr>
        <p:spPr>
          <a:xfrm rot="16200000">
            <a:off x="6109964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80" name="TextBox 79"/>
          <p:cNvSpPr txBox="1"/>
          <p:nvPr/>
        </p:nvSpPr>
        <p:spPr>
          <a:xfrm rot="16200000">
            <a:off x="6374192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6503337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1611" y="3210556"/>
            <a:ext cx="885825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 feedback
GABA-A</a:t>
            </a:r>
          </a:p>
        </p:txBody>
      </p:sp>
      <p:sp>
        <p:nvSpPr>
          <p:cNvPr id="83" name="TextBox 82"/>
          <p:cNvSpPr txBox="1"/>
          <p:nvPr/>
        </p:nvSpPr>
        <p:spPr>
          <a:xfrm rot="16200000">
            <a:off x="6557410" y="4083260"/>
            <a:ext cx="146018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Net signed change (%)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39589" y="4771702"/>
            <a:ext cx="248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6447" y="443655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57592" y="410140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0734" y="376624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3876" y="3431099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4055" y="431122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32853" y="431122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4055" y="306056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0000" y="5618606"/>
            <a:ext cx="6480000" cy="208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S7 | Whole-brain extent of the virtual perturbations at n = 288. </a:t>
            </a:r>
            <a:r>
              <a:rPr sz="800" b="0">
                <a:latin typeface="Arial"/>
              </a:rPr>
              <a:t>All three panels are computed on the same edge set: the 23,436 upper-triangular edges among 217 nodes, in each of four task conditions (SST stop-success, SST stop-failure, MID feedback, MID anticipation), for the 288 digital twins of the Fig. 4 cohort. Unit of observation is one subject; every edge is tested with a two-sided paired t test (df = 287) and the 23,436 tests of a condition are corrected together by Benjamini-Hochberg FDR. Colour separates the two contrasts throughout: AMPA versus baseline and GABA-A versus baseline, where the GABA-A perturbation is applied on top of AMPA as everywhere else in this work (the source table names this contrast "AMPA+GABA-A vs baseline").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the proportion of edges that survives as the criterion is tightened from FDR significance alone to an effect-size floor. Marker shape gives the task condition (stop-success and stop-failure are SST, feedback and anticipation are MID). Under AMPA, 69.5-83.2% of edges pass FDR, but only 15.9-31.2% reach |d_z| &gt; 0.5 and 6.5-12.3% reach |d_z| &gt; 0.8; under GABA-A, 82.8-89.7% pass FDR and 37.0-52.7% reach |d_z| &gt; 0.5. The large number of significant edges therefore reflects the power available at n = 288 rather than a large per-edge effect, and an effect-size floor should be stated whenever the extent is described in words.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the median |d_z| among the significant edges of each condition; the dashed lines mark the conventional medium (0.5) and large (0.8) benchmarks. AMPA: 0.315-0.402. GABA-A: 0.454-0.592. The typical significant edge is thus a small-to-medium effect, and no condition reaches the large benchmark on the median.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spatial organisation of the response: the net signed percentage of significantly changed edges for each of the 45 canonical network pairs (9 networks, within and between), for two of the four conditions x the two contrasts. All four matrices share one colour scale, symmetric about zero at +/-98.2%, and the values shown run from -88.9% to 98.2%; the matrices are symmetric by construction. Red is a net increase in connectivity, blue a net decrease. This panel is descriptive and carries no test; the per-pair counts for all four conditions and all three contrasts (540 rows) are tabulated in SuppTable_WB_network_pair_summary_n288.csv. </a:t>
            </a:r>
            <a:r>
              <a:rPr sz="800" b="0">
                <a:latin typeface="Arial"/>
              </a:rPr>
              <a:t>The direction of the response is also asymmetric between the two contrasts: of the significant edges under GABA-A, 88.8-91.2% increase, against 53.0-88.1% under AMPA alone. The incremental GABA-A versus AMPA contrast is not plotted here and is given in SuppTable_WB1_wholebrain_modulation_n288.csv.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