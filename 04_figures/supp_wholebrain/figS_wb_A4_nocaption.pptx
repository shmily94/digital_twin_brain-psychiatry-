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wb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0549" y="2267205"/>
            <a:ext cx="591502" cy="34644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FDR
q &lt; 0.05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4202" y="2285562"/>
            <a:ext cx="674370" cy="1628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|d_z| &gt;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9289" y="2285562"/>
            <a:ext cx="674370" cy="16287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|d_z| &gt; 0.8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62619" y="1365508"/>
            <a:ext cx="1463040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Edges of 23,436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602" y="2183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880" y="18662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880" y="15494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880" y="12326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80" y="9158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158" y="59909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9707" y="658819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5218" y="794491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929" y="931703"/>
            <a:ext cx="86010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Stop-success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628" y="657280"/>
            <a:ext cx="73437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Stop-failure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915" y="794662"/>
            <a:ext cx="63150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056" y="930505"/>
            <a:ext cx="7400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Anticipation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0118" y="1260965"/>
            <a:ext cx="51149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Arial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2425" y="760755"/>
            <a:ext cx="32004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Arial"/>
              </a:rPr>
              <a:t>large</a:t>
            </a:r>
          </a:p>
        </p:txBody>
      </p:sp>
      <p:sp>
        <p:nvSpPr>
          <p:cNvPr id="21" name="TextBox 20"/>
          <p:cNvSpPr txBox="1"/>
          <p:nvPr/>
        </p:nvSpPr>
        <p:spPr>
          <a:xfrm rot="18900000">
            <a:off x="4793892" y="2559818"/>
            <a:ext cx="10035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SST stop-success</a:t>
            </a:r>
          </a:p>
        </p:txBody>
      </p:sp>
      <p:sp>
        <p:nvSpPr>
          <p:cNvPr id="22" name="TextBox 21"/>
          <p:cNvSpPr txBox="1"/>
          <p:nvPr/>
        </p:nvSpPr>
        <p:spPr>
          <a:xfrm rot="18900000">
            <a:off x="5271902" y="2528297"/>
            <a:ext cx="8921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SST stop-failure</a:t>
            </a:r>
          </a:p>
        </p:txBody>
      </p:sp>
      <p:sp>
        <p:nvSpPr>
          <p:cNvPr id="23" name="TextBox 22"/>
          <p:cNvSpPr txBox="1"/>
          <p:nvPr/>
        </p:nvSpPr>
        <p:spPr>
          <a:xfrm rot="18900000">
            <a:off x="5759314" y="2493379"/>
            <a:ext cx="76866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MID feedback</a:t>
            </a:r>
          </a:p>
        </p:txBody>
      </p:sp>
      <p:sp>
        <p:nvSpPr>
          <p:cNvPr id="24" name="TextBox 23"/>
          <p:cNvSpPr txBox="1"/>
          <p:nvPr/>
        </p:nvSpPr>
        <p:spPr>
          <a:xfrm rot="18900000">
            <a:off x="6051655" y="2528941"/>
            <a:ext cx="8943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MID anticipation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379330" y="1260272"/>
            <a:ext cx="1297305" cy="35945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Median |d_z|
(significant edges)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0020" y="2183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20" y="18496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0020" y="15161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0020" y="118267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0020" y="84920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0020" y="5157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8142" y="657451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3653" y="798838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1221616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1386479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1477047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644768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1818204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1987353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1922545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2186774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2315918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578" y="3516242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010" y="3662531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2" y="3808821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288" y="3955111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152" y="4101400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300" y="4247690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324" y="4393979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614" y="4540269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753" y="4686559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7590" y="3210556"/>
            <a:ext cx="115184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 stop-success
AMPA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2617422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2782285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2872853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3040574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3214010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3383160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59" name="TextBox 58"/>
          <p:cNvSpPr txBox="1"/>
          <p:nvPr/>
        </p:nvSpPr>
        <p:spPr>
          <a:xfrm rot="16200000">
            <a:off x="3318351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60" name="TextBox 59"/>
          <p:cNvSpPr txBox="1"/>
          <p:nvPr/>
        </p:nvSpPr>
        <p:spPr>
          <a:xfrm rot="16200000">
            <a:off x="3582580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3711724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73397" y="3209017"/>
            <a:ext cx="1151840" cy="31442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 stop-success
GABA-A</a:t>
            </a:r>
          </a:p>
        </p:txBody>
      </p:sp>
      <p:sp>
        <p:nvSpPr>
          <p:cNvPr id="63" name="TextBox 62"/>
          <p:cNvSpPr txBox="1"/>
          <p:nvPr/>
        </p:nvSpPr>
        <p:spPr>
          <a:xfrm rot="16200000">
            <a:off x="4013228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4178091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4268660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4436381" y="4921478"/>
            <a:ext cx="32003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67" name="TextBox 66"/>
          <p:cNvSpPr txBox="1"/>
          <p:nvPr/>
        </p:nvSpPr>
        <p:spPr>
          <a:xfrm rot="16200000">
            <a:off x="4609816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4778966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4714158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4978386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71" name="TextBox 70"/>
          <p:cNvSpPr txBox="1"/>
          <p:nvPr/>
        </p:nvSpPr>
        <p:spPr>
          <a:xfrm rot="16200000">
            <a:off x="5107531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95805" y="3212096"/>
            <a:ext cx="885825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 feedback
AMPA</a:t>
            </a:r>
          </a:p>
        </p:txBody>
      </p:sp>
      <p:sp>
        <p:nvSpPr>
          <p:cNvPr id="73" name="TextBox 72"/>
          <p:cNvSpPr txBox="1"/>
          <p:nvPr/>
        </p:nvSpPr>
        <p:spPr>
          <a:xfrm rot="16200000">
            <a:off x="5409034" y="4908905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DMN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5573898" y="4894046"/>
            <a:ext cx="2514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FPN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5664466" y="4938623"/>
            <a:ext cx="3629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Limbic</a:t>
            </a:r>
          </a:p>
        </p:txBody>
      </p:sp>
      <p:sp>
        <p:nvSpPr>
          <p:cNvPr id="76" name="TextBox 75"/>
          <p:cNvSpPr txBox="1"/>
          <p:nvPr/>
        </p:nvSpPr>
        <p:spPr>
          <a:xfrm rot="16200000">
            <a:off x="5832187" y="4921478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77" name="TextBox 76"/>
          <p:cNvSpPr txBox="1"/>
          <p:nvPr/>
        </p:nvSpPr>
        <p:spPr>
          <a:xfrm rot="16200000">
            <a:off x="6005623" y="489976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SMF</a:t>
            </a:r>
          </a:p>
        </p:txBody>
      </p:sp>
      <p:sp>
        <p:nvSpPr>
          <p:cNvPr id="78" name="TextBox 77"/>
          <p:cNvSpPr txBox="1"/>
          <p:nvPr/>
        </p:nvSpPr>
        <p:spPr>
          <a:xfrm rot="16200000">
            <a:off x="6174772" y="4881473"/>
            <a:ext cx="2200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</a:t>
            </a:r>
          </a:p>
        </p:txBody>
      </p:sp>
      <p:sp>
        <p:nvSpPr>
          <p:cNvPr id="79" name="TextBox 78"/>
          <p:cNvSpPr txBox="1"/>
          <p:nvPr/>
        </p:nvSpPr>
        <p:spPr>
          <a:xfrm rot="16200000">
            <a:off x="6109964" y="5050352"/>
            <a:ext cx="642223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Asso</a:t>
            </a:r>
          </a:p>
        </p:txBody>
      </p:sp>
      <p:sp>
        <p:nvSpPr>
          <p:cNvPr id="80" name="TextBox 79"/>
          <p:cNvSpPr txBox="1"/>
          <p:nvPr/>
        </p:nvSpPr>
        <p:spPr>
          <a:xfrm rot="16200000">
            <a:off x="6374192" y="4956001"/>
            <a:ext cx="4063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6503337" y="4969717"/>
            <a:ext cx="4406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Visual II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1611" y="3210556"/>
            <a:ext cx="885825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 feedback
GABA-A</a:t>
            </a:r>
          </a:p>
        </p:txBody>
      </p:sp>
      <p:sp>
        <p:nvSpPr>
          <p:cNvPr id="83" name="TextBox 82"/>
          <p:cNvSpPr txBox="1"/>
          <p:nvPr/>
        </p:nvSpPr>
        <p:spPr>
          <a:xfrm rot="16200000">
            <a:off x="6557410" y="4083260"/>
            <a:ext cx="146018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Net signed change (%)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39589" y="4771702"/>
            <a:ext cx="248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6447" y="4436551"/>
            <a:ext cx="1800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57592" y="4101400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0734" y="376624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43876" y="3431099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4055" y="431122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32853" y="431122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4055" y="306056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