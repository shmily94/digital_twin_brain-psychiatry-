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wbdrug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404329" y="1517562"/>
            <a:ext cx="308610" cy="119186"/>
          </a:xfrm>
          <a:prstGeom prst="rect">
            <a:avLst/>
          </a:prstGeom>
          <a:noFill/>
        </p:spPr>
        <p:txBody>
          <a:bodyPr wrap="none" anchor="ctr" lIns="0" rIns="0" tIns="0" bIns="0">
            <a:noAutofit/>
          </a:bodyPr>
          <a:lstStyle/>
          <a:p>
            <a:pPr algn="ctr"/>
            <a:r>
              <a:rPr sz="800" b="0" i="0">
                <a:solidFill>
                  <a:srgbClr val="E1D09A"/>
                </a:solidFill>
                <a:latin typeface="Arial"/>
              </a:rPr>
              <a:t>18/30</a:t>
            </a:r>
          </a:p>
        </p:txBody>
      </p:sp>
      <p:sp>
        <p:nvSpPr>
          <p:cNvPr id="4" name="TextBox 3"/>
          <p:cNvSpPr txBox="1"/>
          <p:nvPr/>
        </p:nvSpPr>
        <p:spPr>
          <a:xfrm>
            <a:off x="1677757" y="1996516"/>
            <a:ext cx="308610" cy="119186"/>
          </a:xfrm>
          <a:prstGeom prst="rect">
            <a:avLst/>
          </a:prstGeom>
          <a:noFill/>
        </p:spPr>
        <p:txBody>
          <a:bodyPr wrap="none" anchor="ctr" lIns="0" rIns="0" tIns="0" bIns="0">
            <a:noAutofit/>
          </a:bodyPr>
          <a:lstStyle/>
          <a:p>
            <a:pPr algn="ctr"/>
            <a:r>
              <a:rPr sz="800" b="0" i="0">
                <a:solidFill>
                  <a:srgbClr val="E1D09A"/>
                </a:solidFill>
                <a:latin typeface="Arial"/>
              </a:rPr>
              <a:t>14/30</a:t>
            </a:r>
          </a:p>
        </p:txBody>
      </p:sp>
      <p:sp>
        <p:nvSpPr>
          <p:cNvPr id="5" name="TextBox 4"/>
          <p:cNvSpPr txBox="1"/>
          <p:nvPr/>
        </p:nvSpPr>
        <p:spPr>
          <a:xfrm>
            <a:off x="2303763" y="1163304"/>
            <a:ext cx="308610" cy="119186"/>
          </a:xfrm>
          <a:prstGeom prst="rect">
            <a:avLst/>
          </a:prstGeom>
          <a:noFill/>
        </p:spPr>
        <p:txBody>
          <a:bodyPr wrap="none" anchor="ctr" lIns="0" rIns="0" tIns="0" bIns="0">
            <a:noAutofit/>
          </a:bodyPr>
          <a:lstStyle/>
          <a:p>
            <a:pPr algn="ctr"/>
            <a:r>
              <a:rPr sz="800" b="0" i="0">
                <a:solidFill>
                  <a:srgbClr val="E1D09A"/>
                </a:solidFill>
                <a:latin typeface="Arial"/>
              </a:rPr>
              <a:t>20/26</a:t>
            </a:r>
          </a:p>
        </p:txBody>
      </p:sp>
      <p:sp>
        <p:nvSpPr>
          <p:cNvPr id="6" name="TextBox 5"/>
          <p:cNvSpPr txBox="1"/>
          <p:nvPr/>
        </p:nvSpPr>
        <p:spPr>
          <a:xfrm>
            <a:off x="2581902" y="2088749"/>
            <a:ext cx="299189" cy="119186"/>
          </a:xfrm>
          <a:prstGeom prst="rect">
            <a:avLst/>
          </a:prstGeom>
          <a:noFill/>
        </p:spPr>
        <p:txBody>
          <a:bodyPr wrap="none" anchor="ctr" lIns="0" rIns="0" tIns="0" bIns="0">
            <a:noAutofit/>
          </a:bodyPr>
          <a:lstStyle/>
          <a:p>
            <a:pPr algn="ctr"/>
            <a:r>
              <a:rPr sz="800" b="0" i="0">
                <a:solidFill>
                  <a:srgbClr val="E1D09A"/>
                </a:solidFill>
                <a:latin typeface="Arial"/>
              </a:rPr>
              <a:t>11/26</a:t>
            </a:r>
          </a:p>
        </p:txBody>
      </p:sp>
      <p:sp>
        <p:nvSpPr>
          <p:cNvPr id="7" name="TextBox 6"/>
          <p:cNvSpPr txBox="1"/>
          <p:nvPr/>
        </p:nvSpPr>
        <p:spPr>
          <a:xfrm>
            <a:off x="3203198" y="1351962"/>
            <a:ext cx="308610" cy="119186"/>
          </a:xfrm>
          <a:prstGeom prst="rect">
            <a:avLst/>
          </a:prstGeom>
          <a:noFill/>
        </p:spPr>
        <p:txBody>
          <a:bodyPr wrap="none" anchor="ctr" lIns="0" rIns="0" tIns="0" bIns="0">
            <a:noAutofit/>
          </a:bodyPr>
          <a:lstStyle/>
          <a:p>
            <a:pPr algn="ctr"/>
            <a:r>
              <a:rPr sz="800" b="0" i="0">
                <a:solidFill>
                  <a:srgbClr val="E1D09A"/>
                </a:solidFill>
                <a:latin typeface="Arial"/>
              </a:rPr>
              <a:t>38/56</a:t>
            </a:r>
          </a:p>
        </p:txBody>
      </p:sp>
      <p:sp>
        <p:nvSpPr>
          <p:cNvPr id="8" name="TextBox 7"/>
          <p:cNvSpPr txBox="1"/>
          <p:nvPr/>
        </p:nvSpPr>
        <p:spPr>
          <a:xfrm>
            <a:off x="3476626" y="2040537"/>
            <a:ext cx="308610" cy="119186"/>
          </a:xfrm>
          <a:prstGeom prst="rect">
            <a:avLst/>
          </a:prstGeom>
          <a:noFill/>
        </p:spPr>
        <p:txBody>
          <a:bodyPr wrap="none" anchor="ctr" lIns="0" rIns="0" tIns="0" bIns="0">
            <a:noAutofit/>
          </a:bodyPr>
          <a:lstStyle/>
          <a:p>
            <a:pPr algn="ctr"/>
            <a:r>
              <a:rPr sz="800" b="0" i="0">
                <a:solidFill>
                  <a:srgbClr val="E1D09A"/>
                </a:solidFill>
                <a:latin typeface="Arial"/>
              </a:rPr>
              <a:t>25/56</a:t>
            </a:r>
          </a:p>
        </p:txBody>
      </p:sp>
      <p:sp>
        <p:nvSpPr>
          <p:cNvPr id="9" name="TextBox 8"/>
          <p:cNvSpPr txBox="1"/>
          <p:nvPr/>
        </p:nvSpPr>
        <p:spPr>
          <a:xfrm>
            <a:off x="4426428" y="1324711"/>
            <a:ext cx="308610" cy="119186"/>
          </a:xfrm>
          <a:prstGeom prst="rect">
            <a:avLst/>
          </a:prstGeom>
          <a:noFill/>
        </p:spPr>
        <p:txBody>
          <a:bodyPr wrap="none" anchor="ctr" lIns="0" rIns="0" tIns="0" bIns="0">
            <a:noAutofit/>
          </a:bodyPr>
          <a:lstStyle/>
          <a:p>
            <a:pPr algn="ctr"/>
            <a:r>
              <a:rPr sz="800" b="0" i="0">
                <a:solidFill>
                  <a:srgbClr val="96B9AD"/>
                </a:solidFill>
                <a:latin typeface="Arial"/>
              </a:rPr>
              <a:t>36/52</a:t>
            </a:r>
          </a:p>
        </p:txBody>
      </p:sp>
      <p:sp>
        <p:nvSpPr>
          <p:cNvPr id="10" name="TextBox 9"/>
          <p:cNvSpPr txBox="1"/>
          <p:nvPr/>
        </p:nvSpPr>
        <p:spPr>
          <a:xfrm>
            <a:off x="4699857" y="1726106"/>
            <a:ext cx="308610" cy="119186"/>
          </a:xfrm>
          <a:prstGeom prst="rect">
            <a:avLst/>
          </a:prstGeom>
          <a:noFill/>
        </p:spPr>
        <p:txBody>
          <a:bodyPr wrap="none" anchor="ctr" lIns="0" rIns="0" tIns="0" bIns="0">
            <a:noAutofit/>
          </a:bodyPr>
          <a:lstStyle/>
          <a:p>
            <a:pPr algn="ctr"/>
            <a:r>
              <a:rPr sz="800" b="0" i="0">
                <a:solidFill>
                  <a:srgbClr val="96B9AD"/>
                </a:solidFill>
                <a:latin typeface="Arial"/>
              </a:rPr>
              <a:t>31/52</a:t>
            </a:r>
          </a:p>
        </p:txBody>
      </p:sp>
      <p:sp>
        <p:nvSpPr>
          <p:cNvPr id="11" name="TextBox 10"/>
          <p:cNvSpPr txBox="1"/>
          <p:nvPr/>
        </p:nvSpPr>
        <p:spPr>
          <a:xfrm>
            <a:off x="5325863" y="1224094"/>
            <a:ext cx="308610" cy="119186"/>
          </a:xfrm>
          <a:prstGeom prst="rect">
            <a:avLst/>
          </a:prstGeom>
          <a:noFill/>
        </p:spPr>
        <p:txBody>
          <a:bodyPr wrap="none" anchor="ctr" lIns="0" rIns="0" tIns="0" bIns="0">
            <a:noAutofit/>
          </a:bodyPr>
          <a:lstStyle/>
          <a:p>
            <a:pPr algn="ctr"/>
            <a:r>
              <a:rPr sz="800" b="0" i="0">
                <a:solidFill>
                  <a:srgbClr val="96B9AD"/>
                </a:solidFill>
                <a:latin typeface="Arial"/>
              </a:rPr>
              <a:t>37/50</a:t>
            </a:r>
          </a:p>
        </p:txBody>
      </p:sp>
      <p:sp>
        <p:nvSpPr>
          <p:cNvPr id="12" name="TextBox 11"/>
          <p:cNvSpPr txBox="1"/>
          <p:nvPr/>
        </p:nvSpPr>
        <p:spPr>
          <a:xfrm>
            <a:off x="5599291" y="1508101"/>
            <a:ext cx="308610" cy="119186"/>
          </a:xfrm>
          <a:prstGeom prst="rect">
            <a:avLst/>
          </a:prstGeom>
          <a:noFill/>
        </p:spPr>
        <p:txBody>
          <a:bodyPr wrap="none" anchor="ctr" lIns="0" rIns="0" tIns="0" bIns="0">
            <a:noAutofit/>
          </a:bodyPr>
          <a:lstStyle/>
          <a:p>
            <a:pPr algn="ctr"/>
            <a:r>
              <a:rPr sz="800" b="0" i="0">
                <a:solidFill>
                  <a:srgbClr val="96B9AD"/>
                </a:solidFill>
                <a:latin typeface="Arial"/>
              </a:rPr>
              <a:t>35/50</a:t>
            </a:r>
          </a:p>
        </p:txBody>
      </p:sp>
      <p:sp>
        <p:nvSpPr>
          <p:cNvPr id="13" name="TextBox 12"/>
          <p:cNvSpPr txBox="1"/>
          <p:nvPr/>
        </p:nvSpPr>
        <p:spPr>
          <a:xfrm>
            <a:off x="6191007" y="1274403"/>
            <a:ext cx="377190" cy="119186"/>
          </a:xfrm>
          <a:prstGeom prst="rect">
            <a:avLst/>
          </a:prstGeom>
          <a:noFill/>
        </p:spPr>
        <p:txBody>
          <a:bodyPr wrap="none" anchor="ctr" lIns="0" rIns="0" tIns="0" bIns="0">
            <a:noAutofit/>
          </a:bodyPr>
          <a:lstStyle/>
          <a:p>
            <a:pPr algn="ctr"/>
            <a:r>
              <a:rPr sz="800" b="0" i="0">
                <a:solidFill>
                  <a:srgbClr val="96B9AD"/>
                </a:solidFill>
                <a:latin typeface="Arial"/>
              </a:rPr>
              <a:t>73/102</a:t>
            </a:r>
          </a:p>
        </p:txBody>
      </p:sp>
      <p:sp>
        <p:nvSpPr>
          <p:cNvPr id="14" name="TextBox 13"/>
          <p:cNvSpPr txBox="1"/>
          <p:nvPr/>
        </p:nvSpPr>
        <p:spPr>
          <a:xfrm>
            <a:off x="6464435" y="1619200"/>
            <a:ext cx="377190" cy="119186"/>
          </a:xfrm>
          <a:prstGeom prst="rect">
            <a:avLst/>
          </a:prstGeom>
          <a:noFill/>
        </p:spPr>
        <p:txBody>
          <a:bodyPr wrap="none" anchor="ctr" lIns="0" rIns="0" tIns="0" bIns="0">
            <a:noAutofit/>
          </a:bodyPr>
          <a:lstStyle/>
          <a:p>
            <a:pPr algn="ctr"/>
            <a:r>
              <a:rPr sz="800" b="0" i="0">
                <a:solidFill>
                  <a:srgbClr val="96B9AD"/>
                </a:solidFill>
                <a:latin typeface="Arial"/>
              </a:rPr>
              <a:t>66/102</a:t>
            </a:r>
          </a:p>
        </p:txBody>
      </p:sp>
      <p:sp>
        <p:nvSpPr>
          <p:cNvPr id="15" name="TextBox 14"/>
          <p:cNvSpPr txBox="1"/>
          <p:nvPr/>
        </p:nvSpPr>
        <p:spPr>
          <a:xfrm>
            <a:off x="2291887" y="676515"/>
            <a:ext cx="605790" cy="134084"/>
          </a:xfrm>
          <a:prstGeom prst="rect">
            <a:avLst/>
          </a:prstGeom>
          <a:noFill/>
        </p:spPr>
        <p:txBody>
          <a:bodyPr wrap="none" anchor="ctr" lIns="0" rIns="0" tIns="0" bIns="0">
            <a:noAutofit/>
          </a:bodyPr>
          <a:lstStyle/>
          <a:p>
            <a:pPr algn="ctr"/>
            <a:r>
              <a:rPr sz="900" b="0" i="0">
                <a:solidFill>
                  <a:srgbClr val="E1D09A"/>
                </a:solidFill>
                <a:latin typeface="Arial"/>
              </a:rPr>
              <a:t>Ketamine</a:t>
            </a:r>
          </a:p>
        </p:txBody>
      </p:sp>
      <p:sp>
        <p:nvSpPr>
          <p:cNvPr id="16" name="TextBox 15"/>
          <p:cNvSpPr txBox="1"/>
          <p:nvPr/>
        </p:nvSpPr>
        <p:spPr>
          <a:xfrm>
            <a:off x="5269696" y="676515"/>
            <a:ext cx="694372" cy="134084"/>
          </a:xfrm>
          <a:prstGeom prst="rect">
            <a:avLst/>
          </a:prstGeom>
          <a:noFill/>
        </p:spPr>
        <p:txBody>
          <a:bodyPr wrap="none" anchor="ctr" lIns="0" rIns="0" tIns="0" bIns="0">
            <a:noAutofit/>
          </a:bodyPr>
          <a:lstStyle/>
          <a:p>
            <a:pPr algn="ctr"/>
            <a:r>
              <a:rPr sz="900" b="0" i="0">
                <a:solidFill>
                  <a:srgbClr val="96B9AD"/>
                </a:solidFill>
                <a:latin typeface="Arial"/>
              </a:rPr>
              <a:t>Midazolam</a:t>
            </a:r>
          </a:p>
        </p:txBody>
      </p:sp>
      <p:sp>
        <p:nvSpPr>
          <p:cNvPr id="17" name="TextBox 16"/>
          <p:cNvSpPr txBox="1"/>
          <p:nvPr/>
        </p:nvSpPr>
        <p:spPr>
          <a:xfrm>
            <a:off x="1381023" y="2346205"/>
            <a:ext cx="628650" cy="276448"/>
          </a:xfrm>
          <a:prstGeom prst="rect">
            <a:avLst/>
          </a:prstGeom>
          <a:noFill/>
        </p:spPr>
        <p:txBody>
          <a:bodyPr wrap="none" anchor="ctr" lIns="0" rIns="0" tIns="0" bIns="0">
            <a:noAutofit/>
          </a:bodyPr>
          <a:lstStyle/>
          <a:p>
            <a:pPr algn="ctr"/>
            <a:r>
              <a:rPr sz="800" b="0" i="0">
                <a:solidFill>
                  <a:srgbClr val="E1D09A"/>
                </a:solidFill>
                <a:latin typeface="Arial"/>
              </a:rPr>
              <a:t>MID
anticipation</a:t>
            </a:r>
          </a:p>
        </p:txBody>
      </p:sp>
      <p:sp>
        <p:nvSpPr>
          <p:cNvPr id="18" name="TextBox 17"/>
          <p:cNvSpPr txBox="1"/>
          <p:nvPr/>
        </p:nvSpPr>
        <p:spPr>
          <a:xfrm>
            <a:off x="2343322" y="2346205"/>
            <a:ext cx="502920" cy="276448"/>
          </a:xfrm>
          <a:prstGeom prst="rect">
            <a:avLst/>
          </a:prstGeom>
          <a:noFill/>
        </p:spPr>
        <p:txBody>
          <a:bodyPr wrap="none" anchor="ctr" lIns="0" rIns="0" tIns="0" bIns="0">
            <a:noAutofit/>
          </a:bodyPr>
          <a:lstStyle/>
          <a:p>
            <a:pPr algn="ctr"/>
            <a:r>
              <a:rPr sz="800" b="0" i="0">
                <a:solidFill>
                  <a:srgbClr val="E1D09A"/>
                </a:solidFill>
                <a:latin typeface="Arial"/>
              </a:rPr>
              <a:t>MID
feedback</a:t>
            </a:r>
          </a:p>
        </p:txBody>
      </p:sp>
      <p:sp>
        <p:nvSpPr>
          <p:cNvPr id="19" name="TextBox 18"/>
          <p:cNvSpPr txBox="1"/>
          <p:nvPr/>
        </p:nvSpPr>
        <p:spPr>
          <a:xfrm>
            <a:off x="3308479" y="2361931"/>
            <a:ext cx="371475" cy="119186"/>
          </a:xfrm>
          <a:prstGeom prst="rect">
            <a:avLst/>
          </a:prstGeom>
          <a:noFill/>
        </p:spPr>
        <p:txBody>
          <a:bodyPr wrap="none" anchor="ctr" lIns="0" rIns="0" tIns="0" bIns="0">
            <a:noAutofit/>
          </a:bodyPr>
          <a:lstStyle/>
          <a:p>
            <a:pPr algn="ctr"/>
            <a:r>
              <a:rPr sz="800" b="0" i="0">
                <a:solidFill>
                  <a:srgbClr val="E1D09A"/>
                </a:solidFill>
                <a:latin typeface="Arial"/>
              </a:rPr>
              <a:t>pooled</a:t>
            </a:r>
          </a:p>
        </p:txBody>
      </p:sp>
      <p:sp>
        <p:nvSpPr>
          <p:cNvPr id="20" name="TextBox 19"/>
          <p:cNvSpPr txBox="1"/>
          <p:nvPr/>
        </p:nvSpPr>
        <p:spPr>
          <a:xfrm>
            <a:off x="4403122" y="2346205"/>
            <a:ext cx="628650" cy="276448"/>
          </a:xfrm>
          <a:prstGeom prst="rect">
            <a:avLst/>
          </a:prstGeom>
          <a:noFill/>
        </p:spPr>
        <p:txBody>
          <a:bodyPr wrap="none" anchor="ctr" lIns="0" rIns="0" tIns="0" bIns="0">
            <a:noAutofit/>
          </a:bodyPr>
          <a:lstStyle/>
          <a:p>
            <a:pPr algn="ctr"/>
            <a:r>
              <a:rPr sz="800" b="0" i="0">
                <a:solidFill>
                  <a:srgbClr val="96B9AD"/>
                </a:solidFill>
                <a:latin typeface="Arial"/>
              </a:rPr>
              <a:t>MID
anticipation</a:t>
            </a:r>
          </a:p>
        </p:txBody>
      </p:sp>
      <p:sp>
        <p:nvSpPr>
          <p:cNvPr id="21" name="TextBox 20"/>
          <p:cNvSpPr txBox="1"/>
          <p:nvPr/>
        </p:nvSpPr>
        <p:spPr>
          <a:xfrm>
            <a:off x="5365422" y="2346205"/>
            <a:ext cx="502920" cy="276448"/>
          </a:xfrm>
          <a:prstGeom prst="rect">
            <a:avLst/>
          </a:prstGeom>
          <a:noFill/>
        </p:spPr>
        <p:txBody>
          <a:bodyPr wrap="none" anchor="ctr" lIns="0" rIns="0" tIns="0" bIns="0">
            <a:noAutofit/>
          </a:bodyPr>
          <a:lstStyle/>
          <a:p>
            <a:pPr algn="ctr"/>
            <a:r>
              <a:rPr sz="800" b="0" i="0">
                <a:solidFill>
                  <a:srgbClr val="96B9AD"/>
                </a:solidFill>
                <a:latin typeface="Arial"/>
              </a:rPr>
              <a:t>MID
feedback</a:t>
            </a:r>
          </a:p>
        </p:txBody>
      </p:sp>
      <p:sp>
        <p:nvSpPr>
          <p:cNvPr id="22" name="TextBox 21"/>
          <p:cNvSpPr txBox="1"/>
          <p:nvPr/>
        </p:nvSpPr>
        <p:spPr>
          <a:xfrm>
            <a:off x="6330579" y="2361931"/>
            <a:ext cx="371475" cy="119186"/>
          </a:xfrm>
          <a:prstGeom prst="rect">
            <a:avLst/>
          </a:prstGeom>
          <a:noFill/>
        </p:spPr>
        <p:txBody>
          <a:bodyPr wrap="none" anchor="ctr" lIns="0" rIns="0" tIns="0" bIns="0">
            <a:noAutofit/>
          </a:bodyPr>
          <a:lstStyle/>
          <a:p>
            <a:pPr algn="ctr"/>
            <a:r>
              <a:rPr sz="800" b="0" i="0">
                <a:solidFill>
                  <a:srgbClr val="96B9AD"/>
                </a:solidFill>
                <a:latin typeface="Arial"/>
              </a:rPr>
              <a:t>pooled</a:t>
            </a:r>
          </a:p>
        </p:txBody>
      </p:sp>
      <p:sp>
        <p:nvSpPr>
          <p:cNvPr id="23" name="TextBox 22"/>
          <p:cNvSpPr txBox="1"/>
          <p:nvPr/>
        </p:nvSpPr>
        <p:spPr>
          <a:xfrm rot="16200000">
            <a:off x="81764" y="1303219"/>
            <a:ext cx="1474470" cy="345560"/>
          </a:xfrm>
          <a:prstGeom prst="rect">
            <a:avLst/>
          </a:prstGeom>
          <a:noFill/>
        </p:spPr>
        <p:txBody>
          <a:bodyPr wrap="none" anchor="ctr" lIns="0" rIns="0" tIns="0" bIns="0">
            <a:noAutofit/>
          </a:bodyPr>
          <a:lstStyle/>
          <a:p>
            <a:pPr algn="ctr"/>
            <a:r>
              <a:rPr sz="1000" b="0" i="0">
                <a:solidFill>
                  <a:srgbClr val="000000"/>
                </a:solidFill>
                <a:latin typeface="Arial"/>
              </a:rPr>
              <a:t>Edges with matching
direction (%)</a:t>
            </a:r>
          </a:p>
        </p:txBody>
      </p:sp>
      <p:sp>
        <p:nvSpPr>
          <p:cNvPr id="24" name="TextBox 23"/>
          <p:cNvSpPr txBox="1"/>
          <p:nvPr/>
        </p:nvSpPr>
        <p:spPr>
          <a:xfrm>
            <a:off x="1023771" y="2255097"/>
            <a:ext cx="137160" cy="119186"/>
          </a:xfrm>
          <a:prstGeom prst="rect">
            <a:avLst/>
          </a:prstGeom>
          <a:noFill/>
        </p:spPr>
        <p:txBody>
          <a:bodyPr wrap="none" anchor="ctr" lIns="0" rIns="0" tIns="0" bIns="0">
            <a:noAutofit/>
          </a:bodyPr>
          <a:lstStyle/>
          <a:p>
            <a:pPr algn="r"/>
            <a:r>
              <a:rPr sz="800" b="0" i="0">
                <a:solidFill>
                  <a:srgbClr val="000000"/>
                </a:solidFill>
                <a:latin typeface="Arial"/>
              </a:rPr>
              <a:t>30</a:t>
            </a:r>
          </a:p>
        </p:txBody>
      </p:sp>
      <p:sp>
        <p:nvSpPr>
          <p:cNvPr id="25" name="TextBox 24"/>
          <p:cNvSpPr txBox="1"/>
          <p:nvPr/>
        </p:nvSpPr>
        <p:spPr>
          <a:xfrm>
            <a:off x="1023771" y="2045477"/>
            <a:ext cx="137160" cy="119186"/>
          </a:xfrm>
          <a:prstGeom prst="rect">
            <a:avLst/>
          </a:prstGeom>
          <a:noFill/>
        </p:spPr>
        <p:txBody>
          <a:bodyPr wrap="none" anchor="ctr" lIns="0" rIns="0" tIns="0" bIns="0">
            <a:noAutofit/>
          </a:bodyPr>
          <a:lstStyle/>
          <a:p>
            <a:pPr algn="r"/>
            <a:r>
              <a:rPr sz="800" b="0" i="0">
                <a:solidFill>
                  <a:srgbClr val="000000"/>
                </a:solidFill>
                <a:latin typeface="Arial"/>
              </a:rPr>
              <a:t>40</a:t>
            </a:r>
          </a:p>
        </p:txBody>
      </p:sp>
      <p:sp>
        <p:nvSpPr>
          <p:cNvPr id="26" name="TextBox 25"/>
          <p:cNvSpPr txBox="1"/>
          <p:nvPr/>
        </p:nvSpPr>
        <p:spPr>
          <a:xfrm>
            <a:off x="1023771" y="1835857"/>
            <a:ext cx="13716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27" name="TextBox 26"/>
          <p:cNvSpPr txBox="1"/>
          <p:nvPr/>
        </p:nvSpPr>
        <p:spPr>
          <a:xfrm>
            <a:off x="1023771" y="1626236"/>
            <a:ext cx="137160" cy="119186"/>
          </a:xfrm>
          <a:prstGeom prst="rect">
            <a:avLst/>
          </a:prstGeom>
          <a:noFill/>
        </p:spPr>
        <p:txBody>
          <a:bodyPr wrap="none" anchor="ctr" lIns="0" rIns="0" tIns="0" bIns="0">
            <a:noAutofit/>
          </a:bodyPr>
          <a:lstStyle/>
          <a:p>
            <a:pPr algn="r"/>
            <a:r>
              <a:rPr sz="800" b="0" i="0">
                <a:solidFill>
                  <a:srgbClr val="000000"/>
                </a:solidFill>
                <a:latin typeface="Arial"/>
              </a:rPr>
              <a:t>60</a:t>
            </a:r>
          </a:p>
        </p:txBody>
      </p:sp>
      <p:sp>
        <p:nvSpPr>
          <p:cNvPr id="28" name="TextBox 27"/>
          <p:cNvSpPr txBox="1"/>
          <p:nvPr/>
        </p:nvSpPr>
        <p:spPr>
          <a:xfrm>
            <a:off x="1023771" y="1416616"/>
            <a:ext cx="137160" cy="119186"/>
          </a:xfrm>
          <a:prstGeom prst="rect">
            <a:avLst/>
          </a:prstGeom>
          <a:noFill/>
        </p:spPr>
        <p:txBody>
          <a:bodyPr wrap="none" anchor="ctr" lIns="0" rIns="0" tIns="0" bIns="0">
            <a:noAutofit/>
          </a:bodyPr>
          <a:lstStyle/>
          <a:p>
            <a:pPr algn="r"/>
            <a:r>
              <a:rPr sz="800" b="0" i="0">
                <a:solidFill>
                  <a:srgbClr val="000000"/>
                </a:solidFill>
                <a:latin typeface="Arial"/>
              </a:rPr>
              <a:t>70</a:t>
            </a:r>
          </a:p>
        </p:txBody>
      </p:sp>
      <p:sp>
        <p:nvSpPr>
          <p:cNvPr id="29" name="TextBox 28"/>
          <p:cNvSpPr txBox="1"/>
          <p:nvPr/>
        </p:nvSpPr>
        <p:spPr>
          <a:xfrm>
            <a:off x="1023771" y="1206996"/>
            <a:ext cx="137160" cy="119186"/>
          </a:xfrm>
          <a:prstGeom prst="rect">
            <a:avLst/>
          </a:prstGeom>
          <a:noFill/>
        </p:spPr>
        <p:txBody>
          <a:bodyPr wrap="none" anchor="ctr" lIns="0" rIns="0" tIns="0" bIns="0">
            <a:noAutofit/>
          </a:bodyPr>
          <a:lstStyle/>
          <a:p>
            <a:pPr algn="r"/>
            <a:r>
              <a:rPr sz="800" b="0" i="0">
                <a:solidFill>
                  <a:srgbClr val="000000"/>
                </a:solidFill>
                <a:latin typeface="Arial"/>
              </a:rPr>
              <a:t>80</a:t>
            </a:r>
          </a:p>
        </p:txBody>
      </p:sp>
      <p:sp>
        <p:nvSpPr>
          <p:cNvPr id="30" name="TextBox 29"/>
          <p:cNvSpPr txBox="1"/>
          <p:nvPr/>
        </p:nvSpPr>
        <p:spPr>
          <a:xfrm>
            <a:off x="1023771" y="997376"/>
            <a:ext cx="137160" cy="119186"/>
          </a:xfrm>
          <a:prstGeom prst="rect">
            <a:avLst/>
          </a:prstGeom>
          <a:noFill/>
        </p:spPr>
        <p:txBody>
          <a:bodyPr wrap="none" anchor="ctr" lIns="0" rIns="0" tIns="0" bIns="0">
            <a:noAutofit/>
          </a:bodyPr>
          <a:lstStyle/>
          <a:p>
            <a:pPr algn="r"/>
            <a:r>
              <a:rPr sz="800" b="0" i="0">
                <a:solidFill>
                  <a:srgbClr val="000000"/>
                </a:solidFill>
                <a:latin typeface="Arial"/>
              </a:rPr>
              <a:t>90</a:t>
            </a:r>
          </a:p>
        </p:txBody>
      </p:sp>
      <p:sp>
        <p:nvSpPr>
          <p:cNvPr id="31" name="TextBox 30"/>
          <p:cNvSpPr txBox="1"/>
          <p:nvPr/>
        </p:nvSpPr>
        <p:spPr>
          <a:xfrm>
            <a:off x="962049" y="787755"/>
            <a:ext cx="20574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32" name="TextBox 31"/>
          <p:cNvSpPr txBox="1"/>
          <p:nvPr/>
        </p:nvSpPr>
        <p:spPr>
          <a:xfrm>
            <a:off x="991925" y="524013"/>
            <a:ext cx="1997392" cy="119186"/>
          </a:xfrm>
          <a:prstGeom prst="rect">
            <a:avLst/>
          </a:prstGeom>
          <a:noFill/>
        </p:spPr>
        <p:txBody>
          <a:bodyPr wrap="none" anchor="ctr" lIns="0" rIns="0" tIns="0" bIns="0">
            <a:noAutofit/>
          </a:bodyPr>
          <a:lstStyle/>
          <a:p>
            <a:pPr algn="l"/>
            <a:r>
              <a:rPr sz="800" b="0" i="0">
                <a:solidFill>
                  <a:srgbClr val="000000"/>
                </a:solidFill>
                <a:latin typeface="Arial"/>
              </a:rPr>
              <a:t>Pharmacologically matched pairings</a:t>
            </a:r>
          </a:p>
        </p:txBody>
      </p:sp>
      <p:sp>
        <p:nvSpPr>
          <p:cNvPr id="33" name="TextBox 32"/>
          <p:cNvSpPr txBox="1"/>
          <p:nvPr/>
        </p:nvSpPr>
        <p:spPr>
          <a:xfrm>
            <a:off x="918392" y="2786921"/>
            <a:ext cx="1925955" cy="134084"/>
          </a:xfrm>
          <a:prstGeom prst="rect">
            <a:avLst/>
          </a:prstGeom>
          <a:noFill/>
        </p:spPr>
        <p:txBody>
          <a:bodyPr wrap="none" anchor="ctr" lIns="0" rIns="0" tIns="0" bIns="0">
            <a:noAutofit/>
          </a:bodyPr>
          <a:lstStyle/>
          <a:p>
            <a:pPr algn="l"/>
            <a:r>
              <a:rPr sz="900" b="0" i="0">
                <a:solidFill>
                  <a:srgbClr val="000000"/>
                </a:solidFill>
                <a:latin typeface="Arial"/>
              </a:rPr>
              <a:t>task-matched (MID) prediction</a:t>
            </a:r>
          </a:p>
        </p:txBody>
      </p:sp>
      <p:sp>
        <p:nvSpPr>
          <p:cNvPr id="34" name="TextBox 33"/>
          <p:cNvSpPr txBox="1"/>
          <p:nvPr/>
        </p:nvSpPr>
        <p:spPr>
          <a:xfrm>
            <a:off x="894675" y="2945453"/>
            <a:ext cx="2163127" cy="135795"/>
          </a:xfrm>
          <a:prstGeom prst="rect">
            <a:avLst/>
          </a:prstGeom>
          <a:noFill/>
        </p:spPr>
        <p:txBody>
          <a:bodyPr wrap="none" anchor="ctr" lIns="0" rIns="0" tIns="0" bIns="0">
            <a:noAutofit/>
          </a:bodyPr>
          <a:lstStyle/>
          <a:p>
            <a:pPr algn="l"/>
            <a:r>
              <a:rPr sz="900" b="0" i="0">
                <a:solidFill>
                  <a:srgbClr val="000000"/>
                </a:solidFill>
                <a:latin typeface="Arial"/>
              </a:rPr>
              <a:t>task-mismatched (SST) prediction</a:t>
            </a:r>
          </a:p>
        </p:txBody>
      </p:sp>
      <p:sp>
        <p:nvSpPr>
          <p:cNvPr id="35" name="TextBox 34"/>
          <p:cNvSpPr txBox="1"/>
          <p:nvPr/>
        </p:nvSpPr>
        <p:spPr>
          <a:xfrm>
            <a:off x="3056088" y="2786921"/>
            <a:ext cx="1625917" cy="134084"/>
          </a:xfrm>
          <a:prstGeom prst="rect">
            <a:avLst/>
          </a:prstGeom>
          <a:noFill/>
        </p:spPr>
        <p:txBody>
          <a:bodyPr wrap="none" anchor="ctr" lIns="0" rIns="0" tIns="0" bIns="0">
            <a:noAutofit/>
          </a:bodyPr>
          <a:lstStyle/>
          <a:p>
            <a:pPr algn="l"/>
            <a:r>
              <a:rPr sz="900" b="0" i="0">
                <a:solidFill>
                  <a:srgbClr val="000000"/>
                </a:solidFill>
                <a:latin typeface="Arial"/>
              </a:rPr>
              <a:t>±1 s.d. of the sign-flip null</a:t>
            </a:r>
          </a:p>
        </p:txBody>
      </p:sp>
      <p:sp>
        <p:nvSpPr>
          <p:cNvPr id="36" name="TextBox 35"/>
          <p:cNvSpPr txBox="1"/>
          <p:nvPr/>
        </p:nvSpPr>
        <p:spPr>
          <a:xfrm>
            <a:off x="3130097" y="2945624"/>
            <a:ext cx="885825" cy="134084"/>
          </a:xfrm>
          <a:prstGeom prst="rect">
            <a:avLst/>
          </a:prstGeom>
          <a:noFill/>
        </p:spPr>
        <p:txBody>
          <a:bodyPr wrap="none" anchor="ctr" lIns="0" rIns="0" tIns="0" bIns="0">
            <a:noAutofit/>
          </a:bodyPr>
          <a:lstStyle/>
          <a:p>
            <a:pPr algn="l"/>
            <a:r>
              <a:rPr sz="900" b="0" i="0">
                <a:solidFill>
                  <a:srgbClr val="000000"/>
                </a:solidFill>
                <a:latin typeface="Arial"/>
              </a:rPr>
              <a:t>chance (50%)</a:t>
            </a:r>
          </a:p>
        </p:txBody>
      </p:sp>
      <p:sp>
        <p:nvSpPr>
          <p:cNvPr id="37" name="TextBox 36"/>
          <p:cNvSpPr txBox="1"/>
          <p:nvPr/>
        </p:nvSpPr>
        <p:spPr>
          <a:xfrm>
            <a:off x="4675406" y="2786921"/>
            <a:ext cx="2211972" cy="134084"/>
          </a:xfrm>
          <a:prstGeom prst="rect">
            <a:avLst/>
          </a:prstGeom>
          <a:noFill/>
        </p:spPr>
        <p:txBody>
          <a:bodyPr wrap="none" anchor="ctr" lIns="0" rIns="0" tIns="0" bIns="0">
            <a:noAutofit/>
          </a:bodyPr>
          <a:lstStyle/>
          <a:p>
            <a:pPr algn="l"/>
            <a:r>
              <a:rPr sz="900" b="0" i="0">
                <a:solidFill>
                  <a:srgbClr val="000000"/>
                </a:solidFill>
                <a:latin typeface="Arial"/>
              </a:rPr>
              <a:t>filled = P &lt; 0.05 vs the sign-flip null</a:t>
            </a:r>
          </a:p>
        </p:txBody>
      </p:sp>
      <p:sp>
        <p:nvSpPr>
          <p:cNvPr id="38" name="TextBox 37"/>
          <p:cNvSpPr txBox="1"/>
          <p:nvPr/>
        </p:nvSpPr>
        <p:spPr>
          <a:xfrm>
            <a:off x="1200254" y="4480548"/>
            <a:ext cx="808672" cy="274129"/>
          </a:xfrm>
          <a:prstGeom prst="rect">
            <a:avLst/>
          </a:prstGeom>
          <a:noFill/>
        </p:spPr>
        <p:txBody>
          <a:bodyPr wrap="none" anchor="ctr" lIns="0" rIns="0" tIns="0" bIns="0">
            <a:noAutofit/>
          </a:bodyPr>
          <a:lstStyle/>
          <a:p>
            <a:pPr algn="ctr"/>
            <a:r>
              <a:rPr sz="800" b="0" i="0">
                <a:solidFill>
                  <a:srgbClr val="E1D09A"/>
                </a:solidFill>
                <a:latin typeface="Arial"/>
              </a:rPr>
              <a:t>max attainable
r = 0.16</a:t>
            </a:r>
          </a:p>
        </p:txBody>
      </p:sp>
      <p:sp>
        <p:nvSpPr>
          <p:cNvPr id="39" name="TextBox 38"/>
          <p:cNvSpPr txBox="1"/>
          <p:nvPr/>
        </p:nvSpPr>
        <p:spPr>
          <a:xfrm>
            <a:off x="1450285" y="5091019"/>
            <a:ext cx="308610" cy="119186"/>
          </a:xfrm>
          <a:prstGeom prst="rect">
            <a:avLst/>
          </a:prstGeom>
          <a:noFill/>
        </p:spPr>
        <p:txBody>
          <a:bodyPr wrap="none" anchor="ctr" lIns="0" rIns="0" tIns="0" bIns="0">
            <a:noAutofit/>
          </a:bodyPr>
          <a:lstStyle/>
          <a:p>
            <a:pPr algn="ctr"/>
            <a:r>
              <a:rPr sz="800" b="0" i="0">
                <a:solidFill>
                  <a:srgbClr val="000000"/>
                </a:solidFill>
                <a:latin typeface="Arial"/>
              </a:rPr>
              <a:t>0.025</a:t>
            </a:r>
          </a:p>
        </p:txBody>
      </p:sp>
      <p:sp>
        <p:nvSpPr>
          <p:cNvPr id="40" name="TextBox 39"/>
          <p:cNvSpPr txBox="1"/>
          <p:nvPr/>
        </p:nvSpPr>
        <p:spPr>
          <a:xfrm>
            <a:off x="2115027" y="4365696"/>
            <a:ext cx="808672" cy="274129"/>
          </a:xfrm>
          <a:prstGeom prst="rect">
            <a:avLst/>
          </a:prstGeom>
          <a:noFill/>
        </p:spPr>
        <p:txBody>
          <a:bodyPr wrap="none" anchor="ctr" lIns="0" rIns="0" tIns="0" bIns="0">
            <a:noAutofit/>
          </a:bodyPr>
          <a:lstStyle/>
          <a:p>
            <a:pPr algn="ctr"/>
            <a:r>
              <a:rPr sz="800" b="0" i="0">
                <a:solidFill>
                  <a:srgbClr val="E1D09A"/>
                </a:solidFill>
                <a:latin typeface="Arial"/>
              </a:rPr>
              <a:t>max attainable
r = 0.20</a:t>
            </a:r>
          </a:p>
        </p:txBody>
      </p:sp>
      <p:sp>
        <p:nvSpPr>
          <p:cNvPr id="41" name="TextBox 40"/>
          <p:cNvSpPr txBox="1"/>
          <p:nvPr/>
        </p:nvSpPr>
        <p:spPr>
          <a:xfrm>
            <a:off x="2365058" y="5069651"/>
            <a:ext cx="308610" cy="119186"/>
          </a:xfrm>
          <a:prstGeom prst="rect">
            <a:avLst/>
          </a:prstGeom>
          <a:noFill/>
        </p:spPr>
        <p:txBody>
          <a:bodyPr wrap="none" anchor="ctr" lIns="0" rIns="0" tIns="0" bIns="0">
            <a:noAutofit/>
          </a:bodyPr>
          <a:lstStyle/>
          <a:p>
            <a:pPr algn="ctr"/>
            <a:r>
              <a:rPr sz="800" b="0" i="0">
                <a:solidFill>
                  <a:srgbClr val="000000"/>
                </a:solidFill>
                <a:latin typeface="Arial"/>
              </a:rPr>
              <a:t>0.041</a:t>
            </a:r>
          </a:p>
        </p:txBody>
      </p:sp>
      <p:sp>
        <p:nvSpPr>
          <p:cNvPr id="42" name="TextBox 41"/>
          <p:cNvSpPr txBox="1"/>
          <p:nvPr/>
        </p:nvSpPr>
        <p:spPr>
          <a:xfrm>
            <a:off x="3029800" y="3716651"/>
            <a:ext cx="808672" cy="274129"/>
          </a:xfrm>
          <a:prstGeom prst="rect">
            <a:avLst/>
          </a:prstGeom>
          <a:noFill/>
        </p:spPr>
        <p:txBody>
          <a:bodyPr wrap="none" anchor="ctr" lIns="0" rIns="0" tIns="0" bIns="0">
            <a:noAutofit/>
          </a:bodyPr>
          <a:lstStyle/>
          <a:p>
            <a:pPr algn="ctr"/>
            <a:r>
              <a:rPr sz="800" b="0" i="0">
                <a:solidFill>
                  <a:srgbClr val="96B9AD"/>
                </a:solidFill>
                <a:latin typeface="Arial"/>
              </a:rPr>
              <a:t>max attainable
r = 0.45</a:t>
            </a:r>
          </a:p>
        </p:txBody>
      </p:sp>
      <p:sp>
        <p:nvSpPr>
          <p:cNvPr id="43" name="TextBox 42"/>
          <p:cNvSpPr txBox="1"/>
          <p:nvPr/>
        </p:nvSpPr>
        <p:spPr>
          <a:xfrm>
            <a:off x="3279831" y="4859980"/>
            <a:ext cx="308610" cy="119186"/>
          </a:xfrm>
          <a:prstGeom prst="rect">
            <a:avLst/>
          </a:prstGeom>
          <a:noFill/>
        </p:spPr>
        <p:txBody>
          <a:bodyPr wrap="none" anchor="ctr" lIns="0" rIns="0" tIns="0" bIns="0">
            <a:noAutofit/>
          </a:bodyPr>
          <a:lstStyle/>
          <a:p>
            <a:pPr algn="ctr"/>
            <a:r>
              <a:rPr sz="800" b="0" i="0">
                <a:solidFill>
                  <a:srgbClr val="000000"/>
                </a:solidFill>
                <a:latin typeface="Arial"/>
              </a:rPr>
              <a:t>0.198</a:t>
            </a:r>
          </a:p>
        </p:txBody>
      </p:sp>
      <p:sp>
        <p:nvSpPr>
          <p:cNvPr id="44" name="TextBox 43"/>
          <p:cNvSpPr txBox="1"/>
          <p:nvPr/>
        </p:nvSpPr>
        <p:spPr>
          <a:xfrm>
            <a:off x="3944572" y="3783425"/>
            <a:ext cx="808672" cy="274129"/>
          </a:xfrm>
          <a:prstGeom prst="rect">
            <a:avLst/>
          </a:prstGeom>
          <a:noFill/>
        </p:spPr>
        <p:txBody>
          <a:bodyPr wrap="none" anchor="ctr" lIns="0" rIns="0" tIns="0" bIns="0">
            <a:noAutofit/>
          </a:bodyPr>
          <a:lstStyle/>
          <a:p>
            <a:pPr algn="ctr"/>
            <a:r>
              <a:rPr sz="800" b="0" i="0">
                <a:solidFill>
                  <a:srgbClr val="96B9AD"/>
                </a:solidFill>
                <a:latin typeface="Arial"/>
              </a:rPr>
              <a:t>max attainable
r = 0.42</a:t>
            </a:r>
          </a:p>
        </p:txBody>
      </p:sp>
      <p:sp>
        <p:nvSpPr>
          <p:cNvPr id="45" name="TextBox 44"/>
          <p:cNvSpPr txBox="1"/>
          <p:nvPr/>
        </p:nvSpPr>
        <p:spPr>
          <a:xfrm>
            <a:off x="4194604" y="4889361"/>
            <a:ext cx="308610" cy="119186"/>
          </a:xfrm>
          <a:prstGeom prst="rect">
            <a:avLst/>
          </a:prstGeom>
          <a:noFill/>
        </p:spPr>
        <p:txBody>
          <a:bodyPr wrap="none" anchor="ctr" lIns="0" rIns="0" tIns="0" bIns="0">
            <a:noAutofit/>
          </a:bodyPr>
          <a:lstStyle/>
          <a:p>
            <a:pPr algn="ctr"/>
            <a:r>
              <a:rPr sz="800" b="0" i="0">
                <a:solidFill>
                  <a:srgbClr val="000000"/>
                </a:solidFill>
                <a:latin typeface="Arial"/>
              </a:rPr>
              <a:t>0.176</a:t>
            </a:r>
          </a:p>
        </p:txBody>
      </p:sp>
      <p:sp>
        <p:nvSpPr>
          <p:cNvPr id="46" name="TextBox 45"/>
          <p:cNvSpPr txBox="1"/>
          <p:nvPr/>
        </p:nvSpPr>
        <p:spPr>
          <a:xfrm>
            <a:off x="1157391" y="5226205"/>
            <a:ext cx="894397" cy="276448"/>
          </a:xfrm>
          <a:prstGeom prst="rect">
            <a:avLst/>
          </a:prstGeom>
          <a:noFill/>
        </p:spPr>
        <p:txBody>
          <a:bodyPr wrap="none" anchor="ctr" lIns="0" rIns="0" tIns="0" bIns="0">
            <a:noAutofit/>
          </a:bodyPr>
          <a:lstStyle/>
          <a:p>
            <a:pPr algn="ctr"/>
            <a:r>
              <a:rPr sz="800" b="0" i="0">
                <a:solidFill>
                  <a:srgbClr val="E1D09A"/>
                </a:solidFill>
                <a:latin typeface="Arial"/>
              </a:rPr>
              <a:t>Ketamine
MID anticipation</a:t>
            </a:r>
          </a:p>
        </p:txBody>
      </p:sp>
      <p:sp>
        <p:nvSpPr>
          <p:cNvPr id="47" name="TextBox 46"/>
          <p:cNvSpPr txBox="1"/>
          <p:nvPr/>
        </p:nvSpPr>
        <p:spPr>
          <a:xfrm>
            <a:off x="2135029" y="5226205"/>
            <a:ext cx="768667" cy="276448"/>
          </a:xfrm>
          <a:prstGeom prst="rect">
            <a:avLst/>
          </a:prstGeom>
          <a:noFill/>
        </p:spPr>
        <p:txBody>
          <a:bodyPr wrap="none" anchor="ctr" lIns="0" rIns="0" tIns="0" bIns="0">
            <a:noAutofit/>
          </a:bodyPr>
          <a:lstStyle/>
          <a:p>
            <a:pPr algn="ctr"/>
            <a:r>
              <a:rPr sz="800" b="0" i="0">
                <a:solidFill>
                  <a:srgbClr val="E1D09A"/>
                </a:solidFill>
                <a:latin typeface="Arial"/>
              </a:rPr>
              <a:t>Ketamine
MID feedback</a:t>
            </a:r>
          </a:p>
        </p:txBody>
      </p:sp>
      <p:sp>
        <p:nvSpPr>
          <p:cNvPr id="48" name="TextBox 47"/>
          <p:cNvSpPr txBox="1"/>
          <p:nvPr/>
        </p:nvSpPr>
        <p:spPr>
          <a:xfrm>
            <a:off x="2986937" y="5226205"/>
            <a:ext cx="894397" cy="276448"/>
          </a:xfrm>
          <a:prstGeom prst="rect">
            <a:avLst/>
          </a:prstGeom>
          <a:noFill/>
        </p:spPr>
        <p:txBody>
          <a:bodyPr wrap="none" anchor="ctr" lIns="0" rIns="0" tIns="0" bIns="0">
            <a:noAutofit/>
          </a:bodyPr>
          <a:lstStyle/>
          <a:p>
            <a:pPr algn="ctr"/>
            <a:r>
              <a:rPr sz="800" b="0" i="0">
                <a:solidFill>
                  <a:srgbClr val="96B9AD"/>
                </a:solidFill>
                <a:latin typeface="Arial"/>
              </a:rPr>
              <a:t>Midazolam
MID anticipation</a:t>
            </a:r>
          </a:p>
        </p:txBody>
      </p:sp>
      <p:sp>
        <p:nvSpPr>
          <p:cNvPr id="49" name="TextBox 48"/>
          <p:cNvSpPr txBox="1"/>
          <p:nvPr/>
        </p:nvSpPr>
        <p:spPr>
          <a:xfrm>
            <a:off x="3964575" y="5226205"/>
            <a:ext cx="768667" cy="276448"/>
          </a:xfrm>
          <a:prstGeom prst="rect">
            <a:avLst/>
          </a:prstGeom>
          <a:noFill/>
        </p:spPr>
        <p:txBody>
          <a:bodyPr wrap="none" anchor="ctr" lIns="0" rIns="0" tIns="0" bIns="0">
            <a:noAutofit/>
          </a:bodyPr>
          <a:lstStyle/>
          <a:p>
            <a:pPr algn="ctr"/>
            <a:r>
              <a:rPr sz="800" b="0" i="0">
                <a:solidFill>
                  <a:srgbClr val="96B9AD"/>
                </a:solidFill>
                <a:latin typeface="Arial"/>
              </a:rPr>
              <a:t>Midazolam
MID feedback</a:t>
            </a:r>
          </a:p>
        </p:txBody>
      </p:sp>
      <p:sp>
        <p:nvSpPr>
          <p:cNvPr id="50" name="TextBox 49"/>
          <p:cNvSpPr txBox="1"/>
          <p:nvPr/>
        </p:nvSpPr>
        <p:spPr>
          <a:xfrm rot="16200000">
            <a:off x="-83337" y="4182428"/>
            <a:ext cx="1805940" cy="347143"/>
          </a:xfrm>
          <a:prstGeom prst="rect">
            <a:avLst/>
          </a:prstGeom>
          <a:noFill/>
        </p:spPr>
        <p:txBody>
          <a:bodyPr wrap="none" anchor="ctr" lIns="0" rIns="0" tIns="0" bIns="0">
            <a:noAutofit/>
          </a:bodyPr>
          <a:lstStyle/>
          <a:p>
            <a:pPr algn="ctr"/>
            <a:r>
              <a:rPr sz="1000" b="0" i="0">
                <a:solidFill>
                  <a:srgbClr val="000000"/>
                </a:solidFill>
                <a:latin typeface="Arial"/>
              </a:rPr>
              <a:t>Split-half reliability of the
empirical drug-effect map</a:t>
            </a:r>
          </a:p>
        </p:txBody>
      </p:sp>
      <p:sp>
        <p:nvSpPr>
          <p:cNvPr id="51" name="TextBox 50"/>
          <p:cNvSpPr txBox="1"/>
          <p:nvPr/>
        </p:nvSpPr>
        <p:spPr>
          <a:xfrm>
            <a:off x="966744" y="5135097"/>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52" name="TextBox 51"/>
          <p:cNvSpPr txBox="1"/>
          <p:nvPr/>
        </p:nvSpPr>
        <p:spPr>
          <a:xfrm>
            <a:off x="966744" y="4868000"/>
            <a:ext cx="171450" cy="119186"/>
          </a:xfrm>
          <a:prstGeom prst="rect">
            <a:avLst/>
          </a:prstGeom>
          <a:noFill/>
        </p:spPr>
        <p:txBody>
          <a:bodyPr wrap="none" anchor="ctr" lIns="0" rIns="0" tIns="0" bIns="0">
            <a:noAutofit/>
          </a:bodyPr>
          <a:lstStyle/>
          <a:p>
            <a:pPr algn="r"/>
            <a:r>
              <a:rPr sz="800" b="0" i="0">
                <a:solidFill>
                  <a:srgbClr val="000000"/>
                </a:solidFill>
                <a:latin typeface="Arial"/>
              </a:rPr>
              <a:t>0.1</a:t>
            </a:r>
          </a:p>
        </p:txBody>
      </p:sp>
      <p:sp>
        <p:nvSpPr>
          <p:cNvPr id="53" name="TextBox 52"/>
          <p:cNvSpPr txBox="1"/>
          <p:nvPr/>
        </p:nvSpPr>
        <p:spPr>
          <a:xfrm>
            <a:off x="966744" y="4600904"/>
            <a:ext cx="171450" cy="119186"/>
          </a:xfrm>
          <a:prstGeom prst="rect">
            <a:avLst/>
          </a:prstGeom>
          <a:noFill/>
        </p:spPr>
        <p:txBody>
          <a:bodyPr wrap="none" anchor="ctr" lIns="0" rIns="0" tIns="0" bIns="0">
            <a:noAutofit/>
          </a:bodyPr>
          <a:lstStyle/>
          <a:p>
            <a:pPr algn="r"/>
            <a:r>
              <a:rPr sz="800" b="0" i="0">
                <a:solidFill>
                  <a:srgbClr val="000000"/>
                </a:solidFill>
                <a:latin typeface="Arial"/>
              </a:rPr>
              <a:t>0.2</a:t>
            </a:r>
          </a:p>
        </p:txBody>
      </p:sp>
      <p:sp>
        <p:nvSpPr>
          <p:cNvPr id="54" name="TextBox 53"/>
          <p:cNvSpPr txBox="1"/>
          <p:nvPr/>
        </p:nvSpPr>
        <p:spPr>
          <a:xfrm>
            <a:off x="966744" y="4333807"/>
            <a:ext cx="171450" cy="119186"/>
          </a:xfrm>
          <a:prstGeom prst="rect">
            <a:avLst/>
          </a:prstGeom>
          <a:noFill/>
        </p:spPr>
        <p:txBody>
          <a:bodyPr wrap="none" anchor="ctr" lIns="0" rIns="0" tIns="0" bIns="0">
            <a:noAutofit/>
          </a:bodyPr>
          <a:lstStyle/>
          <a:p>
            <a:pPr algn="r"/>
            <a:r>
              <a:rPr sz="800" b="0" i="0">
                <a:solidFill>
                  <a:srgbClr val="000000"/>
                </a:solidFill>
                <a:latin typeface="Arial"/>
              </a:rPr>
              <a:t>0.3</a:t>
            </a:r>
          </a:p>
        </p:txBody>
      </p:sp>
      <p:sp>
        <p:nvSpPr>
          <p:cNvPr id="55" name="TextBox 54"/>
          <p:cNvSpPr txBox="1"/>
          <p:nvPr/>
        </p:nvSpPr>
        <p:spPr>
          <a:xfrm>
            <a:off x="966744" y="4066710"/>
            <a:ext cx="171450" cy="119186"/>
          </a:xfrm>
          <a:prstGeom prst="rect">
            <a:avLst/>
          </a:prstGeom>
          <a:noFill/>
        </p:spPr>
        <p:txBody>
          <a:bodyPr wrap="none" anchor="ctr" lIns="0" rIns="0" tIns="0" bIns="0">
            <a:noAutofit/>
          </a:bodyPr>
          <a:lstStyle/>
          <a:p>
            <a:pPr algn="r"/>
            <a:r>
              <a:rPr sz="800" b="0" i="0">
                <a:solidFill>
                  <a:srgbClr val="000000"/>
                </a:solidFill>
                <a:latin typeface="Arial"/>
              </a:rPr>
              <a:t>0.4</a:t>
            </a:r>
          </a:p>
        </p:txBody>
      </p:sp>
      <p:sp>
        <p:nvSpPr>
          <p:cNvPr id="56" name="TextBox 55"/>
          <p:cNvSpPr txBox="1"/>
          <p:nvPr/>
        </p:nvSpPr>
        <p:spPr>
          <a:xfrm>
            <a:off x="966744" y="3799613"/>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57" name="TextBox 56"/>
          <p:cNvSpPr txBox="1"/>
          <p:nvPr/>
        </p:nvSpPr>
        <p:spPr>
          <a:xfrm>
            <a:off x="966744" y="3532516"/>
            <a:ext cx="171450" cy="119186"/>
          </a:xfrm>
          <a:prstGeom prst="rect">
            <a:avLst/>
          </a:prstGeom>
          <a:noFill/>
        </p:spPr>
        <p:txBody>
          <a:bodyPr wrap="none" anchor="ctr" lIns="0" rIns="0" tIns="0" bIns="0">
            <a:noAutofit/>
          </a:bodyPr>
          <a:lstStyle/>
          <a:p>
            <a:pPr algn="r"/>
            <a:r>
              <a:rPr sz="800" b="0" i="0">
                <a:solidFill>
                  <a:srgbClr val="000000"/>
                </a:solidFill>
                <a:latin typeface="Arial"/>
              </a:rPr>
              <a:t>0.6</a:t>
            </a:r>
          </a:p>
        </p:txBody>
      </p:sp>
      <p:sp>
        <p:nvSpPr>
          <p:cNvPr id="58" name="TextBox 57"/>
          <p:cNvSpPr txBox="1"/>
          <p:nvPr/>
        </p:nvSpPr>
        <p:spPr>
          <a:xfrm>
            <a:off x="966744" y="3265420"/>
            <a:ext cx="171450" cy="119186"/>
          </a:xfrm>
          <a:prstGeom prst="rect">
            <a:avLst/>
          </a:prstGeom>
          <a:noFill/>
        </p:spPr>
        <p:txBody>
          <a:bodyPr wrap="none" anchor="ctr" lIns="0" rIns="0" tIns="0" bIns="0">
            <a:noAutofit/>
          </a:bodyPr>
          <a:lstStyle/>
          <a:p>
            <a:pPr algn="r"/>
            <a:r>
              <a:rPr sz="800" b="0" i="0">
                <a:solidFill>
                  <a:srgbClr val="000000"/>
                </a:solidFill>
                <a:latin typeface="Arial"/>
              </a:rPr>
              <a:t>0.7</a:t>
            </a:r>
          </a:p>
        </p:txBody>
      </p:sp>
      <p:sp>
        <p:nvSpPr>
          <p:cNvPr id="59" name="TextBox 58"/>
          <p:cNvSpPr txBox="1"/>
          <p:nvPr/>
        </p:nvSpPr>
        <p:spPr>
          <a:xfrm>
            <a:off x="937757" y="3404013"/>
            <a:ext cx="2277427" cy="119186"/>
          </a:xfrm>
          <a:prstGeom prst="rect">
            <a:avLst/>
          </a:prstGeom>
          <a:noFill/>
        </p:spPr>
        <p:txBody>
          <a:bodyPr wrap="none" anchor="ctr" lIns="0" rIns="0" tIns="0" bIns="0">
            <a:noAutofit/>
          </a:bodyPr>
          <a:lstStyle/>
          <a:p>
            <a:pPr algn="l"/>
            <a:r>
              <a:rPr sz="800" b="0" i="0">
                <a:solidFill>
                  <a:srgbClr val="000000"/>
                </a:solidFill>
                <a:latin typeface="Arial"/>
              </a:rPr>
              <a:t>Reliability of the empirical maps at n = 27</a:t>
            </a:r>
          </a:p>
        </p:txBody>
      </p:sp>
      <p:sp>
        <p:nvSpPr>
          <p:cNvPr id="60" name="TextBox 59"/>
          <p:cNvSpPr txBox="1"/>
          <p:nvPr/>
        </p:nvSpPr>
        <p:spPr>
          <a:xfrm>
            <a:off x="530284" y="356039"/>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61" name="TextBox 60"/>
          <p:cNvSpPr txBox="1"/>
          <p:nvPr/>
        </p:nvSpPr>
        <p:spPr>
          <a:xfrm>
            <a:off x="529427" y="3236039"/>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62" name="TextBox 61"/>
          <p:cNvSpPr txBox="1"/>
          <p:nvPr/>
        </p:nvSpPr>
        <p:spPr>
          <a:xfrm>
            <a:off x="540000" y="5490000"/>
            <a:ext cx="6480000" cy="2302199"/>
          </a:xfrm>
          <a:prstGeom prst="rect">
            <a:avLst/>
          </a:prstGeom>
          <a:noFill/>
        </p:spPr>
        <p:txBody>
          <a:bodyPr wrap="square" lIns="0" rIns="0" tIns="0" bIns="0">
            <a:spAutoFit/>
          </a:bodyPr>
          <a:lstStyle/>
          <a:p>
            <a:pPr algn="l"/>
            <a:r>
              <a:rPr sz="800" b="1">
                <a:latin typeface="Arial"/>
              </a:rPr>
              <a:t>Supplementary Fig. S13 | Simulated and empirical whole-brain drug effects agree in direction for the task-matched model, within the ceiling set by the reliability of the empirical maps. </a:t>
            </a:r>
            <a:r>
              <a:rPr sz="800" b="0">
                <a:latin typeface="Arial"/>
              </a:rPr>
              <a:t>Directional concordance between the whole-brain drug effect measured in the pharmacological cohort (27 healthy volunteers, three within-subject sessions, MID task, Shen-268 functional connectivity) and the corresponding perturbation of the digital twin brain. Edges entering each test are those with a nominal drug-versus-placebo effect at P &lt; 0.001, so the number of edges differs between drugs and MID conditions and is printed beside every marker as matching/total. Circles are predictions from the task-matched (MID) model, squares from the task-mismatched (SST) model; a filled marker is significant against the node-level sign-flip null (999 permutations), the grey band is ±1 s.d. of that null and the dashed line is chance (50%). The binomial test is given below for reference only — it ignores the dependence between edges that share a node. </a:t>
            </a:r>
            <a:r>
              <a:rPr sz="800" b="1">
                <a:latin typeface="Arial"/>
              </a:rPr>
              <a:t>a,</a:t>
            </a:r>
            <a:r>
              <a:rPr sz="800" b="0">
                <a:latin typeface="Arial"/>
              </a:rPr>
              <a:t> pharmacologically matched pairings: the AMPA perturbation against ketamine and the AMPA+GABA-A perturbation against midazolam. Ketamine (AMPA vs baseline): pooled over both MID conditions 38 of 56 edges match in direction (67.9%, P = 0.005), against 44.6% (25/56, P = 0.782) for the task-mismatched SST prediction; MID anticipation 60.0% (P = 0.19) and MID feedback 76.9% (P = 0.00899).  Midazolam (AMPA+GABA-A vs baseline): pooled over both MID conditions 73 of 102 edges match in direction (71.6%, P = 0.001), against 64.7% (66/102, P = 0.003) for the task-mismatched SST prediction; MID anticipation 69.2% (P = 0.004) and MID feedback 74.0% (P = 0.003). </a:t>
            </a:r>
            <a:r>
              <a:rPr sz="800" b="1">
                <a:latin typeface="Arial"/>
              </a:rPr>
              <a:t>b,</a:t>
            </a:r>
            <a:r>
              <a:rPr sz="800" b="0">
                <a:latin typeface="Arial"/>
              </a:rPr>
              <a:t> split-half reliability (Spearman-Brown) of the empirical drug-effect maps themselves, computed by splitting the 27 volunteers into halves: Ketamine MID anticipation 0.025 (max attainable r = 0.16); Ketamine MID feedback 0.041 (max attainable r = 0.20); Midazolam MID anticipation 0.198 (max attainable r = 0.45); Midazolam MID feedback 0.176 (max attainable r = 0.42). The triangle marks the highest correlation any model could attain against a map of this reliability, the square root of the reliability. </a:t>
            </a:r>
            <a:r>
              <a:rPr sz="800" b="0">
                <a:latin typeface="Arial"/>
              </a:rPr>
              <a:t>Task specificity holds: in the matched pairing the task-matched model beats its task-mismatched counterpart for both drugs (a), pooled over both MID conditions 67.9% versus 71.6% for ketamine and midazolam respectively. The ceiling on any such agreement is low: at n = 27 the empirical maps reproduce themselves only weakly (b), which is why the analysis is reported on the sign of each edge and not on the magnitude of the effect. All tests are two-sided and uncorrected. Source values are in wbdrug_direction_agreement_n288.csv, which also holds the cross-receptor pairings that are not plotted here, and in wbdrug_map_reliability.csv; wbdrug_direction_agreement_pooled_prior.csv holds the pooled-prior variant of the same test.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