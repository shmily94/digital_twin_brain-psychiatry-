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assimregion_A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4771" y="1957700"/>
            <a:ext cx="1374457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Assimilated parcels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7710" y="1839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3420" y="183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3420" y="183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3420" y="183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420" y="1839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9130" y="1839931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890" y="1423824"/>
            <a:ext cx="78295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Reward (MID)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453" y="908370"/>
            <a:ext cx="8601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Inhibition (SST)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3725" y="620355"/>
            <a:ext cx="74295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Meta-analytic
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8015" y="913119"/>
            <a:ext cx="4000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4013" y="1048622"/>
            <a:ext cx="54006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Activation
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5103" y="1824205"/>
            <a:ext cx="4314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Reward
(MID)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8552" y="1824205"/>
            <a:ext cx="497204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Inhibition
(SST)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3548385" y="1139716"/>
            <a:ext cx="1531620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Subcortical share (%)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7828" y="173309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6106" y="1342063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6106" y="95102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106" y="559994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7728" y="620355"/>
            <a:ext cx="42291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Meta-
analytic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1727" y="897393"/>
            <a:ext cx="58293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Activation-
defined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4755" y="3631454"/>
            <a:ext cx="1634489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Activation threshold (T)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6281" y="351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38424" y="3513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86277" y="351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8420" y="351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23525" y="2716219"/>
            <a:ext cx="1511617" cy="34556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Meta-analytic parcels
also activated (%)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5827" y="340709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106" y="31802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106" y="29534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4106" y="27266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106" y="249989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384" y="2273097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85511" y="2294355"/>
            <a:ext cx="4314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Reward
(MID)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53793" y="2571393"/>
            <a:ext cx="74866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Region-mean
threshold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78939" y="2848432"/>
            <a:ext cx="497204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Inhibition
(SST)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6964" y="3498205"/>
            <a:ext cx="4314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Reward
feed.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48141" y="3498205"/>
            <a:ext cx="4314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Reward
antic.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93611" y="3498205"/>
            <a:ext cx="30289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Inhib.
succ.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4787" y="3498205"/>
            <a:ext cx="30289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Inhib.
fail.</a:t>
            </a:r>
          </a:p>
        </p:txBody>
      </p:sp>
      <p:sp>
        <p:nvSpPr>
          <p:cNvPr id="43" name="TextBox 42"/>
          <p:cNvSpPr txBox="1"/>
          <p:nvPr/>
        </p:nvSpPr>
        <p:spPr>
          <a:xfrm rot="16200000">
            <a:off x="3434826" y="2714987"/>
            <a:ext cx="1545907" cy="34802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Whole-brain accuracy
(Pearson r)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5244" y="370037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55244" y="3309338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55244" y="291830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55244" y="252726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5244" y="213623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92049" y="5187931"/>
            <a:ext cx="54578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Feedback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54747" y="5187931"/>
            <a:ext cx="40862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Anticip.</a:t>
            </a:r>
          </a:p>
        </p:txBody>
      </p:sp>
      <p:sp>
        <p:nvSpPr>
          <p:cNvPr id="51" name="TextBox 50"/>
          <p:cNvSpPr txBox="1"/>
          <p:nvPr/>
        </p:nvSpPr>
        <p:spPr>
          <a:xfrm rot="16200000">
            <a:off x="-130573" y="4487276"/>
            <a:ext cx="1920240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Connectome agreement (r)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1523" y="508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1523" y="480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23" y="452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1523" y="424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0.99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1523" y="396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1523" y="368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2583" y="3968355"/>
            <a:ext cx="65436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Repeated
assimilation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48586" y="4245393"/>
            <a:ext cx="394335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Region
swap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88188" y="5305700"/>
            <a:ext cx="1551622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Assimilated endpoints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23204" y="5187931"/>
            <a:ext cx="25431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Both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42297" y="5187931"/>
            <a:ext cx="234314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67091" y="5187931"/>
            <a:ext cx="4029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Neither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7627" y="5187931"/>
            <a:ext cx="14001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All</a:t>
            </a:r>
          </a:p>
        </p:txBody>
      </p:sp>
      <p:sp>
        <p:nvSpPr>
          <p:cNvPr id="65" name="TextBox 64"/>
          <p:cNvSpPr txBox="1"/>
          <p:nvPr/>
        </p:nvSpPr>
        <p:spPr>
          <a:xfrm rot="16200000">
            <a:off x="3381440" y="4487276"/>
            <a:ext cx="1700212" cy="15144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 vs empirical 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93523" y="50810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93523" y="480850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3523" y="4535905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93523" y="4263309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3523" y="3990712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293523" y="3718116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037659" y="5682217"/>
            <a:ext cx="76009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737373"/>
                </a:solidFill>
                <a:latin typeface="Arial"/>
              </a:rPr>
              <a:t>Inhibition task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20277" y="5682217"/>
            <a:ext cx="6943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737373"/>
                </a:solidFill>
                <a:latin typeface="Arial"/>
              </a:rPr>
              <a:t>Reward task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71499" y="7033510"/>
            <a:ext cx="2583001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NP edge (region pair, model indices)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38384" y="6774205"/>
            <a:ext cx="3171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
86-28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612387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
128-58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20679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
124-86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428972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
126-64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975" y="6774205"/>
            <a:ext cx="45434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
157-121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11267" y="6774205"/>
            <a:ext cx="45434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6
200-170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688140" y="6774205"/>
            <a:ext cx="3171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7
126-5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96433" y="6774205"/>
            <a:ext cx="3171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8
16-15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470435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9
207-15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13018" y="6774205"/>
            <a:ext cx="31718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10
66-41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87021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11
213-94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95313" y="6774205"/>
            <a:ext cx="385762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12
207-15</a:t>
            </a:r>
          </a:p>
        </p:txBody>
      </p:sp>
      <p:sp>
        <p:nvSpPr>
          <p:cNvPr id="87" name="TextBox 86"/>
          <p:cNvSpPr txBox="1"/>
          <p:nvPr/>
        </p:nvSpPr>
        <p:spPr>
          <a:xfrm rot="16200000">
            <a:off x="78600" y="6125716"/>
            <a:ext cx="1434018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Task FC of the edge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2946" y="6905152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-0.75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2946" y="6663788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52946" y="6422424"/>
            <a:ext cx="282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91523" y="6181061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91523" y="5939697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1523" y="5698333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1523" y="5456970"/>
            <a:ext cx="24003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0.75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9240" y="7191502"/>
            <a:ext cx="21802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meta-analytic, 5 runs (mean and range)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9827" y="7317332"/>
            <a:ext cx="9744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activation-defined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46314" y="7191502"/>
            <a:ext cx="50292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empirical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567148" y="7317332"/>
            <a:ext cx="22945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meta-analytic, 10 M cohort model (d only)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729355" y="7191502"/>
            <a:ext cx="228028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circle, reward task; square, inhibition task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30284" y="5005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31427" y="5005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0284" y="21745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31427" y="21745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0284" y="3848506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6285" y="3847196"/>
            <a:ext cx="57150" cy="165337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9427" y="5522148"/>
            <a:ext cx="105727" cy="164279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0000" y="7398000"/>
            <a:ext cx="6480000" cy="3151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Supplementary</a:t>
            </a:r>
            <a:r>
              <a:rPr sz="800" b="1">
                <a:latin typeface="Arial"/>
              </a:rPr>
              <a:t>Fig.</a:t>
            </a:r>
            <a:r>
              <a:rPr sz="800" b="1">
                <a:latin typeface="Arial"/>
              </a:rPr>
              <a:t>S22</a:t>
            </a:r>
            <a:r>
              <a:rPr sz="800" b="1">
                <a:latin typeface="Arial"/>
              </a:rPr>
              <a:t>|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activation-defined</a:t>
            </a:r>
            <a:r>
              <a:rPr sz="800" b="0">
                <a:latin typeface="Arial"/>
              </a:rPr>
              <a:t>assimilation</a:t>
            </a:r>
            <a:r>
              <a:rPr sz="800" b="0">
                <a:latin typeface="Arial"/>
              </a:rPr>
              <a:t>regions.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activation-defined</a:t>
            </a:r>
            <a:r>
              <a:rPr sz="800" b="0">
                <a:latin typeface="Arial"/>
              </a:rPr>
              <a:t>region</a:t>
            </a:r>
            <a:r>
              <a:rPr sz="800" b="0">
                <a:latin typeface="Arial"/>
              </a:rPr>
              <a:t>set</a:t>
            </a:r>
            <a:r>
              <a:rPr sz="800" b="0">
                <a:latin typeface="Arial"/>
              </a:rPr>
              <a:t>was</a:t>
            </a:r>
            <a:r>
              <a:rPr sz="800" b="0">
                <a:latin typeface="Arial"/>
              </a:rPr>
              <a:t>built</a:t>
            </a:r>
            <a:r>
              <a:rPr sz="800" b="0">
                <a:latin typeface="Arial"/>
              </a:rPr>
              <a:t>per</a:t>
            </a:r>
            <a:r>
              <a:rPr sz="800" b="0">
                <a:latin typeface="Arial"/>
              </a:rPr>
              <a:t>task</a:t>
            </a:r>
            <a:r>
              <a:rPr sz="800" b="0">
                <a:latin typeface="Arial"/>
              </a:rPr>
              <a:t>from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cohort's</a:t>
            </a:r>
            <a:r>
              <a:rPr sz="800" b="0">
                <a:latin typeface="Arial"/>
              </a:rPr>
              <a:t>group-level</a:t>
            </a:r>
            <a:r>
              <a:rPr sz="800" b="0">
                <a:latin typeface="Arial"/>
              </a:rPr>
              <a:t>task</a:t>
            </a:r>
            <a:r>
              <a:rPr sz="800" b="0">
                <a:latin typeface="Arial"/>
              </a:rPr>
              <a:t>T</a:t>
            </a:r>
            <a:r>
              <a:rPr sz="800" b="0">
                <a:latin typeface="Arial"/>
              </a:rPr>
              <a:t>maps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matched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set</a:t>
            </a:r>
            <a:r>
              <a:rPr sz="800" b="0">
                <a:latin typeface="Arial"/>
              </a:rPr>
              <a:t>on</a:t>
            </a:r>
            <a:r>
              <a:rPr sz="800" b="0">
                <a:latin typeface="Arial"/>
              </a:rPr>
              <a:t>assimilated</a:t>
            </a:r>
            <a:r>
              <a:rPr sz="800" b="0">
                <a:latin typeface="Arial"/>
              </a:rPr>
              <a:t>voxel</a:t>
            </a:r>
            <a:r>
              <a:rPr sz="800" b="0">
                <a:latin typeface="Arial"/>
              </a:rPr>
              <a:t>count</a:t>
            </a:r>
            <a:r>
              <a:rPr sz="800" b="0">
                <a:latin typeface="Arial"/>
              </a:rPr>
              <a:t>(reward</a:t>
            </a:r>
            <a:r>
              <a:rPr sz="800" b="0">
                <a:latin typeface="Arial"/>
              </a:rPr>
              <a:t>set,</a:t>
            </a:r>
            <a:r>
              <a:rPr sz="800" b="0">
                <a:latin typeface="Arial"/>
              </a:rPr>
              <a:t>2,013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2,022</a:t>
            </a:r>
            <a:r>
              <a:rPr sz="800" b="0">
                <a:latin typeface="Arial"/>
              </a:rPr>
              <a:t>voxels;</a:t>
            </a:r>
            <a:r>
              <a:rPr sz="800" b="0">
                <a:latin typeface="Arial"/>
              </a:rPr>
              <a:t>inhibition</a:t>
            </a:r>
            <a:r>
              <a:rPr sz="800" b="0">
                <a:latin typeface="Arial"/>
              </a:rPr>
              <a:t>set,</a:t>
            </a:r>
            <a:r>
              <a:rPr sz="800" b="0">
                <a:latin typeface="Arial"/>
              </a:rPr>
              <a:t>2,185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1,959).</a:t>
            </a:r>
            <a:r>
              <a:rPr sz="800" b="0">
                <a:latin typeface="Arial"/>
              </a:rPr>
              <a:t>Both</a:t>
            </a:r>
            <a:r>
              <a:rPr sz="800" b="0">
                <a:latin typeface="Arial"/>
              </a:rPr>
              <a:t>were</a:t>
            </a:r>
            <a:r>
              <a:rPr sz="800" b="0">
                <a:latin typeface="Arial"/>
              </a:rPr>
              <a:t>then</a:t>
            </a:r>
            <a:r>
              <a:rPr sz="800" b="0">
                <a:latin typeface="Arial"/>
              </a:rPr>
              <a:t>assimilated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simulated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participant's</a:t>
            </a:r>
            <a:r>
              <a:rPr sz="800" b="0">
                <a:latin typeface="Arial"/>
              </a:rPr>
              <a:t>100-million-neuron</a:t>
            </a:r>
            <a:r>
              <a:rPr sz="800" b="0">
                <a:latin typeface="Arial"/>
              </a:rPr>
              <a:t>voxel-wise</a:t>
            </a:r>
            <a:r>
              <a:rPr sz="800" b="0">
                <a:latin typeface="Arial"/>
              </a:rPr>
              <a:t>digital</a:t>
            </a:r>
            <a:r>
              <a:rPr sz="800" b="0">
                <a:latin typeface="Arial"/>
              </a:rPr>
              <a:t>twin</a:t>
            </a:r>
            <a:r>
              <a:rPr sz="800" b="0">
                <a:latin typeface="Arial"/>
              </a:rPr>
              <a:t>brain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scored</a:t>
            </a:r>
            <a:r>
              <a:rPr sz="800" b="0">
                <a:latin typeface="Arial"/>
              </a:rPr>
              <a:t>against</a:t>
            </a:r>
            <a:r>
              <a:rPr sz="800" b="0">
                <a:latin typeface="Arial"/>
              </a:rPr>
              <a:t>that</a:t>
            </a:r>
            <a:r>
              <a:rPr sz="800" b="0">
                <a:latin typeface="Arial"/>
              </a:rPr>
              <a:t>participant's</a:t>
            </a:r>
            <a:r>
              <a:rPr sz="800" b="0">
                <a:latin typeface="Arial"/>
              </a:rPr>
              <a:t>empirical</a:t>
            </a:r>
            <a:r>
              <a:rPr sz="800" b="0">
                <a:latin typeface="Arial"/>
              </a:rPr>
              <a:t>task</a:t>
            </a:r>
            <a:r>
              <a:rPr sz="800" b="0">
                <a:latin typeface="Arial"/>
              </a:rPr>
              <a:t>functional</a:t>
            </a:r>
            <a:r>
              <a:rPr sz="800" b="0">
                <a:latin typeface="Arial"/>
              </a:rPr>
              <a:t>connectivity</a:t>
            </a:r>
            <a:r>
              <a:rPr sz="800" b="0">
                <a:latin typeface="Arial"/>
              </a:rPr>
              <a:t>over</a:t>
            </a:r>
            <a:r>
              <a:rPr sz="800" b="0">
                <a:latin typeface="Arial"/>
              </a:rPr>
              <a:t>all</a:t>
            </a:r>
            <a:r>
              <a:rPr sz="800" b="0">
                <a:latin typeface="Arial"/>
              </a:rPr>
              <a:t>23,436</a:t>
            </a:r>
            <a:r>
              <a:rPr sz="800" b="0">
                <a:latin typeface="Arial"/>
              </a:rPr>
              <a:t>edges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217-region</a:t>
            </a:r>
            <a:r>
              <a:rPr sz="800" b="0">
                <a:latin typeface="Arial"/>
              </a:rPr>
              <a:t>model.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set</a:t>
            </a:r>
            <a:r>
              <a:rPr sz="800" b="0">
                <a:latin typeface="Arial"/>
              </a:rPr>
              <a:t>was</a:t>
            </a:r>
            <a:r>
              <a:rPr sz="800" b="0">
                <a:latin typeface="Arial"/>
              </a:rPr>
              <a:t>assimilated</a:t>
            </a:r>
            <a:r>
              <a:rPr sz="800" b="0">
                <a:latin typeface="Arial"/>
              </a:rPr>
              <a:t>five</a:t>
            </a:r>
            <a:r>
              <a:rPr sz="800" b="0">
                <a:latin typeface="Arial"/>
              </a:rPr>
              <a:t>independent</a:t>
            </a:r>
            <a:r>
              <a:rPr sz="800" b="0">
                <a:latin typeface="Arial"/>
              </a:rPr>
              <a:t>times</a:t>
            </a:r>
            <a:r>
              <a:rPr sz="800" b="0">
                <a:latin typeface="Arial"/>
              </a:rPr>
              <a:t>on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reward</a:t>
            </a:r>
            <a:r>
              <a:rPr sz="800" b="0">
                <a:latin typeface="Arial"/>
              </a:rPr>
              <a:t>task,</a:t>
            </a:r>
            <a:r>
              <a:rPr sz="800" b="0">
                <a:latin typeface="Arial"/>
              </a:rPr>
              <a:t>which</a:t>
            </a:r>
            <a:r>
              <a:rPr sz="800" b="0">
                <a:latin typeface="Arial"/>
              </a:rPr>
              <a:t>provides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run-to-run</a:t>
            </a:r>
            <a:r>
              <a:rPr sz="800" b="0">
                <a:latin typeface="Arial"/>
              </a:rPr>
              <a:t>envelope</a:t>
            </a:r>
            <a:r>
              <a:rPr sz="800" b="0">
                <a:latin typeface="Arial"/>
              </a:rPr>
              <a:t>against</a:t>
            </a:r>
            <a:r>
              <a:rPr sz="800" b="0">
                <a:latin typeface="Arial"/>
              </a:rPr>
              <a:t>which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region</a:t>
            </a:r>
            <a:r>
              <a:rPr sz="800" b="0">
                <a:latin typeface="Arial"/>
              </a:rPr>
              <a:t>swap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judged;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100-million-neuron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assimilation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inhibition</a:t>
            </a:r>
            <a:r>
              <a:rPr sz="800" b="0">
                <a:latin typeface="Arial"/>
              </a:rPr>
              <a:t>task</a:t>
            </a:r>
            <a:r>
              <a:rPr sz="800" b="0">
                <a:latin typeface="Arial"/>
              </a:rPr>
              <a:t>exists</a:t>
            </a:r>
            <a:r>
              <a:rPr sz="800" b="0">
                <a:latin typeface="Arial"/>
              </a:rPr>
              <a:t>for</a:t>
            </a:r>
            <a:r>
              <a:rPr sz="800" b="0">
                <a:latin typeface="Arial"/>
              </a:rPr>
              <a:t>this</a:t>
            </a:r>
            <a:r>
              <a:rPr sz="800" b="0">
                <a:latin typeface="Arial"/>
              </a:rPr>
              <a:t>participant,</a:t>
            </a:r>
            <a:r>
              <a:rPr sz="800" b="0">
                <a:latin typeface="Arial"/>
              </a:rPr>
              <a:t>so</a:t>
            </a:r>
            <a:r>
              <a:rPr sz="800" b="0">
                <a:latin typeface="Arial"/>
              </a:rPr>
              <a:t>its</a:t>
            </a:r>
            <a:r>
              <a:rPr sz="800" b="0">
                <a:latin typeface="Arial"/>
              </a:rPr>
              <a:t>only</a:t>
            </a:r>
            <a:r>
              <a:rPr sz="800" b="0">
                <a:latin typeface="Arial"/>
              </a:rPr>
              <a:t>comparator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10-million-neuron</a:t>
            </a:r>
            <a:r>
              <a:rPr sz="800" b="0">
                <a:latin typeface="Arial"/>
              </a:rPr>
              <a:t>cohort</a:t>
            </a:r>
            <a:r>
              <a:rPr sz="800" b="0">
                <a:latin typeface="Arial"/>
              </a:rPr>
              <a:t>model,</a:t>
            </a:r>
            <a:r>
              <a:rPr sz="800" b="0">
                <a:latin typeface="Arial"/>
              </a:rPr>
              <a:t>which</a:t>
            </a:r>
            <a:r>
              <a:rPr sz="800" b="0">
                <a:latin typeface="Arial"/>
              </a:rPr>
              <a:t>differs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scale</a:t>
            </a:r>
            <a:r>
              <a:rPr sz="800" b="0">
                <a:latin typeface="Arial"/>
              </a:rPr>
              <a:t>as</a:t>
            </a:r>
            <a:r>
              <a:rPr sz="800" b="0">
                <a:latin typeface="Arial"/>
              </a:rPr>
              <a:t>well</a:t>
            </a:r>
            <a:r>
              <a:rPr sz="800" b="0">
                <a:latin typeface="Arial"/>
              </a:rPr>
              <a:t>as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region</a:t>
            </a:r>
            <a:r>
              <a:rPr sz="800" b="0">
                <a:latin typeface="Arial"/>
              </a:rPr>
              <a:t>definition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shown</a:t>
            </a:r>
            <a:r>
              <a:rPr sz="800" b="0">
                <a:latin typeface="Arial"/>
              </a:rPr>
              <a:t>as</a:t>
            </a:r>
            <a:r>
              <a:rPr sz="800" b="0">
                <a:latin typeface="Arial"/>
              </a:rPr>
              <a:t>context</a:t>
            </a:r>
            <a:r>
              <a:rPr sz="800" b="0">
                <a:latin typeface="Arial"/>
              </a:rPr>
              <a:t>rather</a:t>
            </a:r>
            <a:r>
              <a:rPr sz="800" b="0">
                <a:latin typeface="Arial"/>
              </a:rPr>
              <a:t>than</a:t>
            </a:r>
            <a:r>
              <a:rPr sz="800" b="0">
                <a:latin typeface="Arial"/>
              </a:rPr>
              <a:t>as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matched</a:t>
            </a:r>
            <a:r>
              <a:rPr sz="800" b="0">
                <a:latin typeface="Arial"/>
              </a:rPr>
              <a:t>comparison.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participant</a:t>
            </a:r>
            <a:r>
              <a:rPr sz="800" b="0">
                <a:latin typeface="Arial"/>
              </a:rPr>
              <a:t>with</a:t>
            </a:r>
            <a:r>
              <a:rPr sz="800" b="0">
                <a:latin typeface="Arial"/>
              </a:rPr>
              <a:t>repeated</a:t>
            </a:r>
            <a:r>
              <a:rPr sz="800" b="0">
                <a:latin typeface="Arial"/>
              </a:rPr>
              <a:t>assimilations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set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repeated</a:t>
            </a:r>
            <a:r>
              <a:rPr sz="800" b="0">
                <a:latin typeface="Arial"/>
              </a:rPr>
              <a:t>measurements</a:t>
            </a:r>
            <a:r>
              <a:rPr sz="800" b="0">
                <a:latin typeface="Arial"/>
              </a:rPr>
              <a:t>rather</a:t>
            </a:r>
            <a:r>
              <a:rPr sz="800" b="0">
                <a:latin typeface="Arial"/>
              </a:rPr>
              <a:t>than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sample,</a:t>
            </a:r>
            <a:r>
              <a:rPr sz="800" b="0">
                <a:latin typeface="Arial"/>
              </a:rPr>
              <a:t>so</a:t>
            </a:r>
            <a:r>
              <a:rPr sz="800" b="0">
                <a:latin typeface="Arial"/>
              </a:rPr>
              <a:t>every</a:t>
            </a:r>
            <a:r>
              <a:rPr sz="800" b="0">
                <a:latin typeface="Arial"/>
              </a:rPr>
              <a:t>panel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descriptive: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error</a:t>
            </a:r>
            <a:r>
              <a:rPr sz="800" b="0">
                <a:latin typeface="Arial"/>
              </a:rPr>
              <a:t>indicator</a:t>
            </a:r>
            <a:r>
              <a:rPr sz="800" b="0">
                <a:latin typeface="Arial"/>
              </a:rPr>
              <a:t>other</a:t>
            </a:r>
            <a:r>
              <a:rPr sz="800" b="0">
                <a:latin typeface="Arial"/>
              </a:rPr>
              <a:t>than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observed</a:t>
            </a:r>
            <a:r>
              <a:rPr sz="800" b="0">
                <a:latin typeface="Arial"/>
              </a:rPr>
              <a:t>run-to-run</a:t>
            </a:r>
            <a:r>
              <a:rPr sz="800" b="0">
                <a:latin typeface="Arial"/>
              </a:rPr>
              <a:t>range,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inferential</a:t>
            </a:r>
            <a:r>
              <a:rPr sz="800" b="0">
                <a:latin typeface="Arial"/>
              </a:rPr>
              <a:t>test.</a:t>
            </a:r>
            <a:r>
              <a:rPr sz="800" b="0">
                <a:latin typeface="Arial"/>
              </a:rPr>
              <a:t>Panels</a:t>
            </a:r>
            <a:r>
              <a:rPr sz="800" b="0">
                <a:latin typeface="Arial"/>
              </a:rPr>
              <a:t>carry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numbers;</a:t>
            </a:r>
            <a:r>
              <a:rPr sz="800" b="0">
                <a:latin typeface="Arial"/>
              </a:rPr>
              <a:t>every</a:t>
            </a:r>
            <a:r>
              <a:rPr sz="800" b="0">
                <a:latin typeface="Arial"/>
              </a:rPr>
              <a:t>value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given</a:t>
            </a:r>
            <a:r>
              <a:rPr sz="800" b="0">
                <a:latin typeface="Arial"/>
              </a:rPr>
              <a:t>below,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marker</a:t>
            </a:r>
            <a:r>
              <a:rPr sz="800" b="0">
                <a:latin typeface="Arial"/>
              </a:rPr>
              <a:t>key</a:t>
            </a:r>
            <a:r>
              <a:rPr sz="800" b="0">
                <a:latin typeface="Arial"/>
              </a:rPr>
              <a:t>under</a:t>
            </a:r>
            <a:r>
              <a:rPr sz="800" b="0">
                <a:latin typeface="Arial"/>
              </a:rPr>
              <a:t>g</a:t>
            </a:r>
            <a:r>
              <a:rPr sz="800" b="0">
                <a:latin typeface="Arial"/>
              </a:rPr>
              <a:t>applies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d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g.</a:t>
            </a:r>
            <a:r>
              <a:rPr sz="800" b="0">
                <a:latin typeface="Arial"/>
              </a:rPr>
              <a:t/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a,</a:t>
            </a:r>
            <a:r>
              <a:rPr sz="800" b="0">
                <a:latin typeface="Arial"/>
              </a:rPr>
              <a:t>Parcel</a:t>
            </a:r>
            <a:r>
              <a:rPr sz="800" b="0">
                <a:latin typeface="Arial"/>
              </a:rPr>
              <a:t>composition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two</a:t>
            </a:r>
            <a:r>
              <a:rPr sz="800" b="0">
                <a:latin typeface="Arial"/>
              </a:rPr>
              <a:t>simulated</a:t>
            </a:r>
            <a:r>
              <a:rPr sz="800" b="0">
                <a:latin typeface="Arial"/>
              </a:rPr>
              <a:t>sets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participant's</a:t>
            </a:r>
            <a:r>
              <a:rPr sz="800" b="0">
                <a:latin typeface="Arial"/>
              </a:rPr>
              <a:t>own</a:t>
            </a:r>
            <a:r>
              <a:rPr sz="800" b="0">
                <a:latin typeface="Arial"/>
              </a:rPr>
              <a:t>voxel</a:t>
            </a:r>
            <a:r>
              <a:rPr sz="800" b="0">
                <a:latin typeface="Arial"/>
              </a:rPr>
              <a:t>space,</a:t>
            </a:r>
            <a:r>
              <a:rPr sz="800" b="0">
                <a:latin typeface="Arial"/>
              </a:rPr>
              <a:t>as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only</a:t>
            </a:r>
            <a:r>
              <a:rPr sz="800" b="0">
                <a:latin typeface="Arial"/>
              </a:rPr>
              <a:t>/</a:t>
            </a:r>
            <a:r>
              <a:rPr sz="800" b="0">
                <a:latin typeface="Arial"/>
              </a:rPr>
              <a:t>shared</a:t>
            </a:r>
            <a:r>
              <a:rPr sz="800" b="0">
                <a:latin typeface="Arial"/>
              </a:rPr>
              <a:t>/</a:t>
            </a:r>
            <a:r>
              <a:rPr sz="800" b="0">
                <a:latin typeface="Arial"/>
              </a:rPr>
              <a:t>activation</a:t>
            </a:r>
            <a:r>
              <a:rPr sz="800" b="0">
                <a:latin typeface="Arial"/>
              </a:rPr>
              <a:t>only:</a:t>
            </a:r>
            <a:r>
              <a:rPr sz="800" b="0">
                <a:latin typeface="Arial"/>
              </a:rPr>
              <a:t>44</a:t>
            </a:r>
            <a:r>
              <a:rPr sz="800" b="0">
                <a:latin typeface="Arial"/>
              </a:rPr>
              <a:t>/</a:t>
            </a:r>
            <a:r>
              <a:rPr sz="800" b="0">
                <a:latin typeface="Arial"/>
              </a:rPr>
              <a:t>7</a:t>
            </a:r>
            <a:r>
              <a:rPr sz="800" b="0">
                <a:latin typeface="Arial"/>
              </a:rPr>
              <a:t>/</a:t>
            </a:r>
            <a:r>
              <a:rPr sz="800" b="0">
                <a:latin typeface="Arial"/>
              </a:rPr>
              <a:t>33</a:t>
            </a:r>
            <a:r>
              <a:rPr sz="800" b="0">
                <a:latin typeface="Arial"/>
              </a:rPr>
              <a:t>parcels</a:t>
            </a:r>
            <a:r>
              <a:rPr sz="800" b="0">
                <a:latin typeface="Arial"/>
              </a:rPr>
              <a:t>on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reward</a:t>
            </a:r>
            <a:r>
              <a:rPr sz="800" b="0">
                <a:latin typeface="Arial"/>
              </a:rPr>
              <a:t>task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46</a:t>
            </a:r>
            <a:r>
              <a:rPr sz="800" b="0">
                <a:latin typeface="Arial"/>
              </a:rPr>
              <a:t>/</a:t>
            </a:r>
            <a:r>
              <a:rPr sz="800" b="0">
                <a:latin typeface="Arial"/>
              </a:rPr>
              <a:t>1</a:t>
            </a:r>
            <a:r>
              <a:rPr sz="800" b="0">
                <a:latin typeface="Arial"/>
              </a:rPr>
              <a:t>/</a:t>
            </a:r>
            <a:r>
              <a:rPr sz="800" b="0">
                <a:latin typeface="Arial"/>
              </a:rPr>
              <a:t>34</a:t>
            </a:r>
            <a:r>
              <a:rPr sz="800" b="0">
                <a:latin typeface="Arial"/>
              </a:rPr>
              <a:t>on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inhibition</a:t>
            </a:r>
            <a:r>
              <a:rPr sz="800" b="0">
                <a:latin typeface="Arial"/>
              </a:rPr>
              <a:t>task,</a:t>
            </a:r>
            <a:r>
              <a:rPr sz="800" b="0">
                <a:latin typeface="Arial"/>
              </a:rPr>
              <a:t>so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sets</a:t>
            </a:r>
            <a:r>
              <a:rPr sz="800" b="0">
                <a:latin typeface="Arial"/>
              </a:rPr>
              <a:t>share</a:t>
            </a:r>
            <a:r>
              <a:rPr sz="800" b="0">
                <a:latin typeface="Arial"/>
              </a:rPr>
              <a:t>7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51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parcels</a:t>
            </a:r>
            <a:r>
              <a:rPr sz="800" b="0">
                <a:latin typeface="Arial"/>
              </a:rPr>
              <a:t>on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reward</a:t>
            </a:r>
            <a:r>
              <a:rPr sz="800" b="0">
                <a:latin typeface="Arial"/>
              </a:rPr>
              <a:t>task</a:t>
            </a:r>
            <a:r>
              <a:rPr sz="800" b="0">
                <a:latin typeface="Arial"/>
              </a:rPr>
              <a:t>(Dice</a:t>
            </a:r>
            <a:r>
              <a:rPr sz="800" b="0">
                <a:latin typeface="Arial"/>
              </a:rPr>
              <a:t>15.4%,</a:t>
            </a:r>
            <a:r>
              <a:rPr sz="800" b="0">
                <a:latin typeface="Arial"/>
              </a:rPr>
              <a:t>17.4%</a:t>
            </a:r>
            <a:r>
              <a:rPr sz="800" b="0">
                <a:latin typeface="Arial"/>
              </a:rPr>
              <a:t>by</a:t>
            </a:r>
            <a:r>
              <a:rPr sz="800" b="0">
                <a:latin typeface="Arial"/>
              </a:rPr>
              <a:t>voxel)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1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47</a:t>
            </a:r>
            <a:r>
              <a:rPr sz="800" b="0">
                <a:latin typeface="Arial"/>
              </a:rPr>
              <a:t>on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inhibition</a:t>
            </a:r>
            <a:r>
              <a:rPr sz="800" b="0">
                <a:latin typeface="Arial"/>
              </a:rPr>
              <a:t>task</a:t>
            </a:r>
            <a:r>
              <a:rPr sz="800" b="0">
                <a:latin typeface="Arial"/>
              </a:rPr>
              <a:t>(2.4%,</a:t>
            </a:r>
            <a:r>
              <a:rPr sz="800" b="0">
                <a:latin typeface="Arial"/>
              </a:rPr>
              <a:t>1.5%</a:t>
            </a:r>
            <a:r>
              <a:rPr sz="800" b="0">
                <a:latin typeface="Arial"/>
              </a:rPr>
              <a:t>by</a:t>
            </a:r>
            <a:r>
              <a:rPr sz="800" b="0">
                <a:latin typeface="Arial"/>
              </a:rPr>
              <a:t>voxel).</a:t>
            </a:r>
            <a:r>
              <a:rPr sz="800" b="0">
                <a:latin typeface="Arial"/>
              </a:rPr>
              <a:t/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b,</a:t>
            </a:r>
            <a:r>
              <a:rPr sz="800" b="0">
                <a:latin typeface="Arial"/>
              </a:rPr>
              <a:t>Subcortical</a:t>
            </a:r>
            <a:r>
              <a:rPr sz="800" b="0">
                <a:latin typeface="Arial"/>
              </a:rPr>
              <a:t>share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each</a:t>
            </a:r>
            <a:r>
              <a:rPr sz="800" b="0">
                <a:latin typeface="Arial"/>
              </a:rPr>
              <a:t>set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217-region</a:t>
            </a:r>
            <a:r>
              <a:rPr sz="800" b="0">
                <a:latin typeface="Arial"/>
              </a:rPr>
              <a:t>model</a:t>
            </a:r>
            <a:r>
              <a:rPr sz="800" b="0">
                <a:latin typeface="Arial"/>
              </a:rPr>
              <a:t>space</a:t>
            </a:r>
            <a:r>
              <a:rPr sz="800" b="0">
                <a:latin typeface="Arial"/>
              </a:rPr>
              <a:t>(reward,</a:t>
            </a:r>
            <a:r>
              <a:rPr sz="800" b="0">
                <a:latin typeface="Arial"/>
              </a:rPr>
              <a:t>25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51</a:t>
            </a:r>
            <a:r>
              <a:rPr sz="800" b="0">
                <a:latin typeface="Arial"/>
              </a:rPr>
              <a:t>regions</a:t>
            </a:r>
            <a:r>
              <a:rPr sz="800" b="0">
                <a:latin typeface="Arial"/>
              </a:rPr>
              <a:t>subcortical</a:t>
            </a:r>
            <a:r>
              <a:rPr sz="800" b="0">
                <a:latin typeface="Arial"/>
              </a:rPr>
              <a:t>for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set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3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40</a:t>
            </a:r>
            <a:r>
              <a:rPr sz="800" b="0">
                <a:latin typeface="Arial"/>
              </a:rPr>
              <a:t>for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activation-defined</a:t>
            </a:r>
            <a:r>
              <a:rPr sz="800" b="0">
                <a:latin typeface="Arial"/>
              </a:rPr>
              <a:t>set;</a:t>
            </a:r>
            <a:r>
              <a:rPr sz="800" b="0">
                <a:latin typeface="Arial"/>
              </a:rPr>
              <a:t>inhibition,</a:t>
            </a:r>
            <a:r>
              <a:rPr sz="800" b="0">
                <a:latin typeface="Arial"/>
              </a:rPr>
              <a:t>17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47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1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36);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activation-defined</a:t>
            </a:r>
            <a:r>
              <a:rPr sz="800" b="0">
                <a:latin typeface="Arial"/>
              </a:rPr>
              <a:t>sets</a:t>
            </a:r>
            <a:r>
              <a:rPr sz="800" b="0">
                <a:latin typeface="Arial"/>
              </a:rPr>
              <a:t>load</a:t>
            </a:r>
            <a:r>
              <a:rPr sz="800" b="0">
                <a:latin typeface="Arial"/>
              </a:rPr>
              <a:t>onto</a:t>
            </a:r>
            <a:r>
              <a:rPr sz="800" b="0">
                <a:latin typeface="Arial"/>
              </a:rPr>
              <a:t>visual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motor</a:t>
            </a:r>
            <a:r>
              <a:rPr sz="800" b="0">
                <a:latin typeface="Arial"/>
              </a:rPr>
              <a:t>cortex</a:t>
            </a:r>
            <a:r>
              <a:rPr sz="800" b="0">
                <a:latin typeface="Arial"/>
              </a:rPr>
              <a:t>instead.</a:t>
            </a:r>
            <a:r>
              <a:rPr sz="800" b="0">
                <a:latin typeface="Arial"/>
              </a:rPr>
              <a:t/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c,</a:t>
            </a:r>
            <a:r>
              <a:rPr sz="800" b="0">
                <a:latin typeface="Arial"/>
              </a:rPr>
              <a:t>Percentage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parcels</a:t>
            </a:r>
            <a:r>
              <a:rPr sz="800" b="0">
                <a:latin typeface="Arial"/>
              </a:rPr>
              <a:t>that</a:t>
            </a:r>
            <a:r>
              <a:rPr sz="800" b="0">
                <a:latin typeface="Arial"/>
              </a:rPr>
              <a:t>also</a:t>
            </a:r>
            <a:r>
              <a:rPr sz="800" b="0">
                <a:latin typeface="Arial"/>
              </a:rPr>
              <a:t>show</a:t>
            </a:r>
            <a:r>
              <a:rPr sz="800" b="0">
                <a:latin typeface="Arial"/>
              </a:rPr>
              <a:t>positive</a:t>
            </a:r>
            <a:r>
              <a:rPr sz="800" b="0">
                <a:latin typeface="Arial"/>
              </a:rPr>
              <a:t>group-level</a:t>
            </a:r>
            <a:r>
              <a:rPr sz="800" b="0">
                <a:latin typeface="Arial"/>
              </a:rPr>
              <a:t>activation,</a:t>
            </a:r>
            <a:r>
              <a:rPr sz="800" b="0">
                <a:latin typeface="Arial"/>
              </a:rPr>
              <a:t>as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activation</a:t>
            </a:r>
            <a:r>
              <a:rPr sz="800" b="0">
                <a:latin typeface="Arial"/>
              </a:rPr>
              <a:t>threshold</a:t>
            </a:r>
            <a:r>
              <a:rPr sz="800" b="0">
                <a:latin typeface="Arial"/>
              </a:rPr>
              <a:t>is</a:t>
            </a:r>
            <a:r>
              <a:rPr sz="800" b="0">
                <a:latin typeface="Arial"/>
              </a:rPr>
              <a:t>raised</a:t>
            </a:r>
            <a:r>
              <a:rPr sz="800" b="0">
                <a:latin typeface="Arial"/>
              </a:rPr>
              <a:t>(solid</a:t>
            </a:r>
            <a:r>
              <a:rPr sz="800" b="0">
                <a:latin typeface="Arial"/>
              </a:rPr>
              <a:t>line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circles,</a:t>
            </a:r>
            <a:r>
              <a:rPr sz="800" b="0">
                <a:latin typeface="Arial"/>
              </a:rPr>
              <a:t>reward;</a:t>
            </a:r>
            <a:r>
              <a:rPr sz="800" b="0">
                <a:latin typeface="Arial"/>
              </a:rPr>
              <a:t>dashed,</a:t>
            </a:r>
            <a:r>
              <a:rPr sz="800" b="0">
                <a:latin typeface="Arial"/>
              </a:rPr>
              <a:t>inhibition;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pale</a:t>
            </a:r>
            <a:r>
              <a:rPr sz="800" b="0">
                <a:latin typeface="Arial"/>
              </a:rPr>
              <a:t>lines</a:t>
            </a:r>
            <a:r>
              <a:rPr sz="800" b="0">
                <a:latin typeface="Arial"/>
              </a:rPr>
              <a:t>apply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threshold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region</a:t>
            </a:r>
            <a:r>
              <a:rPr sz="800" b="0">
                <a:latin typeface="Arial"/>
              </a:rPr>
              <a:t>mean</a:t>
            </a:r>
            <a:r>
              <a:rPr sz="800" b="0">
                <a:latin typeface="Arial"/>
              </a:rPr>
              <a:t>rather</a:t>
            </a:r>
            <a:r>
              <a:rPr sz="800" b="0">
                <a:latin typeface="Arial"/>
              </a:rPr>
              <a:t>than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any</a:t>
            </a:r>
            <a:r>
              <a:rPr sz="800" b="0">
                <a:latin typeface="Arial"/>
              </a:rPr>
              <a:t>voxel).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definitions</a:t>
            </a:r>
            <a:r>
              <a:rPr sz="800" b="0">
                <a:latin typeface="Arial"/>
              </a:rPr>
              <a:t>agree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liberal</a:t>
            </a:r>
            <a:r>
              <a:rPr sz="800" b="0">
                <a:latin typeface="Arial"/>
              </a:rPr>
              <a:t>thresholds</a:t>
            </a:r>
            <a:r>
              <a:rPr sz="800" b="0">
                <a:latin typeface="Arial"/>
              </a:rPr>
              <a:t>(86%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reward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62%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inhibition</a:t>
            </a:r>
            <a:r>
              <a:rPr sz="800" b="0">
                <a:latin typeface="Arial"/>
              </a:rPr>
              <a:t>parcels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T</a:t>
            </a:r>
            <a:r>
              <a:rPr sz="800" b="0">
                <a:latin typeface="Arial"/>
              </a:rPr>
              <a:t>&gt;</a:t>
            </a:r>
            <a:r>
              <a:rPr sz="800" b="0">
                <a:latin typeface="Arial"/>
              </a:rPr>
              <a:t>0)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diverge</a:t>
            </a:r>
            <a:r>
              <a:rPr sz="800" b="0">
                <a:latin typeface="Arial"/>
              </a:rPr>
              <a:t>as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threshold</a:t>
            </a:r>
            <a:r>
              <a:rPr sz="800" b="0">
                <a:latin typeface="Arial"/>
              </a:rPr>
              <a:t>rises</a:t>
            </a:r>
            <a:r>
              <a:rPr sz="800" b="0">
                <a:latin typeface="Arial"/>
              </a:rPr>
              <a:t>(47%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21%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T</a:t>
            </a:r>
            <a:r>
              <a:rPr sz="800" b="0">
                <a:latin typeface="Arial"/>
              </a:rPr>
              <a:t>&gt;=</a:t>
            </a:r>
            <a:r>
              <a:rPr sz="800" b="0">
                <a:latin typeface="Arial"/>
              </a:rPr>
              <a:t>5).</a:t>
            </a:r>
            <a:r>
              <a:rPr sz="800" b="0">
                <a:latin typeface="Arial"/>
              </a:rPr>
              <a:t/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d,</a:t>
            </a:r>
            <a:r>
              <a:rPr sz="800" b="0">
                <a:latin typeface="Arial"/>
              </a:rPr>
              <a:t>Whole-brain</a:t>
            </a:r>
            <a:r>
              <a:rPr sz="800" b="0">
                <a:latin typeface="Arial"/>
              </a:rPr>
              <a:t>accuracy</a:t>
            </a:r>
            <a:r>
              <a:rPr sz="800" b="0">
                <a:latin typeface="Arial"/>
              </a:rPr>
              <a:t>for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four</a:t>
            </a:r>
            <a:r>
              <a:rPr sz="800" b="0">
                <a:latin typeface="Arial"/>
              </a:rPr>
              <a:t>task</a:t>
            </a:r>
            <a:r>
              <a:rPr sz="800" b="0">
                <a:latin typeface="Arial"/>
              </a:rPr>
              <a:t>conditions.</a:t>
            </a:r>
            <a:r>
              <a:rPr sz="800" b="0">
                <a:latin typeface="Arial"/>
              </a:rPr>
              <a:t>Replacing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regions</a:t>
            </a:r>
            <a:r>
              <a:rPr sz="800" b="0">
                <a:latin typeface="Arial"/>
              </a:rPr>
              <a:t>did</a:t>
            </a:r>
            <a:r>
              <a:rPr sz="800" b="0">
                <a:latin typeface="Arial"/>
              </a:rPr>
              <a:t>not</a:t>
            </a:r>
            <a:r>
              <a:rPr sz="800" b="0">
                <a:latin typeface="Arial"/>
              </a:rPr>
              <a:t>improve</a:t>
            </a:r>
            <a:r>
              <a:rPr sz="800" b="0">
                <a:latin typeface="Arial"/>
              </a:rPr>
              <a:t>it:</a:t>
            </a:r>
            <a:r>
              <a:rPr sz="800" b="0">
                <a:latin typeface="Arial"/>
              </a:rPr>
              <a:t>reward</a:t>
            </a:r>
            <a:r>
              <a:rPr sz="800" b="0">
                <a:latin typeface="Arial"/>
              </a:rPr>
              <a:t>feedback-hit</a:t>
            </a:r>
            <a:r>
              <a:rPr sz="800" b="0">
                <a:latin typeface="Arial"/>
              </a:rPr>
              <a:t>r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0.7059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0.7129</a:t>
            </a:r>
            <a:r>
              <a:rPr sz="800" b="0">
                <a:latin typeface="Arial"/>
              </a:rPr>
              <a:t>+/-</a:t>
            </a:r>
            <a:r>
              <a:rPr sz="800" b="0">
                <a:latin typeface="Arial"/>
              </a:rPr>
              <a:t>0.0007</a:t>
            </a:r>
            <a:r>
              <a:rPr sz="800" b="0">
                <a:latin typeface="Arial"/>
              </a:rPr>
              <a:t>(range</a:t>
            </a:r>
            <a:r>
              <a:rPr sz="800" b="0">
                <a:latin typeface="Arial"/>
              </a:rPr>
              <a:t>0.7120-0.7138)</a:t>
            </a:r>
            <a:r>
              <a:rPr sz="800" b="0">
                <a:latin typeface="Arial"/>
              </a:rPr>
              <a:t>over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five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runs,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change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-0.0070,</a:t>
            </a:r>
            <a:r>
              <a:rPr sz="800" b="0">
                <a:latin typeface="Arial"/>
              </a:rPr>
              <a:t>about</a:t>
            </a:r>
            <a:r>
              <a:rPr sz="800" b="0">
                <a:latin typeface="Arial"/>
              </a:rPr>
              <a:t>ten</a:t>
            </a:r>
            <a:r>
              <a:rPr sz="800" b="0">
                <a:latin typeface="Arial"/>
              </a:rPr>
              <a:t>between-run</a:t>
            </a:r>
            <a:r>
              <a:rPr sz="800" b="0">
                <a:latin typeface="Arial"/>
              </a:rPr>
              <a:t>standard</a:t>
            </a:r>
            <a:r>
              <a:rPr sz="800" b="0">
                <a:latin typeface="Arial"/>
              </a:rPr>
              <a:t>deviations</a:t>
            </a:r>
            <a:r>
              <a:rPr sz="800" b="0">
                <a:latin typeface="Arial"/>
              </a:rPr>
              <a:t>but</a:t>
            </a:r>
            <a:r>
              <a:rPr sz="800" b="0">
                <a:latin typeface="Arial"/>
              </a:rPr>
              <a:t>-1.0%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r;</a:t>
            </a:r>
            <a:r>
              <a:rPr sz="800" b="0">
                <a:latin typeface="Arial"/>
              </a:rPr>
              <a:t>reward</a:t>
            </a:r>
            <a:r>
              <a:rPr sz="800" b="0">
                <a:latin typeface="Arial"/>
              </a:rPr>
              <a:t>anticipation-hit</a:t>
            </a:r>
            <a:r>
              <a:rPr sz="800" b="0">
                <a:latin typeface="Arial"/>
              </a:rPr>
              <a:t>0.7011</a:t>
            </a:r>
            <a:r>
              <a:rPr sz="800" b="0">
                <a:latin typeface="Arial"/>
              </a:rPr>
              <a:t>versus</a:t>
            </a:r>
            <a:r>
              <a:rPr sz="800" b="0">
                <a:latin typeface="Arial"/>
              </a:rPr>
              <a:t>0.7007</a:t>
            </a:r>
            <a:r>
              <a:rPr sz="800" b="0">
                <a:latin typeface="Arial"/>
              </a:rPr>
              <a:t>+/-</a:t>
            </a:r>
            <a:r>
              <a:rPr sz="800" b="0">
                <a:latin typeface="Arial"/>
              </a:rPr>
              <a:t>0.0006</a:t>
            </a:r>
            <a:r>
              <a:rPr sz="800" b="0">
                <a:latin typeface="Arial"/>
              </a:rPr>
              <a:t>(+0.0004,</a:t>
            </a:r>
            <a:r>
              <a:rPr sz="800" b="0">
                <a:latin typeface="Arial"/>
              </a:rPr>
              <a:t>+0.1%).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inhibition</a:t>
            </a:r>
            <a:r>
              <a:rPr sz="800" b="0">
                <a:latin typeface="Arial"/>
              </a:rPr>
              <a:t>conditions</a:t>
            </a:r>
            <a:r>
              <a:rPr sz="800" b="0">
                <a:latin typeface="Arial"/>
              </a:rPr>
              <a:t>reach</a:t>
            </a:r>
            <a:r>
              <a:rPr sz="800" b="0">
                <a:latin typeface="Arial"/>
              </a:rPr>
              <a:t>0.8255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0.7926</a:t>
            </a:r>
            <a:r>
              <a:rPr sz="800" b="0">
                <a:latin typeface="Arial"/>
              </a:rPr>
              <a:t>with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activation-defined</a:t>
            </a:r>
            <a:r>
              <a:rPr sz="800" b="0">
                <a:latin typeface="Arial"/>
              </a:rPr>
              <a:t>set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100</a:t>
            </a:r>
            <a:r>
              <a:rPr sz="800" b="0">
                <a:latin typeface="Arial"/>
              </a:rPr>
              <a:t>million</a:t>
            </a:r>
            <a:r>
              <a:rPr sz="800" b="0">
                <a:latin typeface="Arial"/>
              </a:rPr>
              <a:t>neurons</a:t>
            </a:r>
            <a:r>
              <a:rPr sz="800" b="0">
                <a:latin typeface="Arial"/>
              </a:rPr>
              <a:t>against</a:t>
            </a:r>
            <a:r>
              <a:rPr sz="800" b="0">
                <a:latin typeface="Arial"/>
              </a:rPr>
              <a:t>0.6502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0.6050</a:t>
            </a:r>
            <a:r>
              <a:rPr sz="800" b="0">
                <a:latin typeface="Arial"/>
              </a:rPr>
              <a:t>for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10-million-neuron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cohort</a:t>
            </a:r>
            <a:r>
              <a:rPr sz="800" b="0">
                <a:latin typeface="Arial"/>
              </a:rPr>
              <a:t>model,</a:t>
            </a:r>
            <a:r>
              <a:rPr sz="800" b="0">
                <a:latin typeface="Arial"/>
              </a:rPr>
              <a:t>a</a:t>
            </a:r>
            <a:r>
              <a:rPr sz="800" b="0">
                <a:latin typeface="Arial"/>
              </a:rPr>
              <a:t>difference</a:t>
            </a:r>
            <a:r>
              <a:rPr sz="800" b="0">
                <a:latin typeface="Arial"/>
              </a:rPr>
              <a:t>that</a:t>
            </a:r>
            <a:r>
              <a:rPr sz="800" b="0">
                <a:latin typeface="Arial"/>
              </a:rPr>
              <a:t>cannot</a:t>
            </a:r>
            <a:r>
              <a:rPr sz="800" b="0">
                <a:latin typeface="Arial"/>
              </a:rPr>
              <a:t>be</a:t>
            </a:r>
            <a:r>
              <a:rPr sz="800" b="0">
                <a:latin typeface="Arial"/>
              </a:rPr>
              <a:t>attributed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region</a:t>
            </a:r>
            <a:r>
              <a:rPr sz="800" b="0">
                <a:latin typeface="Arial"/>
              </a:rPr>
              <a:t>definition</a:t>
            </a:r>
            <a:r>
              <a:rPr sz="800" b="0">
                <a:latin typeface="Arial"/>
              </a:rPr>
              <a:t>because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two</a:t>
            </a:r>
            <a:r>
              <a:rPr sz="800" b="0">
                <a:latin typeface="Arial"/>
              </a:rPr>
              <a:t>runs</a:t>
            </a:r>
            <a:r>
              <a:rPr sz="800" b="0">
                <a:latin typeface="Arial"/>
              </a:rPr>
              <a:t>differ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scale.</a:t>
            </a:r>
            <a:r>
              <a:rPr sz="800" b="0">
                <a:latin typeface="Arial"/>
              </a:rPr>
              <a:t/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e,</a:t>
            </a:r>
            <a:r>
              <a:rPr sz="800" b="0">
                <a:latin typeface="Arial"/>
              </a:rPr>
              <a:t>Agreement</a:t>
            </a:r>
            <a:r>
              <a:rPr sz="800" b="0">
                <a:latin typeface="Arial"/>
              </a:rPr>
              <a:t>between</a:t>
            </a:r>
            <a:r>
              <a:rPr sz="800" b="0">
                <a:latin typeface="Arial"/>
              </a:rPr>
              <a:t>pairs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simulated</a:t>
            </a:r>
            <a:r>
              <a:rPr sz="800" b="0">
                <a:latin typeface="Arial"/>
              </a:rPr>
              <a:t>connectomes,</a:t>
            </a:r>
            <a:r>
              <a:rPr sz="800" b="0">
                <a:latin typeface="Arial"/>
              </a:rPr>
              <a:t>one</a:t>
            </a:r>
            <a:r>
              <a:rPr sz="800" b="0">
                <a:latin typeface="Arial"/>
              </a:rPr>
              <a:t>point</a:t>
            </a:r>
            <a:r>
              <a:rPr sz="800" b="0">
                <a:latin typeface="Arial"/>
              </a:rPr>
              <a:t>per</a:t>
            </a:r>
            <a:r>
              <a:rPr sz="800" b="0">
                <a:latin typeface="Arial"/>
              </a:rPr>
              <a:t>pair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bar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median: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five</a:t>
            </a:r>
            <a:r>
              <a:rPr sz="800" b="0">
                <a:latin typeface="Arial"/>
              </a:rPr>
              <a:t>repeats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set</a:t>
            </a:r>
            <a:r>
              <a:rPr sz="800" b="0">
                <a:latin typeface="Arial"/>
              </a:rPr>
              <a:t>reproduce</a:t>
            </a:r>
            <a:r>
              <a:rPr sz="800" b="0">
                <a:latin typeface="Arial"/>
              </a:rPr>
              <a:t>each</a:t>
            </a:r>
            <a:r>
              <a:rPr sz="800" b="0">
                <a:latin typeface="Arial"/>
              </a:rPr>
              <a:t>other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r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0.9949-0.9956</a:t>
            </a:r>
            <a:r>
              <a:rPr sz="800" b="0">
                <a:latin typeface="Arial"/>
              </a:rPr>
              <a:t>(10</a:t>
            </a:r>
            <a:r>
              <a:rPr sz="800" b="0">
                <a:latin typeface="Arial"/>
              </a:rPr>
              <a:t>pairs</a:t>
            </a:r>
            <a:r>
              <a:rPr sz="800" b="0">
                <a:latin typeface="Arial"/>
              </a:rPr>
              <a:t>per</a:t>
            </a:r>
            <a:r>
              <a:rPr sz="800" b="0">
                <a:latin typeface="Arial"/>
              </a:rPr>
              <a:t>condition)</a:t>
            </a:r>
            <a:r>
              <a:rPr sz="800" b="0">
                <a:latin typeface="Arial"/>
              </a:rPr>
              <a:t>whereas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activation-defined</a:t>
            </a:r>
            <a:r>
              <a:rPr sz="800" b="0">
                <a:latin typeface="Arial"/>
              </a:rPr>
              <a:t>run</a:t>
            </a:r>
            <a:r>
              <a:rPr sz="800" b="0">
                <a:latin typeface="Arial"/>
              </a:rPr>
              <a:t>reproduces</a:t>
            </a:r>
            <a:r>
              <a:rPr sz="800" b="0">
                <a:latin typeface="Arial"/>
              </a:rPr>
              <a:t>them</a:t>
            </a:r>
            <a:r>
              <a:rPr sz="800" b="0">
                <a:latin typeface="Arial"/>
              </a:rPr>
              <a:t>at</a:t>
            </a:r>
            <a:r>
              <a:rPr sz="800" b="0">
                <a:latin typeface="Arial"/>
              </a:rPr>
              <a:t>r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0.9663-0.9691</a:t>
            </a:r>
            <a:r>
              <a:rPr sz="800" b="0">
                <a:latin typeface="Arial"/>
              </a:rPr>
              <a:t>(5</a:t>
            </a:r>
            <a:r>
              <a:rPr sz="800" b="0">
                <a:latin typeface="Arial"/>
              </a:rPr>
              <a:t>pairs</a:t>
            </a:r>
            <a:r>
              <a:rPr sz="800" b="0">
                <a:latin typeface="Arial"/>
              </a:rPr>
              <a:t>per</a:t>
            </a:r>
            <a:r>
              <a:rPr sz="800" b="0">
                <a:latin typeface="Arial"/>
              </a:rPr>
              <a:t>condition),</a:t>
            </a:r>
            <a:r>
              <a:rPr sz="800" b="0">
                <a:latin typeface="Arial"/>
              </a:rPr>
              <a:t>so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region</a:t>
            </a:r>
            <a:r>
              <a:rPr sz="800" b="0">
                <a:latin typeface="Arial"/>
              </a:rPr>
              <a:t>swap</a:t>
            </a:r>
            <a:r>
              <a:rPr sz="800" b="0">
                <a:latin typeface="Arial"/>
              </a:rPr>
              <a:t>perturbs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connectome</a:t>
            </a:r>
            <a:r>
              <a:rPr sz="800" b="0">
                <a:latin typeface="Arial"/>
              </a:rPr>
              <a:t>about</a:t>
            </a:r>
            <a:r>
              <a:rPr sz="800" b="0">
                <a:latin typeface="Arial"/>
              </a:rPr>
              <a:t>6.8</a:t>
            </a:r>
            <a:r>
              <a:rPr sz="800" b="0">
                <a:latin typeface="Arial"/>
              </a:rPr>
              <a:t>times</a:t>
            </a:r>
            <a:r>
              <a:rPr sz="800" b="0">
                <a:latin typeface="Arial"/>
              </a:rPr>
              <a:t>more</a:t>
            </a:r>
            <a:r>
              <a:rPr sz="800" b="0">
                <a:latin typeface="Arial"/>
              </a:rPr>
              <a:t>than</a:t>
            </a:r>
            <a:r>
              <a:rPr sz="800" b="0">
                <a:latin typeface="Arial"/>
              </a:rPr>
              <a:t>rerunning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same</a:t>
            </a:r>
            <a:r>
              <a:rPr sz="800" b="0">
                <a:latin typeface="Arial"/>
              </a:rPr>
              <a:t>assimilation</a:t>
            </a:r>
            <a:r>
              <a:rPr sz="800" b="0">
                <a:latin typeface="Arial"/>
              </a:rPr>
              <a:t>-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accuracy</a:t>
            </a:r>
            <a:r>
              <a:rPr sz="800" b="0">
                <a:latin typeface="Arial"/>
              </a:rPr>
              <a:t>still</a:t>
            </a:r>
            <a:r>
              <a:rPr sz="800" b="0">
                <a:latin typeface="Arial"/>
              </a:rPr>
              <a:t>did</a:t>
            </a:r>
            <a:r>
              <a:rPr sz="800" b="0">
                <a:latin typeface="Arial"/>
              </a:rPr>
              <a:t>not</a:t>
            </a:r>
            <a:r>
              <a:rPr sz="800" b="0">
                <a:latin typeface="Arial"/>
              </a:rPr>
              <a:t>improve.</a:t>
            </a:r>
            <a:r>
              <a:rPr sz="800" b="0">
                <a:latin typeface="Arial"/>
              </a:rPr>
              <a:t/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f,</a:t>
            </a:r>
            <a:r>
              <a:rPr sz="800" b="0">
                <a:latin typeface="Arial"/>
              </a:rPr>
              <a:t>Simulated-empirical</a:t>
            </a:r>
            <a:r>
              <a:rPr sz="800" b="0">
                <a:latin typeface="Arial"/>
              </a:rPr>
              <a:t>agreement</a:t>
            </a:r>
            <a:r>
              <a:rPr sz="800" b="0">
                <a:latin typeface="Arial"/>
              </a:rPr>
              <a:t>for</a:t>
            </a:r>
            <a:r>
              <a:rPr sz="800" b="0">
                <a:latin typeface="Arial"/>
              </a:rPr>
              <a:t>all</a:t>
            </a:r>
            <a:r>
              <a:rPr sz="800" b="0">
                <a:latin typeface="Arial"/>
              </a:rPr>
              <a:t>edges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100-million</a:t>
            </a:r>
            <a:r>
              <a:rPr sz="800" b="0">
                <a:latin typeface="Arial"/>
              </a:rPr>
              <a:t>neuron</a:t>
            </a:r>
            <a:r>
              <a:rPr sz="800" b="0">
                <a:latin typeface="Arial"/>
              </a:rPr>
              <a:t>baseline,</a:t>
            </a:r>
            <a:r>
              <a:rPr sz="800" b="0">
                <a:latin typeface="Arial"/>
              </a:rPr>
              <a:t>grouped</a:t>
            </a:r>
            <a:r>
              <a:rPr sz="800" b="0">
                <a:latin typeface="Arial"/>
              </a:rPr>
              <a:t>by</a:t>
            </a:r>
            <a:r>
              <a:rPr sz="800" b="0">
                <a:latin typeface="Arial"/>
              </a:rPr>
              <a:t>how</a:t>
            </a:r>
            <a:r>
              <a:rPr sz="800" b="0">
                <a:latin typeface="Arial"/>
              </a:rPr>
              <a:t>many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edge's</a:t>
            </a:r>
            <a:r>
              <a:rPr sz="800" b="0">
                <a:latin typeface="Arial"/>
              </a:rPr>
              <a:t>two</a:t>
            </a:r>
            <a:r>
              <a:rPr sz="800" b="0">
                <a:latin typeface="Arial"/>
              </a:rPr>
              <a:t>endpoints</a:t>
            </a:r>
            <a:r>
              <a:rPr sz="800" b="0">
                <a:latin typeface="Arial"/>
              </a:rPr>
              <a:t>were</a:t>
            </a:r>
            <a:r>
              <a:rPr sz="800" b="0">
                <a:latin typeface="Arial"/>
              </a:rPr>
              <a:t>assimilated</a:t>
            </a:r>
            <a:r>
              <a:rPr sz="800" b="0">
                <a:latin typeface="Arial"/>
              </a:rPr>
              <a:t>(r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0.9729,</a:t>
            </a:r>
            <a:r>
              <a:rPr sz="800" b="0">
                <a:latin typeface="Arial"/>
              </a:rPr>
              <a:t>n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1275,</a:t>
            </a:r>
            <a:r>
              <a:rPr sz="800" b="0">
                <a:latin typeface="Arial"/>
              </a:rPr>
              <a:t>MSE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0.00671;</a:t>
            </a:r>
            <a:r>
              <a:rPr sz="800" b="0">
                <a:latin typeface="Arial"/>
              </a:rPr>
              <a:t>r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0.3532,</a:t>
            </a:r>
            <a:r>
              <a:rPr sz="800" b="0">
                <a:latin typeface="Arial"/>
              </a:rPr>
              <a:t>n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8466,</a:t>
            </a:r>
            <a:r>
              <a:rPr sz="800" b="0">
                <a:latin typeface="Arial"/>
              </a:rPr>
              <a:t>MSE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0.07995;</a:t>
            </a:r>
            <a:r>
              <a:rPr sz="800" b="0">
                <a:latin typeface="Arial"/>
              </a:rPr>
              <a:t>r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0.0832,</a:t>
            </a:r>
            <a:r>
              <a:rPr sz="800" b="0">
                <a:latin typeface="Arial"/>
              </a:rPr>
              <a:t>n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13695,</a:t>
            </a:r>
            <a:r>
              <a:rPr sz="800" b="0">
                <a:latin typeface="Arial"/>
              </a:rPr>
              <a:t>MSE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0.09875;</a:t>
            </a:r>
            <a:r>
              <a:rPr sz="800" b="0">
                <a:latin typeface="Arial"/>
              </a:rPr>
              <a:t>r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0.2698,</a:t>
            </a:r>
            <a:r>
              <a:rPr sz="800" b="0">
                <a:latin typeface="Arial"/>
              </a:rPr>
              <a:t>n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23436,</a:t>
            </a:r>
            <a:r>
              <a:rPr sz="800" b="0">
                <a:latin typeface="Arial"/>
              </a:rPr>
              <a:t>MSE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0.08695).</a:t>
            </a:r>
            <a:r>
              <a:rPr sz="800" b="0">
                <a:latin typeface="Arial"/>
              </a:rPr>
              <a:t/>
            </a:r>
            <a:r>
              <a:rPr sz="800" b="1">
                <a:latin typeface="Arial"/>
              </a:rPr>
              <a:t/>
            </a:r>
            <a:r>
              <a:rPr sz="800" b="1">
                <a:latin typeface="Arial"/>
              </a:rPr>
              <a:t>g,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twelve</a:t>
            </a:r>
            <a:r>
              <a:rPr sz="800" b="0">
                <a:latin typeface="Arial"/>
              </a:rPr>
              <a:t>NP</a:t>
            </a:r>
            <a:r>
              <a:rPr sz="800" b="0">
                <a:latin typeface="Arial"/>
              </a:rPr>
              <a:t>edges.</a:t>
            </a:r>
            <a:r>
              <a:rPr sz="800" b="0">
                <a:latin typeface="Arial"/>
              </a:rPr>
              <a:t>Only</a:t>
            </a:r>
            <a:r>
              <a:rPr sz="800" b="0">
                <a:latin typeface="Arial"/>
              </a:rPr>
              <a:t>edges</a:t>
            </a:r>
            <a:r>
              <a:rPr sz="800" b="0">
                <a:latin typeface="Arial"/>
              </a:rPr>
              <a:t>7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11</a:t>
            </a:r>
            <a:r>
              <a:rPr sz="800" b="0">
                <a:latin typeface="Arial"/>
              </a:rPr>
              <a:t>fall</a:t>
            </a:r>
            <a:r>
              <a:rPr sz="800" b="0">
                <a:latin typeface="Arial"/>
              </a:rPr>
              <a:t>outside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five-run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range</a:t>
            </a:r>
            <a:r>
              <a:rPr sz="800" b="0">
                <a:latin typeface="Arial"/>
              </a:rPr>
              <a:t>(z</a:t>
            </a:r>
            <a:r>
              <a:rPr sz="800" b="0">
                <a:latin typeface="Arial"/>
              </a:rPr>
              <a:t>=</a:t>
            </a:r>
            <a:r>
              <a:rPr sz="800" b="0">
                <a:latin typeface="Arial"/>
              </a:rPr>
              <a:t>6.1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8.3</a:t>
            </a:r>
            <a:r>
              <a:rPr sz="800" b="0">
                <a:latin typeface="Arial"/>
              </a:rPr>
              <a:t>in</a:t>
            </a:r>
            <a:r>
              <a:rPr sz="800" b="0">
                <a:latin typeface="Arial"/>
              </a:rPr>
              <a:t>units</a:t>
            </a:r>
            <a:r>
              <a:rPr sz="800" b="0">
                <a:latin typeface="Arial"/>
              </a:rPr>
              <a:t>of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between-run</a:t>
            </a:r>
            <a:r>
              <a:rPr sz="800" b="0">
                <a:latin typeface="Arial"/>
              </a:rPr>
              <a:t>standard</a:t>
            </a:r>
            <a:r>
              <a:rPr sz="800" b="0">
                <a:latin typeface="Arial"/>
              </a:rPr>
              <a:t>deviation),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both</a:t>
            </a:r>
            <a:r>
              <a:rPr sz="800" b="0">
                <a:latin typeface="Arial"/>
              </a:rPr>
              <a:t>are</a:t>
            </a:r>
            <a:r>
              <a:rPr sz="800" b="0">
                <a:latin typeface="Arial"/>
              </a:rPr>
              <a:t>edges</a:t>
            </a:r>
            <a:r>
              <a:rPr sz="800" b="0">
                <a:latin typeface="Arial"/>
              </a:rPr>
              <a:t>whose</a:t>
            </a:r>
            <a:r>
              <a:rPr sz="800" b="0">
                <a:latin typeface="Arial"/>
              </a:rPr>
              <a:t>endpoints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set</a:t>
            </a:r>
            <a:r>
              <a:rPr sz="800" b="0">
                <a:latin typeface="Arial"/>
              </a:rPr>
              <a:t>assimilated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activation-defined</a:t>
            </a:r>
            <a:r>
              <a:rPr sz="800" b="0">
                <a:latin typeface="Arial"/>
              </a:rPr>
              <a:t>set</a:t>
            </a:r>
            <a:r>
              <a:rPr sz="800" b="0">
                <a:latin typeface="Arial"/>
              </a:rPr>
              <a:t>dropped</a:t>
            </a:r>
            <a:r>
              <a:rPr sz="800" b="0">
                <a:latin typeface="Arial"/>
              </a:rPr>
              <a:t>-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same</a:t>
            </a:r>
            <a:r>
              <a:rPr sz="800" b="0">
                <a:latin typeface="Arial"/>
              </a:rPr>
              <a:t>pattern</a:t>
            </a:r>
            <a:r>
              <a:rPr sz="800" b="0">
                <a:latin typeface="Arial"/>
              </a:rPr>
              <a:t>as</a:t>
            </a:r>
            <a:r>
              <a:rPr sz="800" b="0">
                <a:latin typeface="Arial"/>
              </a:rPr>
              <a:t>f.</a:t>
            </a:r>
            <a:r>
              <a:rPr sz="800" b="0">
                <a:latin typeface="Arial"/>
              </a:rPr>
              <a:t>Edges</a:t>
            </a:r>
            <a:r>
              <a:rPr sz="800" b="0">
                <a:latin typeface="Arial"/>
              </a:rPr>
              <a:t>1-6</a:t>
            </a:r>
            <a:r>
              <a:rPr sz="800" b="0">
                <a:latin typeface="Arial"/>
              </a:rPr>
              <a:t>belong</a:t>
            </a:r>
            <a:r>
              <a:rPr sz="800" b="0">
                <a:latin typeface="Arial"/>
              </a:rPr>
              <a:t>to</a:t>
            </a:r>
            <a:r>
              <a:rPr sz="800" b="0">
                <a:latin typeface="Arial"/>
              </a:rPr>
              <a:t>the</a:t>
            </a:r>
            <a:r>
              <a:rPr sz="800" b="0">
                <a:latin typeface="Arial"/>
              </a:rPr>
              <a:t>inhibition</a:t>
            </a:r>
            <a:r>
              <a:rPr sz="800" b="0">
                <a:latin typeface="Arial"/>
              </a:rPr>
              <a:t>task</a:t>
            </a:r>
            <a:r>
              <a:rPr sz="800" b="0">
                <a:latin typeface="Arial"/>
              </a:rPr>
              <a:t>and</a:t>
            </a:r>
            <a:r>
              <a:rPr sz="800" b="0">
                <a:latin typeface="Arial"/>
              </a:rPr>
              <a:t>have</a:t>
            </a:r>
            <a:r>
              <a:rPr sz="800" b="0">
                <a:latin typeface="Arial"/>
              </a:rPr>
              <a:t>no</a:t>
            </a:r>
            <a:r>
              <a:rPr sz="800" b="0">
                <a:latin typeface="Arial"/>
              </a:rPr>
              <a:t>meta-analytic</a:t>
            </a:r>
            <a:r>
              <a:rPr sz="800" b="0">
                <a:latin typeface="Arial"/>
              </a:rPr>
              <a:t>100-million-neuron</a:t>
            </a:r>
            <a:r>
              <a:rPr sz="800" b="0">
                <a:latin typeface="Arial"/>
              </a:rPr>
              <a:t>comparator.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