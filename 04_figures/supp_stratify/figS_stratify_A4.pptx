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stratify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453750" y="896520"/>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4" name="TextBox 3"/>
          <p:cNvSpPr txBox="1"/>
          <p:nvPr/>
        </p:nvSpPr>
        <p:spPr>
          <a:xfrm>
            <a:off x="1690384" y="703698"/>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 name="TextBox 4"/>
          <p:cNvSpPr txBox="1"/>
          <p:nvPr/>
        </p:nvSpPr>
        <p:spPr>
          <a:xfrm>
            <a:off x="1252834" y="2358793"/>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6" name="TextBox 5"/>
          <p:cNvSpPr txBox="1"/>
          <p:nvPr/>
        </p:nvSpPr>
        <p:spPr>
          <a:xfrm>
            <a:off x="1590372" y="2358951"/>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7" name="TextBox 6"/>
          <p:cNvSpPr txBox="1"/>
          <p:nvPr/>
        </p:nvSpPr>
        <p:spPr>
          <a:xfrm>
            <a:off x="2009348" y="2358951"/>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8" name="TextBox 7"/>
          <p:cNvSpPr txBox="1"/>
          <p:nvPr/>
        </p:nvSpPr>
        <p:spPr>
          <a:xfrm rot="16200000">
            <a:off x="41759" y="1303219"/>
            <a:ext cx="1554480" cy="345560"/>
          </a:xfrm>
          <a:prstGeom prst="rect">
            <a:avLst/>
          </a:prstGeom>
          <a:noFill/>
        </p:spPr>
        <p:txBody>
          <a:bodyPr wrap="none" anchor="ctr" lIns="0" rIns="0" tIns="0" bIns="0">
            <a:noAutofit/>
          </a:bodyPr>
          <a:lstStyle/>
          <a:p>
            <a:pPr algn="ctr"/>
            <a:r>
              <a:rPr sz="1000" b="0" i="0">
                <a:solidFill>
                  <a:srgbClr val="000000"/>
                </a:solidFill>
                <a:latin typeface="Arial"/>
              </a:rPr>
              <a:t>Negative-profile score
(residual)</a:t>
            </a:r>
          </a:p>
        </p:txBody>
      </p:sp>
      <p:sp>
        <p:nvSpPr>
          <p:cNvPr id="9" name="TextBox 8"/>
          <p:cNvSpPr txBox="1"/>
          <p:nvPr/>
        </p:nvSpPr>
        <p:spPr>
          <a:xfrm>
            <a:off x="971478" y="2422417"/>
            <a:ext cx="111442"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10" name="TextBox 9"/>
          <p:cNvSpPr txBox="1"/>
          <p:nvPr/>
        </p:nvSpPr>
        <p:spPr>
          <a:xfrm>
            <a:off x="971478" y="2159869"/>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1" name="TextBox 10"/>
          <p:cNvSpPr txBox="1"/>
          <p:nvPr/>
        </p:nvSpPr>
        <p:spPr>
          <a:xfrm>
            <a:off x="971478" y="1897321"/>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2" name="TextBox 11"/>
          <p:cNvSpPr txBox="1"/>
          <p:nvPr/>
        </p:nvSpPr>
        <p:spPr>
          <a:xfrm>
            <a:off x="1010055" y="1634773"/>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3" name="TextBox 12"/>
          <p:cNvSpPr txBox="1"/>
          <p:nvPr/>
        </p:nvSpPr>
        <p:spPr>
          <a:xfrm>
            <a:off x="1010055" y="1372225"/>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4" name="TextBox 13"/>
          <p:cNvSpPr txBox="1"/>
          <p:nvPr/>
        </p:nvSpPr>
        <p:spPr>
          <a:xfrm>
            <a:off x="1010055" y="1109677"/>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5" name="TextBox 14"/>
          <p:cNvSpPr txBox="1"/>
          <p:nvPr/>
        </p:nvSpPr>
        <p:spPr>
          <a:xfrm>
            <a:off x="1010055" y="847129"/>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16" name="TextBox 15"/>
          <p:cNvSpPr txBox="1"/>
          <p:nvPr/>
        </p:nvSpPr>
        <p:spPr>
          <a:xfrm>
            <a:off x="1010055" y="584581"/>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17" name="TextBox 16"/>
          <p:cNvSpPr txBox="1"/>
          <p:nvPr/>
        </p:nvSpPr>
        <p:spPr>
          <a:xfrm>
            <a:off x="3952384" y="896520"/>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18" name="TextBox 17"/>
          <p:cNvSpPr txBox="1"/>
          <p:nvPr/>
        </p:nvSpPr>
        <p:spPr>
          <a:xfrm>
            <a:off x="3661136" y="2358793"/>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19" name="TextBox 18"/>
          <p:cNvSpPr txBox="1"/>
          <p:nvPr/>
        </p:nvSpPr>
        <p:spPr>
          <a:xfrm>
            <a:off x="4072183" y="2358951"/>
            <a:ext cx="577215" cy="148983"/>
          </a:xfrm>
          <a:prstGeom prst="rect">
            <a:avLst/>
          </a:prstGeom>
          <a:noFill/>
        </p:spPr>
        <p:txBody>
          <a:bodyPr wrap="none" anchor="ctr" lIns="0" rIns="0" tIns="0" bIns="0">
            <a:noAutofit/>
          </a:bodyPr>
          <a:lstStyle/>
          <a:p>
            <a:pPr algn="ctr"/>
            <a:r>
              <a:rPr sz="1000" b="0" i="0">
                <a:solidFill>
                  <a:srgbClr val="000000"/>
                </a:solidFill>
                <a:latin typeface="Arial"/>
              </a:rPr>
              <a:t>Patients</a:t>
            </a:r>
          </a:p>
        </p:txBody>
      </p:sp>
      <p:sp>
        <p:nvSpPr>
          <p:cNvPr id="20" name="TextBox 19"/>
          <p:cNvSpPr txBox="1"/>
          <p:nvPr/>
        </p:nvSpPr>
        <p:spPr>
          <a:xfrm rot="16200000">
            <a:off x="2270897" y="1303219"/>
            <a:ext cx="1483042" cy="345560"/>
          </a:xfrm>
          <a:prstGeom prst="rect">
            <a:avLst/>
          </a:prstGeom>
          <a:noFill/>
        </p:spPr>
        <p:txBody>
          <a:bodyPr wrap="none" anchor="ctr" lIns="0" rIns="0" tIns="0" bIns="0">
            <a:noAutofit/>
          </a:bodyPr>
          <a:lstStyle/>
          <a:p>
            <a:pPr algn="ctr"/>
            <a:r>
              <a:rPr sz="1000" b="0" i="0">
                <a:solidFill>
                  <a:srgbClr val="000000"/>
                </a:solidFill>
                <a:latin typeface="Arial"/>
              </a:rPr>
              <a:t>Positive-profile score
(residual)</a:t>
            </a:r>
          </a:p>
        </p:txBody>
      </p:sp>
      <p:sp>
        <p:nvSpPr>
          <p:cNvPr id="21" name="TextBox 20"/>
          <p:cNvSpPr txBox="1"/>
          <p:nvPr/>
        </p:nvSpPr>
        <p:spPr>
          <a:xfrm>
            <a:off x="3175185" y="2278579"/>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22" name="TextBox 21"/>
          <p:cNvSpPr txBox="1"/>
          <p:nvPr/>
        </p:nvSpPr>
        <p:spPr>
          <a:xfrm>
            <a:off x="3175185" y="2024103"/>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23" name="TextBox 22"/>
          <p:cNvSpPr txBox="1"/>
          <p:nvPr/>
        </p:nvSpPr>
        <p:spPr>
          <a:xfrm>
            <a:off x="3213762" y="1769626"/>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24" name="TextBox 23"/>
          <p:cNvSpPr txBox="1"/>
          <p:nvPr/>
        </p:nvSpPr>
        <p:spPr>
          <a:xfrm>
            <a:off x="3213762" y="1515149"/>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25" name="TextBox 24"/>
          <p:cNvSpPr txBox="1"/>
          <p:nvPr/>
        </p:nvSpPr>
        <p:spPr>
          <a:xfrm>
            <a:off x="3213762" y="1260673"/>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26" name="TextBox 25"/>
          <p:cNvSpPr txBox="1"/>
          <p:nvPr/>
        </p:nvSpPr>
        <p:spPr>
          <a:xfrm>
            <a:off x="3213762" y="100619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27" name="TextBox 26"/>
          <p:cNvSpPr txBox="1"/>
          <p:nvPr/>
        </p:nvSpPr>
        <p:spPr>
          <a:xfrm>
            <a:off x="3152040" y="751719"/>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28" name="TextBox 27"/>
          <p:cNvSpPr txBox="1"/>
          <p:nvPr/>
        </p:nvSpPr>
        <p:spPr>
          <a:xfrm>
            <a:off x="3152040" y="497242"/>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29" name="TextBox 28"/>
          <p:cNvSpPr txBox="1"/>
          <p:nvPr/>
        </p:nvSpPr>
        <p:spPr>
          <a:xfrm>
            <a:off x="6046330" y="896520"/>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30" name="TextBox 29"/>
          <p:cNvSpPr txBox="1"/>
          <p:nvPr/>
        </p:nvSpPr>
        <p:spPr>
          <a:xfrm>
            <a:off x="6337257" y="703698"/>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31" name="TextBox 30"/>
          <p:cNvSpPr txBox="1"/>
          <p:nvPr/>
        </p:nvSpPr>
        <p:spPr>
          <a:xfrm>
            <a:off x="5845414" y="2358793"/>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32" name="TextBox 31"/>
          <p:cNvSpPr txBox="1"/>
          <p:nvPr/>
        </p:nvSpPr>
        <p:spPr>
          <a:xfrm>
            <a:off x="6182952" y="2358951"/>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33" name="TextBox 32"/>
          <p:cNvSpPr txBox="1"/>
          <p:nvPr/>
        </p:nvSpPr>
        <p:spPr>
          <a:xfrm>
            <a:off x="6601928" y="2358951"/>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34" name="TextBox 33"/>
          <p:cNvSpPr txBox="1"/>
          <p:nvPr/>
        </p:nvSpPr>
        <p:spPr>
          <a:xfrm rot="16200000">
            <a:off x="4567187" y="1303219"/>
            <a:ext cx="1483042" cy="345560"/>
          </a:xfrm>
          <a:prstGeom prst="rect">
            <a:avLst/>
          </a:prstGeom>
          <a:noFill/>
        </p:spPr>
        <p:txBody>
          <a:bodyPr wrap="none" anchor="ctr" lIns="0" rIns="0" tIns="0" bIns="0">
            <a:noAutofit/>
          </a:bodyPr>
          <a:lstStyle/>
          <a:p>
            <a:pPr algn="ctr"/>
            <a:r>
              <a:rPr sz="1000" b="0" i="0">
                <a:solidFill>
                  <a:srgbClr val="000000"/>
                </a:solidFill>
                <a:latin typeface="Arial"/>
              </a:rPr>
              <a:t>Positive-profile score
(residual)</a:t>
            </a:r>
          </a:p>
        </p:txBody>
      </p:sp>
      <p:sp>
        <p:nvSpPr>
          <p:cNvPr id="35" name="TextBox 34"/>
          <p:cNvSpPr txBox="1"/>
          <p:nvPr/>
        </p:nvSpPr>
        <p:spPr>
          <a:xfrm>
            <a:off x="5471475" y="2278579"/>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36" name="TextBox 35"/>
          <p:cNvSpPr txBox="1"/>
          <p:nvPr/>
        </p:nvSpPr>
        <p:spPr>
          <a:xfrm>
            <a:off x="5471475" y="2024103"/>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37" name="TextBox 36"/>
          <p:cNvSpPr txBox="1"/>
          <p:nvPr/>
        </p:nvSpPr>
        <p:spPr>
          <a:xfrm>
            <a:off x="5510052" y="1769626"/>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38" name="TextBox 37"/>
          <p:cNvSpPr txBox="1"/>
          <p:nvPr/>
        </p:nvSpPr>
        <p:spPr>
          <a:xfrm>
            <a:off x="5510052" y="1515149"/>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39" name="TextBox 38"/>
          <p:cNvSpPr txBox="1"/>
          <p:nvPr/>
        </p:nvSpPr>
        <p:spPr>
          <a:xfrm>
            <a:off x="5510052" y="1260673"/>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40" name="TextBox 39"/>
          <p:cNvSpPr txBox="1"/>
          <p:nvPr/>
        </p:nvSpPr>
        <p:spPr>
          <a:xfrm>
            <a:off x="5510052" y="100619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41" name="TextBox 40"/>
          <p:cNvSpPr txBox="1"/>
          <p:nvPr/>
        </p:nvSpPr>
        <p:spPr>
          <a:xfrm>
            <a:off x="5448330" y="751719"/>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42" name="TextBox 41"/>
          <p:cNvSpPr txBox="1"/>
          <p:nvPr/>
        </p:nvSpPr>
        <p:spPr>
          <a:xfrm>
            <a:off x="5448330" y="497242"/>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43" name="TextBox 42"/>
          <p:cNvSpPr txBox="1"/>
          <p:nvPr/>
        </p:nvSpPr>
        <p:spPr>
          <a:xfrm>
            <a:off x="1453750" y="3269885"/>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44" name="TextBox 43"/>
          <p:cNvSpPr txBox="1"/>
          <p:nvPr/>
        </p:nvSpPr>
        <p:spPr>
          <a:xfrm>
            <a:off x="1690384" y="307706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5" name="TextBox 44"/>
          <p:cNvSpPr txBox="1"/>
          <p:nvPr/>
        </p:nvSpPr>
        <p:spPr>
          <a:xfrm>
            <a:off x="1252834" y="4732158"/>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46" name="TextBox 45"/>
          <p:cNvSpPr txBox="1"/>
          <p:nvPr/>
        </p:nvSpPr>
        <p:spPr>
          <a:xfrm>
            <a:off x="1590372" y="4732316"/>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47" name="TextBox 46"/>
          <p:cNvSpPr txBox="1"/>
          <p:nvPr/>
        </p:nvSpPr>
        <p:spPr>
          <a:xfrm>
            <a:off x="2009348" y="4732316"/>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48" name="TextBox 47"/>
          <p:cNvSpPr txBox="1"/>
          <p:nvPr/>
        </p:nvSpPr>
        <p:spPr>
          <a:xfrm rot="16200000">
            <a:off x="267501" y="3676584"/>
            <a:ext cx="1102995" cy="345560"/>
          </a:xfrm>
          <a:prstGeom prst="rect">
            <a:avLst/>
          </a:prstGeom>
          <a:noFill/>
        </p:spPr>
        <p:txBody>
          <a:bodyPr wrap="none" anchor="ctr" lIns="0" rIns="0" tIns="0" bIns="0">
            <a:noAutofit/>
          </a:bodyPr>
          <a:lstStyle/>
          <a:p>
            <a:pPr algn="ctr"/>
            <a:r>
              <a:rPr sz="1000" b="0" i="0">
                <a:solidFill>
                  <a:srgbClr val="000000"/>
                </a:solidFill>
                <a:latin typeface="Arial"/>
              </a:rPr>
              <a:t>NP factor score
(residual)</a:t>
            </a:r>
          </a:p>
        </p:txBody>
      </p:sp>
      <p:sp>
        <p:nvSpPr>
          <p:cNvPr id="49" name="TextBox 48"/>
          <p:cNvSpPr txBox="1"/>
          <p:nvPr/>
        </p:nvSpPr>
        <p:spPr>
          <a:xfrm>
            <a:off x="971478" y="4776244"/>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50" name="TextBox 49"/>
          <p:cNvSpPr txBox="1"/>
          <p:nvPr/>
        </p:nvSpPr>
        <p:spPr>
          <a:xfrm>
            <a:off x="971478" y="4417652"/>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1" name="TextBox 50"/>
          <p:cNvSpPr txBox="1"/>
          <p:nvPr/>
        </p:nvSpPr>
        <p:spPr>
          <a:xfrm>
            <a:off x="1010055" y="405905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52" name="TextBox 51"/>
          <p:cNvSpPr txBox="1"/>
          <p:nvPr/>
        </p:nvSpPr>
        <p:spPr>
          <a:xfrm>
            <a:off x="1010055" y="3700466"/>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3" name="TextBox 52"/>
          <p:cNvSpPr txBox="1"/>
          <p:nvPr/>
        </p:nvSpPr>
        <p:spPr>
          <a:xfrm>
            <a:off x="1010055" y="3341874"/>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54" name="TextBox 53"/>
          <p:cNvSpPr txBox="1"/>
          <p:nvPr/>
        </p:nvSpPr>
        <p:spPr>
          <a:xfrm>
            <a:off x="1010055" y="2983281"/>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55" name="TextBox 54"/>
          <p:cNvSpPr txBox="1"/>
          <p:nvPr/>
        </p:nvSpPr>
        <p:spPr>
          <a:xfrm>
            <a:off x="1010055" y="2624688"/>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56" name="TextBox 55"/>
          <p:cNvSpPr txBox="1"/>
          <p:nvPr/>
        </p:nvSpPr>
        <p:spPr>
          <a:xfrm>
            <a:off x="3784330" y="3269885"/>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7" name="TextBox 56"/>
          <p:cNvSpPr txBox="1"/>
          <p:nvPr/>
        </p:nvSpPr>
        <p:spPr>
          <a:xfrm>
            <a:off x="3986674" y="307706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8" name="TextBox 57"/>
          <p:cNvSpPr txBox="1"/>
          <p:nvPr/>
        </p:nvSpPr>
        <p:spPr>
          <a:xfrm>
            <a:off x="3549124" y="4732158"/>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59" name="TextBox 58"/>
          <p:cNvSpPr txBox="1"/>
          <p:nvPr/>
        </p:nvSpPr>
        <p:spPr>
          <a:xfrm>
            <a:off x="3886662" y="4732316"/>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60" name="TextBox 59"/>
          <p:cNvSpPr txBox="1"/>
          <p:nvPr/>
        </p:nvSpPr>
        <p:spPr>
          <a:xfrm>
            <a:off x="4305638" y="4732316"/>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61" name="TextBox 60"/>
          <p:cNvSpPr txBox="1"/>
          <p:nvPr/>
        </p:nvSpPr>
        <p:spPr>
          <a:xfrm rot="16200000">
            <a:off x="1888755" y="3774081"/>
            <a:ext cx="2091332" cy="150566"/>
          </a:xfrm>
          <a:prstGeom prst="rect">
            <a:avLst/>
          </a:prstGeom>
          <a:noFill/>
        </p:spPr>
        <p:txBody>
          <a:bodyPr wrap="none" anchor="ctr" lIns="0" rIns="0" tIns="0" bIns="0">
            <a:noAutofit/>
          </a:bodyPr>
          <a:lstStyle/>
          <a:p>
            <a:pPr algn="ctr"/>
            <a:r>
              <a:rPr sz="1000" b="0" i="0">
                <a:solidFill>
                  <a:srgbClr val="000000"/>
                </a:solidFill>
                <a:latin typeface="Arial"/>
              </a:rPr>
              <a:t>Summed DAWBA band score</a:t>
            </a:r>
          </a:p>
        </p:txBody>
      </p:sp>
      <p:sp>
        <p:nvSpPr>
          <p:cNvPr id="62" name="TextBox 61"/>
          <p:cNvSpPr txBox="1"/>
          <p:nvPr/>
        </p:nvSpPr>
        <p:spPr>
          <a:xfrm>
            <a:off x="3206046" y="4884645"/>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63" name="TextBox 62"/>
          <p:cNvSpPr txBox="1"/>
          <p:nvPr/>
        </p:nvSpPr>
        <p:spPr>
          <a:xfrm>
            <a:off x="3306345" y="4493526"/>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64" name="TextBox 63"/>
          <p:cNvSpPr txBox="1"/>
          <p:nvPr/>
        </p:nvSpPr>
        <p:spPr>
          <a:xfrm>
            <a:off x="3244623" y="4102406"/>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65" name="TextBox 64"/>
          <p:cNvSpPr txBox="1"/>
          <p:nvPr/>
        </p:nvSpPr>
        <p:spPr>
          <a:xfrm>
            <a:off x="3244623" y="3711287"/>
            <a:ext cx="137160" cy="119186"/>
          </a:xfrm>
          <a:prstGeom prst="rect">
            <a:avLst/>
          </a:prstGeom>
          <a:noFill/>
        </p:spPr>
        <p:txBody>
          <a:bodyPr wrap="none" anchor="ctr" lIns="0" rIns="0" tIns="0" bIns="0">
            <a:noAutofit/>
          </a:bodyPr>
          <a:lstStyle/>
          <a:p>
            <a:pPr algn="r"/>
            <a:r>
              <a:rPr sz="800" b="0" i="0">
                <a:solidFill>
                  <a:srgbClr val="000000"/>
                </a:solidFill>
                <a:latin typeface="Arial"/>
              </a:rPr>
              <a:t>40</a:t>
            </a:r>
          </a:p>
        </p:txBody>
      </p:sp>
      <p:sp>
        <p:nvSpPr>
          <p:cNvPr id="66" name="TextBox 65"/>
          <p:cNvSpPr txBox="1"/>
          <p:nvPr/>
        </p:nvSpPr>
        <p:spPr>
          <a:xfrm>
            <a:off x="3244623" y="3320167"/>
            <a:ext cx="137160" cy="119186"/>
          </a:xfrm>
          <a:prstGeom prst="rect">
            <a:avLst/>
          </a:prstGeom>
          <a:noFill/>
        </p:spPr>
        <p:txBody>
          <a:bodyPr wrap="none" anchor="ctr" lIns="0" rIns="0" tIns="0" bIns="0">
            <a:noAutofit/>
          </a:bodyPr>
          <a:lstStyle/>
          <a:p>
            <a:pPr algn="r"/>
            <a:r>
              <a:rPr sz="800" b="0" i="0">
                <a:solidFill>
                  <a:srgbClr val="000000"/>
                </a:solidFill>
                <a:latin typeface="Arial"/>
              </a:rPr>
              <a:t>60</a:t>
            </a:r>
          </a:p>
        </p:txBody>
      </p:sp>
      <p:sp>
        <p:nvSpPr>
          <p:cNvPr id="67" name="TextBox 66"/>
          <p:cNvSpPr txBox="1"/>
          <p:nvPr/>
        </p:nvSpPr>
        <p:spPr>
          <a:xfrm>
            <a:off x="3244623" y="2929048"/>
            <a:ext cx="137160" cy="119186"/>
          </a:xfrm>
          <a:prstGeom prst="rect">
            <a:avLst/>
          </a:prstGeom>
          <a:noFill/>
        </p:spPr>
        <p:txBody>
          <a:bodyPr wrap="none" anchor="ctr" lIns="0" rIns="0" tIns="0" bIns="0">
            <a:noAutofit/>
          </a:bodyPr>
          <a:lstStyle/>
          <a:p>
            <a:pPr algn="r"/>
            <a:r>
              <a:rPr sz="800" b="0" i="0">
                <a:solidFill>
                  <a:srgbClr val="000000"/>
                </a:solidFill>
                <a:latin typeface="Arial"/>
              </a:rPr>
              <a:t>80</a:t>
            </a:r>
          </a:p>
        </p:txBody>
      </p:sp>
      <p:sp>
        <p:nvSpPr>
          <p:cNvPr id="68" name="TextBox 67"/>
          <p:cNvSpPr txBox="1"/>
          <p:nvPr/>
        </p:nvSpPr>
        <p:spPr>
          <a:xfrm>
            <a:off x="530284" y="468106"/>
            <a:ext cx="97154"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69" name="TextBox 68"/>
          <p:cNvSpPr txBox="1"/>
          <p:nvPr/>
        </p:nvSpPr>
        <p:spPr>
          <a:xfrm>
            <a:off x="2722847"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70" name="TextBox 69"/>
          <p:cNvSpPr txBox="1"/>
          <p:nvPr/>
        </p:nvSpPr>
        <p:spPr>
          <a:xfrm>
            <a:off x="5019994" y="468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71" name="TextBox 70"/>
          <p:cNvSpPr txBox="1"/>
          <p:nvPr/>
        </p:nvSpPr>
        <p:spPr>
          <a:xfrm>
            <a:off x="529427" y="281530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72" name="TextBox 71"/>
          <p:cNvSpPr txBox="1"/>
          <p:nvPr/>
        </p:nvSpPr>
        <p:spPr>
          <a:xfrm>
            <a:off x="2723704" y="281530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73" name="TextBox 72"/>
          <p:cNvSpPr txBox="1"/>
          <p:nvPr/>
        </p:nvSpPr>
        <p:spPr>
          <a:xfrm>
            <a:off x="540000" y="4990565"/>
            <a:ext cx="6480000" cy="2514600"/>
          </a:xfrm>
          <a:prstGeom prst="rect">
            <a:avLst/>
          </a:prstGeom>
          <a:noFill/>
        </p:spPr>
        <p:txBody>
          <a:bodyPr wrap="square" lIns="0" rIns="0" tIns="0" bIns="0">
            <a:spAutoFit/>
          </a:bodyPr>
          <a:lstStyle/>
          <a:p>
            <a:pPr algn="l"/>
            <a:r>
              <a:rPr sz="800" b="1">
                <a:latin typeface="Arial"/>
              </a:rPr>
              <a:t>Supplementary Fig. S9 | Negative and positive profiles, the NP factor and symptom severity by diagnosis in the STRATIFY validation cohort. </a:t>
            </a:r>
            <a:r>
              <a:rPr sz="800" b="0">
                <a:latin typeface="Arial"/>
              </a:rPr>
              <a:t>STRATIFY is an independent clinical cohort recruited at the IMAGEN sites. Of the 434 participants assessed, the 427 with no diagnosis, major depressive disorder (MDD) or alcohol use disorder (AUD) enter these panels (healthy controls n = 225, MDD n = 104, AUD n = 98); the 7 patients with another diagnosis (psychosis 6, ADHD 1) are in no panel. The patient box of b is therefore exactly the union of the MDD and AUD boxes of c (n = 202). Fig. 2c,e pool the diagnoses this way for the negative profile and the NP factor; here those two measures are separated by diagnosis (a, d) and the pooled contrast is given for the positive profile (b). Profile and factor scores are residuals after regressing out sex, site and mean framewise displacement. Box plots show the median, 25th-75th percentiles and 1.5 x IQR whiskers with every participant overplotted. Brackets test each patient group against the controls; *P &lt; 0.05, **P &lt; 0.01, ***P &lt; 0.001; n.s., not significant. Every panel uses the two-sided Welch unequal-variance t test, because the patient groups are much smaller than the control group (MDD n = 104 and AUD n = 98 against n = 225 controls) and the equal-variance test is robust to unequal variances only when the groups are of comparable size. Every P below is Bonferroni-corrected over the three contrasts within that measure (controls versus MDD, versus AUD, and versus all patients -- the pooled contrast being the one drawn in b for the positive profile and in Fig. 2c,e for the other two measures). For the negative profile and the NP factor the pooled Welch contrast reproduces Fig. 2c,e exactly (t = 3.85, df = 425.0 and t = 3.40, df = 424.5; uncorrected there, as a single pre-specified comparison). </a:t>
            </a:r>
            <a:r>
              <a:rPr sz="800" b="1">
                <a:latin typeface="Arial"/>
              </a:rPr>
              <a:t>a,</a:t>
            </a:r>
            <a:r>
              <a:rPr sz="800" b="0">
                <a:latin typeface="Arial"/>
              </a:rPr>
              <a:t> negative-profile score: controls +0.38 versus 0.00 in MDD (t = 2.36, df = 205.1, P = 0.057, Hedges' g = 0.28), versus -0.23 in AUD (t = 4.14, df = 224.9, P = 0.00015, Hedges' g = 0.46). </a:t>
            </a:r>
            <a:r>
              <a:rPr sz="800" b="1">
                <a:latin typeface="Arial"/>
              </a:rPr>
              <a:t>b,</a:t>
            </a:r>
            <a:r>
              <a:rPr sz="800" b="0">
                <a:latin typeface="Arial"/>
              </a:rPr>
              <a:t> positive-profile score: controls +0.36 versus -0.04 in all patients (t = 2.25, df = 415.1, P = 0.074, Hedges' g = 0.22). </a:t>
            </a:r>
            <a:r>
              <a:rPr sz="800" b="1">
                <a:latin typeface="Arial"/>
              </a:rPr>
              <a:t>c,</a:t>
            </a:r>
            <a:r>
              <a:rPr sz="800" b="0">
                <a:latin typeface="Arial"/>
              </a:rPr>
              <a:t> positive-profile score by diagnosis: controls +0.36 versus +0.07 in MDD (t = 1.27, df = 181.5, P = 0.62, Hedges' g = 0.16), versus -0.16 in AUD (t = 2.45, df = 190.7, P = 0.046, Hedges' g = 0.29). </a:t>
            </a:r>
            <a:r>
              <a:rPr sz="800" b="1">
                <a:latin typeface="Arial"/>
              </a:rPr>
              <a:t>d,</a:t>
            </a:r>
            <a:r>
              <a:rPr sz="800" b="0">
                <a:latin typeface="Arial"/>
              </a:rPr>
              <a:t> NP factor score: controls +0.14 versus -0.03 in MDD (t = 1.64, df = 206.2, P = 0.308, Hedges' g = 0.19), versus -0.26 in AUD (t = 4.10, df = 210.9, P = 0.00018, Hedges' g = 0.47). </a:t>
            </a:r>
            <a:r>
              <a:rPr sz="800" b="1">
                <a:latin typeface="Arial"/>
              </a:rPr>
              <a:t>e,</a:t>
            </a:r>
            <a:r>
              <a:rPr sz="800" b="0">
                <a:latin typeface="Arial"/>
              </a:rPr>
              <a:t> summed DAWBA band score over six domains (ADHD, conduct, eating, depression, anxiety, phobia) in the subset with a symptom assessment (controls n = 215, MDD n = 103, AUD n = 96): 6.8 +/- 6.2 versus 21.9 +/- 10.7 in MDD (t = 13.38, df = 136.1, P = 4.3e-26, Hedges' g = 1.91) and 16.4 +/- 10.4 in AUD (t = 8.44, df = 126.1, P = 1.9e-13, g = 1.24), mean +/- s.d. Welch's test is required here in particular: the summed band score is a right-skewed count whose variance scales with its mean (variance ratio 2.8-3.0; Levene F = 33-37, both P &lt; 1e-7), while in a-d it is 1.05-1.52 and the Welch and equal-variance t differ by 0.01-0.32. Controls are scored at their own designated assessment wave only, with no substitution across waves.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