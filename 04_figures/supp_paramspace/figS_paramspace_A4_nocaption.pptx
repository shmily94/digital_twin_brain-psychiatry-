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S_paramspace_A4_nocap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42191" y="2368311"/>
            <a:ext cx="1511617" cy="1828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g_{rm AMPA} (10^{-4} S cm^{-2})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6940" y="2253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402" y="2253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1573" y="2253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6035" y="2253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0496" y="2253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4958" y="2253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9420" y="2253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881" y="2253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78343" y="2253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52804" y="2253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7266" y="2253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1727" y="2253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6189" y="2253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52</a:t>
            </a:r>
          </a:p>
        </p:txBody>
      </p:sp>
      <p:sp>
        <p:nvSpPr>
          <p:cNvPr id="17" name="TextBox 16"/>
          <p:cNvSpPr txBox="1"/>
          <p:nvPr/>
        </p:nvSpPr>
        <p:spPr>
          <a:xfrm rot="16200000">
            <a:off x="-223119" y="1330559"/>
            <a:ext cx="1668780" cy="1828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g_{rm GABA}-A (10^{-4} S cm^{-2})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7827" y="2050347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105" y="185684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105" y="166334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105" y="146984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105" y="127634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105" y="108284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105" y="88934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35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105" y="69584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2557" y="502542"/>
            <a:ext cx="1114425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Mean firing rate</a:t>
            </a:r>
          </a:p>
        </p:txBody>
      </p:sp>
      <p:sp>
        <p:nvSpPr>
          <p:cNvPr id="27" name="TextBox 26"/>
          <p:cNvSpPr txBox="1"/>
          <p:nvPr/>
        </p:nvSpPr>
        <p:spPr>
          <a:xfrm rot="16200000">
            <a:off x="3072024" y="1347508"/>
            <a:ext cx="1068705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Firing rate (Hz)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43933" y="2112823"/>
            <a:ext cx="197167" cy="1438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mathdefault{10^{0}}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43933" y="1400512"/>
            <a:ext cx="197167" cy="1438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mathdefault{10^{1}}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43933" y="688200"/>
            <a:ext cx="197167" cy="1438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mathdefault{10^{2}}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10191" y="2368311"/>
            <a:ext cx="1511617" cy="1828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g_{rm AMPA} (10^{-4} S cm^{-2})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84940" y="2253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59402" y="2253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99573" y="2253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4035" y="2253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48496" y="2253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22958" y="2253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97420" y="2253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28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71881" y="2253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32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6343" y="2253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36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20804" y="2253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95266" y="2253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44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69727" y="2253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48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44189" y="2253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52</a:t>
            </a:r>
          </a:p>
        </p:txBody>
      </p:sp>
      <p:sp>
        <p:nvSpPr>
          <p:cNvPr id="45" name="TextBox 44"/>
          <p:cNvSpPr txBox="1"/>
          <p:nvPr/>
        </p:nvSpPr>
        <p:spPr>
          <a:xfrm rot="16200000">
            <a:off x="2944879" y="1330559"/>
            <a:ext cx="1668780" cy="1828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g_{rm GABA}-A (10^{-4} S cm^{-2})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25828" y="2050347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64106" y="185684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64106" y="166334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64106" y="146984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64106" y="127634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64106" y="108284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30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64106" y="88934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35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64106" y="69584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12842" y="502542"/>
            <a:ext cx="1191577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Mean coherence</a:t>
            </a:r>
          </a:p>
        </p:txBody>
      </p:sp>
      <p:sp>
        <p:nvSpPr>
          <p:cNvPr id="55" name="TextBox 54"/>
          <p:cNvSpPr txBox="1"/>
          <p:nvPr/>
        </p:nvSpPr>
        <p:spPr>
          <a:xfrm rot="16200000">
            <a:off x="6364387" y="1346716"/>
            <a:ext cx="780097" cy="1505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Coherence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14505" y="2286252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14505" y="1843993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14505" y="1401733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14505" y="959474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14505" y="517214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2985" y="4031473"/>
            <a:ext cx="534352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baseline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292205" y="4112747"/>
            <a:ext cx="440055" cy="31100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7B7254"/>
                </a:solidFill>
                <a:latin typeface="Arial"/>
              </a:rPr>
              <a:t>AMPA
0.0044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282489" y="3144392"/>
            <a:ext cx="537210" cy="31271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52655F"/>
                </a:solidFill>
                <a:latin typeface="Arial"/>
              </a:rPr>
              <a:t>GABA-A
0.0040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42191" y="4924311"/>
            <a:ext cx="1511617" cy="1828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g_{rm AMPA} (10^{-4} S cm^{-2})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6025" y="4809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28657" y="4809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26998" y="4809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59630" y="4809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392262" y="4809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524893" y="4809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24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657525" y="4809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28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790156" y="4809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32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922788" y="4809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36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5419" y="4809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188051" y="4809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44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320683" y="4809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48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453314" y="4809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52</a:t>
            </a:r>
          </a:p>
        </p:txBody>
      </p:sp>
      <p:sp>
        <p:nvSpPr>
          <p:cNvPr id="78" name="TextBox 77"/>
          <p:cNvSpPr txBox="1"/>
          <p:nvPr/>
        </p:nvSpPr>
        <p:spPr>
          <a:xfrm rot="16200000">
            <a:off x="-223119" y="3886559"/>
            <a:ext cx="1668780" cy="1828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g_{rm GABA}-A (10^{-4} S cm^{-2})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57827" y="4606347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96105" y="441284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6105" y="421934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96105" y="402584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96105" y="383234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96105" y="363884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30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96105" y="344534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35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96105" y="325184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36269" y="3058542"/>
            <a:ext cx="1277302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Dynamical regime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20893" y="5267224"/>
            <a:ext cx="168306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Asynchronous, resting-like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02332" y="5425756"/>
            <a:ext cx="868680" cy="13579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Synchronised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536262" y="5267224"/>
            <a:ext cx="994409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Excessive firing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543978" y="5427296"/>
            <a:ext cx="91725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Not in this grid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225185" y="3189199"/>
            <a:ext cx="742950" cy="31100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transition to
synchrony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410191" y="4924311"/>
            <a:ext cx="1511617" cy="1828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g_{rm AMPA} (10^{-4} S cm^{-2})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111110" y="4809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337910" y="4809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30419" y="4809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757219" y="4809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16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984019" y="4809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210819" y="4809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24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437619" y="4809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28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664420" y="4809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32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891219" y="4809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36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118019" y="4809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104" name="TextBox 103"/>
          <p:cNvSpPr txBox="1"/>
          <p:nvPr/>
        </p:nvSpPr>
        <p:spPr>
          <a:xfrm rot="16200000">
            <a:off x="3056736" y="3903508"/>
            <a:ext cx="1417320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Regional coherence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833244" y="4785056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833244" y="4521772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833244" y="4258488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833244" y="3995205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833244" y="373192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833244" y="3468638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0.5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833244" y="3205354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833244" y="2942070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0.7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781111" y="3058454"/>
            <a:ext cx="2508885" cy="14986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Across regions at g_{rm GABA}-A = 0.0015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38284" y="500506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805427" y="500506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38284" y="3056506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805427" y="3056506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