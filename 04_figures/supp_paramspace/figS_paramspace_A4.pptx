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paramspace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2191" y="2368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940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02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157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6035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4958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9420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881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34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2804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26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1727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6189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-223119" y="1330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827" y="2050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105" y="1856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05" y="1663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105" y="1469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105" y="1276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105" y="108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05" y="88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105" y="69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7" y="502542"/>
            <a:ext cx="111442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firing rate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3072024" y="1347508"/>
            <a:ext cx="106870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Firing rate (Hz)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3933" y="2112823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mathdefault{10^{0}}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3933" y="1400512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3933" y="688200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mathdefault{10^{2}}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191" y="2368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940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9402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957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4035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849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2958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7420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1881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634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0804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526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9727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189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2944879" y="1330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25828" y="2050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4106" y="1856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4106" y="1663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4106" y="1469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4106" y="1276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4106" y="108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4106" y="88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4106" y="69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2842" y="502542"/>
            <a:ext cx="119157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coherence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6364387" y="1346716"/>
            <a:ext cx="78009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Coherence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4505" y="22862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4505" y="184399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4505" y="14017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4505" y="95947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4505" y="51721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5" y="4031473"/>
            <a:ext cx="53435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2205" y="4112747"/>
            <a:ext cx="440055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B7254"/>
                </a:solidFill>
                <a:latin typeface="Arial"/>
              </a:rPr>
              <a:t>AMPA
0.0044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2489" y="3144392"/>
            <a:ext cx="53721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2655F"/>
                </a:solidFill>
                <a:latin typeface="Arial"/>
              </a:rPr>
              <a:t>GABA-A
0.0040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42191" y="4924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025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8657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6998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59630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92262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893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57525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90156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2788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54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8051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20683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53314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-223119" y="3886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7827" y="4606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6105" y="441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6105" y="421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6105" y="402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6105" y="3832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105" y="3638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6105" y="3445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6105" y="3251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6269" y="3058542"/>
            <a:ext cx="12773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Dynamical regime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893" y="5267224"/>
            <a:ext cx="168306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Asynchronous, resting-like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2332" y="5425756"/>
            <a:ext cx="86868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Synchronised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36262" y="5267224"/>
            <a:ext cx="994409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Excessive firing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43978" y="5427296"/>
            <a:ext cx="9172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Not in this grid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5185" y="3189199"/>
            <a:ext cx="742950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transition to
synchrony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10191" y="4924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1110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7910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304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72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840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08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376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4420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912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180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3056736" y="3903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Regional coherence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3244" y="47850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33244" y="452177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33244" y="42584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3244" y="399520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3244" y="37319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3244" y="346863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33244" y="320535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33244" y="294207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81111" y="3058454"/>
            <a:ext cx="2508885" cy="1498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Across regions at g_{rm GABA}-A = 0.0015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8284" y="5005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05427" y="500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284" y="30565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05427" y="3056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0000" y="5598000"/>
            <a:ext cx="6480000" cy="187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</a:t>
            </a:r>
            <a:r>
              <a:rPr sz="800" b="1">
                <a:latin typeface="Arial"/>
              </a:rPr>
              <a:t>Fig.</a:t>
            </a:r>
            <a:r>
              <a:rPr sz="800" b="1">
                <a:latin typeface="Arial"/>
              </a:rPr>
              <a:t>S18</a:t>
            </a:r>
            <a:r>
              <a:rPr sz="800" b="1">
                <a:latin typeface="Arial"/>
              </a:rPr>
              <a:t>|</a:t>
            </a:r>
            <a:r>
              <a:rPr sz="800" b="0">
                <a:latin typeface="Arial"/>
              </a:rPr>
              <a:t>Two-dimensional</a:t>
            </a:r>
            <a:r>
              <a:rPr sz="800" b="0">
                <a:latin typeface="Arial"/>
              </a:rPr>
              <a:t>AMPA/GABA-A</a:t>
            </a:r>
            <a:r>
              <a:rPr sz="800" b="0">
                <a:latin typeface="Arial"/>
              </a:rPr>
              <a:t>conductance</a:t>
            </a:r>
            <a:r>
              <a:rPr sz="800" b="0">
                <a:latin typeface="Arial"/>
              </a:rPr>
              <a:t>sweep</a:t>
            </a:r>
            <a:r>
              <a:rPr sz="800" b="0">
                <a:latin typeface="Arial"/>
              </a:rPr>
              <a:t>used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place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baseline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perturbation</a:t>
            </a:r>
            <a:r>
              <a:rPr sz="800" b="0">
                <a:latin typeface="Arial"/>
              </a:rPr>
              <a:t>endpoints.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cell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simulation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</a:t>
            </a:r>
            <a:r>
              <a:rPr sz="800" b="0">
                <a:latin typeface="Arial"/>
              </a:rPr>
              <a:t>brain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fixed</a:t>
            </a:r>
            <a:r>
              <a:rPr sz="800" b="0">
                <a:latin typeface="Arial"/>
              </a:rPr>
              <a:t>pair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global</a:t>
            </a:r>
            <a:r>
              <a:rPr sz="800" b="0">
                <a:latin typeface="Arial"/>
              </a:rPr>
              <a:t>conductances</a:t>
            </a:r>
            <a:r>
              <a:rPr sz="800" b="0">
                <a:latin typeface="Arial"/>
              </a:rPr>
              <a:t>(n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80</a:t>
            </a:r>
            <a:r>
              <a:rPr sz="800" b="0">
                <a:latin typeface="Arial"/>
              </a:rPr>
              <a:t>simulations;</a:t>
            </a:r>
            <a:r>
              <a:rPr sz="800" b="0">
                <a:latin typeface="Arial"/>
              </a:rPr>
              <a:t>unit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observation,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conductance</a:t>
            </a:r>
            <a:r>
              <a:rPr sz="800" b="0">
                <a:latin typeface="Arial"/>
              </a:rPr>
              <a:t>pair;</a:t>
            </a:r>
            <a:r>
              <a:rPr sz="800" b="0">
                <a:latin typeface="Arial"/>
              </a:rPr>
              <a:t>g_AMPA</a:t>
            </a:r>
            <a:r>
              <a:rPr sz="800" b="0">
                <a:latin typeface="Arial"/>
              </a:rPr>
              <a:t>0.0004-0.0040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steps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0.0004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g_GABA-A</a:t>
            </a:r>
            <a:r>
              <a:rPr sz="800" b="0">
                <a:latin typeface="Arial"/>
              </a:rPr>
              <a:t>0.0005-0.0040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steps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0.0005,</a:t>
            </a:r>
            <a:r>
              <a:rPr sz="800" b="0">
                <a:latin typeface="Arial"/>
              </a:rPr>
              <a:t>external</a:t>
            </a:r>
            <a:r>
              <a:rPr sz="800" b="0">
                <a:latin typeface="Arial"/>
              </a:rPr>
              <a:t>input</a:t>
            </a:r>
            <a:r>
              <a:rPr sz="800" b="0">
                <a:latin typeface="Arial"/>
              </a:rPr>
              <a:t>0).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run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cell,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indicator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statistical</a:t>
            </a:r>
            <a:r>
              <a:rPr sz="800" b="0">
                <a:latin typeface="Arial"/>
              </a:rPr>
              <a:t>test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shown;</a:t>
            </a:r>
            <a:r>
              <a:rPr sz="800" b="0">
                <a:latin typeface="Arial"/>
              </a:rPr>
              <a:t>all</a:t>
            </a:r>
            <a:r>
              <a:rPr sz="800" b="0">
                <a:latin typeface="Arial"/>
              </a:rPr>
              <a:t>four</a:t>
            </a:r>
            <a:r>
              <a:rPr sz="800" b="0">
                <a:latin typeface="Arial"/>
              </a:rPr>
              <a:t>panels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descriptive</a:t>
            </a:r>
            <a:r>
              <a:rPr sz="800" b="0">
                <a:latin typeface="Arial"/>
              </a:rPr>
              <a:t>maps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model's</a:t>
            </a:r>
            <a:r>
              <a:rPr sz="800" b="0">
                <a:latin typeface="Arial"/>
              </a:rPr>
              <a:t>dynamical</a:t>
            </a:r>
            <a:r>
              <a:rPr sz="800" b="0">
                <a:latin typeface="Arial"/>
              </a:rPr>
              <a:t>regimes.</a:t>
            </a:r>
            <a:r>
              <a:rPr sz="800" b="0">
                <a:latin typeface="Arial"/>
              </a:rPr>
              <a:t>Columns</a:t>
            </a:r>
            <a:r>
              <a:rPr sz="800" b="0">
                <a:latin typeface="Arial"/>
              </a:rPr>
              <a:t>hatched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white</a:t>
            </a:r>
            <a:r>
              <a:rPr sz="800" b="0">
                <a:latin typeface="Arial"/>
              </a:rPr>
              <a:t>were</a:t>
            </a:r>
            <a:r>
              <a:rPr sz="800" b="0">
                <a:latin typeface="Arial"/>
              </a:rPr>
              <a:t>not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grid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shown</a:t>
            </a:r>
            <a:r>
              <a:rPr sz="800" b="0">
                <a:latin typeface="Arial"/>
              </a:rPr>
              <a:t>only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that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conductance</a:t>
            </a:r>
            <a:r>
              <a:rPr sz="800" b="0">
                <a:latin typeface="Arial"/>
              </a:rPr>
              <a:t>settings</a:t>
            </a:r>
            <a:r>
              <a:rPr sz="800" b="0">
                <a:latin typeface="Arial"/>
              </a:rPr>
              <a:t>used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main</a:t>
            </a:r>
            <a:r>
              <a:rPr sz="800" b="0">
                <a:latin typeface="Arial"/>
              </a:rPr>
              <a:t>analyses</a:t>
            </a:r>
            <a:r>
              <a:rPr sz="800" b="0">
                <a:latin typeface="Arial"/>
              </a:rPr>
              <a:t>can</a:t>
            </a:r>
            <a:r>
              <a:rPr sz="800" b="0">
                <a:latin typeface="Arial"/>
              </a:rPr>
              <a:t>be</a:t>
            </a:r>
            <a:r>
              <a:rPr sz="800" b="0">
                <a:latin typeface="Arial"/>
              </a:rPr>
              <a:t>marked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place.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Mean</a:t>
            </a:r>
            <a:r>
              <a:rPr sz="800" b="0">
                <a:latin typeface="Arial"/>
              </a:rPr>
              <a:t>population</a:t>
            </a:r>
            <a:r>
              <a:rPr sz="800" b="0">
                <a:latin typeface="Arial"/>
              </a:rPr>
              <a:t>firing</a:t>
            </a:r>
            <a:r>
              <a:rPr sz="800" b="0">
                <a:latin typeface="Arial"/>
              </a:rPr>
              <a:t>rate</a:t>
            </a:r>
            <a:r>
              <a:rPr sz="800" b="0">
                <a:latin typeface="Arial"/>
              </a:rPr>
              <a:t>(logarithmic</a:t>
            </a:r>
            <a:r>
              <a:rPr sz="800" b="0">
                <a:latin typeface="Arial"/>
              </a:rPr>
              <a:t>colour</a:t>
            </a:r>
            <a:r>
              <a:rPr sz="800" b="0">
                <a:latin typeface="Arial"/>
              </a:rPr>
              <a:t>scale,</a:t>
            </a:r>
            <a:r>
              <a:rPr sz="800" b="0">
                <a:latin typeface="Arial"/>
              </a:rPr>
              <a:t>0.93-138.81</a:t>
            </a:r>
            <a:r>
              <a:rPr sz="800" b="0">
                <a:latin typeface="Arial"/>
              </a:rPr>
              <a:t>Hz).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Mean</a:t>
            </a:r>
            <a:r>
              <a:rPr sz="800" b="0">
                <a:latin typeface="Arial"/>
              </a:rPr>
              <a:t>coherence</a:t>
            </a:r>
            <a:r>
              <a:rPr sz="800" b="0">
                <a:latin typeface="Arial"/>
              </a:rPr>
              <a:t>across</a:t>
            </a:r>
            <a:r>
              <a:rPr sz="800" b="0">
                <a:latin typeface="Arial"/>
              </a:rPr>
              <a:t>regions,</a:t>
            </a:r>
            <a:r>
              <a:rPr sz="800" b="0">
                <a:latin typeface="Arial"/>
              </a:rPr>
              <a:t>which</a:t>
            </a:r>
            <a:r>
              <a:rPr sz="800" b="0">
                <a:latin typeface="Arial"/>
              </a:rPr>
              <a:t>separates</a:t>
            </a:r>
            <a:r>
              <a:rPr sz="800" b="0">
                <a:latin typeface="Arial"/>
              </a:rPr>
              <a:t>asynchronous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synchronised</a:t>
            </a:r>
            <a:r>
              <a:rPr sz="800" b="0">
                <a:latin typeface="Arial"/>
              </a:rPr>
              <a:t>activity.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Regime</a:t>
            </a:r>
            <a:r>
              <a:rPr sz="800" b="0">
                <a:latin typeface="Arial"/>
              </a:rPr>
              <a:t>classification.</a:t>
            </a:r>
            <a:r>
              <a:rPr sz="800" b="0">
                <a:latin typeface="Arial"/>
              </a:rPr>
              <a:t>Coherence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bimodal</a:t>
            </a:r>
            <a:r>
              <a:rPr sz="800" b="0">
                <a:latin typeface="Arial"/>
              </a:rPr>
              <a:t>across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grid</a:t>
            </a:r>
            <a:r>
              <a:rPr sz="800" b="0">
                <a:latin typeface="Arial"/>
              </a:rPr>
              <a:t>-</a:t>
            </a:r>
            <a:r>
              <a:rPr sz="800" b="0">
                <a:latin typeface="Arial"/>
              </a:rPr>
              <a:t>46</a:t>
            </a:r>
            <a:r>
              <a:rPr sz="800" b="0">
                <a:latin typeface="Arial"/>
              </a:rPr>
              <a:t>cells</a:t>
            </a:r>
            <a:r>
              <a:rPr sz="800" b="0">
                <a:latin typeface="Arial"/>
              </a:rPr>
              <a:t>lie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0.0629-0.0654</a:t>
            </a:r>
            <a:r>
              <a:rPr sz="800" b="0">
                <a:latin typeface="Arial"/>
              </a:rPr>
              <a:t>floor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34</a:t>
            </a:r>
            <a:r>
              <a:rPr sz="800" b="0">
                <a:latin typeface="Arial"/>
              </a:rPr>
              <a:t>cells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0.348-0.763,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cell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between</a:t>
            </a:r>
            <a:r>
              <a:rPr sz="800" b="0">
                <a:latin typeface="Arial"/>
              </a:rPr>
              <a:t>-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floor</a:t>
            </a:r>
            <a:r>
              <a:rPr sz="800" b="0">
                <a:latin typeface="Arial"/>
              </a:rPr>
              <a:t>cells</a:t>
            </a:r>
            <a:r>
              <a:rPr sz="800" b="0">
                <a:latin typeface="Arial"/>
              </a:rPr>
              <a:t>separate</a:t>
            </a:r>
            <a:r>
              <a:rPr sz="800" b="0">
                <a:latin typeface="Arial"/>
              </a:rPr>
              <a:t>by</a:t>
            </a:r>
            <a:r>
              <a:rPr sz="800" b="0">
                <a:latin typeface="Arial"/>
              </a:rPr>
              <a:t>rate</a:t>
            </a:r>
            <a:r>
              <a:rPr sz="800" b="0">
                <a:latin typeface="Arial"/>
              </a:rPr>
              <a:t>just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cleanly,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boundaries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read</a:t>
            </a:r>
            <a:r>
              <a:rPr sz="800" b="0">
                <a:latin typeface="Arial"/>
              </a:rPr>
              <a:t>off</a:t>
            </a:r>
            <a:r>
              <a:rPr sz="800" b="0">
                <a:latin typeface="Arial"/>
              </a:rPr>
              <a:t>these</a:t>
            </a:r>
            <a:r>
              <a:rPr sz="800" b="0">
                <a:latin typeface="Arial"/>
              </a:rPr>
              <a:t>gaps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by</a:t>
            </a:r>
            <a:r>
              <a:rPr sz="800" b="0">
                <a:latin typeface="Arial"/>
              </a:rPr>
              <a:t>hand:</a:t>
            </a:r>
            <a:r>
              <a:rPr sz="800" b="0">
                <a:latin typeface="Arial"/>
              </a:rPr>
              <a:t>asynchronous</a:t>
            </a:r>
            <a:r>
              <a:rPr sz="800" b="0">
                <a:latin typeface="Arial"/>
              </a:rPr>
              <a:t>(up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3.42</a:t>
            </a:r>
            <a:r>
              <a:rPr sz="800" b="0">
                <a:latin typeface="Arial"/>
              </a:rPr>
              <a:t>Hz,</a:t>
            </a:r>
            <a:r>
              <a:rPr sz="800" b="0">
                <a:latin typeface="Arial"/>
              </a:rPr>
              <a:t>38</a:t>
            </a:r>
            <a:r>
              <a:rPr sz="800" b="0">
                <a:latin typeface="Arial"/>
              </a:rPr>
              <a:t>cells),</a:t>
            </a:r>
            <a:r>
              <a:rPr sz="800" b="0">
                <a:latin typeface="Arial"/>
              </a:rPr>
              <a:t>synchronised</a:t>
            </a:r>
            <a:r>
              <a:rPr sz="800" b="0">
                <a:latin typeface="Arial"/>
              </a:rPr>
              <a:t>(5.28-39.86</a:t>
            </a:r>
            <a:r>
              <a:rPr sz="800" b="0">
                <a:latin typeface="Arial"/>
              </a:rPr>
              <a:t>Hz,</a:t>
            </a:r>
            <a:r>
              <a:rPr sz="800" b="0">
                <a:latin typeface="Arial"/>
              </a:rPr>
              <a:t>34</a:t>
            </a:r>
            <a:r>
              <a:rPr sz="800" b="0">
                <a:latin typeface="Arial"/>
              </a:rPr>
              <a:t>cells)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excessive</a:t>
            </a:r>
            <a:r>
              <a:rPr sz="800" b="0">
                <a:latin typeface="Arial"/>
              </a:rPr>
              <a:t>firing</a:t>
            </a:r>
            <a:r>
              <a:rPr sz="800" b="0">
                <a:latin typeface="Arial"/>
              </a:rPr>
              <a:t>(from</a:t>
            </a:r>
            <a:r>
              <a:rPr sz="800" b="0">
                <a:latin typeface="Arial"/>
              </a:rPr>
              <a:t>69.67</a:t>
            </a:r>
            <a:r>
              <a:rPr sz="800" b="0">
                <a:latin typeface="Arial"/>
              </a:rPr>
              <a:t>Hz,</a:t>
            </a:r>
            <a:r>
              <a:rPr sz="800" b="0">
                <a:latin typeface="Arial"/>
              </a:rPr>
              <a:t>8</a:t>
            </a:r>
            <a:r>
              <a:rPr sz="800" b="0">
                <a:latin typeface="Arial"/>
              </a:rPr>
              <a:t>cells),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last</a:t>
            </a:r>
            <a:r>
              <a:rPr sz="800" b="0">
                <a:latin typeface="Arial"/>
              </a:rPr>
              <a:t>excluded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use.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open</a:t>
            </a:r>
            <a:r>
              <a:rPr sz="800" b="0">
                <a:latin typeface="Arial"/>
              </a:rPr>
              <a:t>circle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baseline</a:t>
            </a:r>
            <a:r>
              <a:rPr sz="800" b="0">
                <a:latin typeface="Arial"/>
              </a:rPr>
              <a:t>(g_AMPA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0.0008,</a:t>
            </a:r>
            <a:r>
              <a:rPr sz="800" b="0">
                <a:latin typeface="Arial"/>
              </a:rPr>
              <a:t>g_GABA-A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0.0015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cm-2;</a:t>
            </a:r>
            <a:r>
              <a:rPr sz="800" b="0">
                <a:latin typeface="Arial"/>
              </a:rPr>
              <a:t>1.54</a:t>
            </a:r>
            <a:r>
              <a:rPr sz="800" b="0">
                <a:latin typeface="Arial"/>
              </a:rPr>
              <a:t>Hz,</a:t>
            </a:r>
            <a:r>
              <a:rPr sz="800" b="0">
                <a:latin typeface="Arial"/>
              </a:rPr>
              <a:t>coherence</a:t>
            </a:r>
            <a:r>
              <a:rPr sz="800" b="0">
                <a:latin typeface="Arial"/>
              </a:rPr>
              <a:t>0.0636),</a:t>
            </a:r>
            <a:r>
              <a:rPr sz="800" b="0">
                <a:latin typeface="Arial"/>
              </a:rPr>
              <a:t>chosen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low-firing,</a:t>
            </a:r>
            <a:r>
              <a:rPr sz="800" b="0">
                <a:latin typeface="Arial"/>
              </a:rPr>
              <a:t>low-coherence</a:t>
            </a:r>
            <a:r>
              <a:rPr sz="800" b="0">
                <a:latin typeface="Arial"/>
              </a:rPr>
              <a:t>resting-like</a:t>
            </a:r>
            <a:r>
              <a:rPr sz="800" b="0">
                <a:latin typeface="Arial"/>
              </a:rPr>
              <a:t>regime;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arrows</a:t>
            </a:r>
            <a:r>
              <a:rPr sz="800" b="0">
                <a:latin typeface="Arial"/>
              </a:rPr>
              <a:t>trace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protocol</a:t>
            </a:r>
            <a:r>
              <a:rPr sz="800" b="0">
                <a:latin typeface="Arial"/>
              </a:rPr>
              <a:t>actually</a:t>
            </a:r>
            <a:r>
              <a:rPr sz="800" b="0">
                <a:latin typeface="Arial"/>
              </a:rPr>
              <a:t>used,</a:t>
            </a:r>
            <a:r>
              <a:rPr sz="800" b="0">
                <a:latin typeface="Arial"/>
              </a:rPr>
              <a:t>AMPA</a:t>
            </a:r>
            <a:r>
              <a:rPr sz="800" b="0">
                <a:latin typeface="Arial"/>
              </a:rPr>
              <a:t>raised</a:t>
            </a:r>
            <a:r>
              <a:rPr sz="800" b="0">
                <a:latin typeface="Arial"/>
              </a:rPr>
              <a:t>first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0.0044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</a:t>
            </a:r>
            <a:r>
              <a:rPr sz="800" b="0">
                <a:latin typeface="Arial"/>
              </a:rPr>
              <a:t>(gold</a:t>
            </a:r>
            <a:r>
              <a:rPr sz="800" b="0">
                <a:latin typeface="Arial"/>
              </a:rPr>
              <a:t>square)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GABA-A</a:t>
            </a:r>
            <a:r>
              <a:rPr sz="800" b="0">
                <a:latin typeface="Arial"/>
              </a:rPr>
              <a:t>then</a:t>
            </a:r>
            <a:r>
              <a:rPr sz="800" b="0">
                <a:latin typeface="Arial"/>
              </a:rPr>
              <a:t>raised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0.0040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top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it</a:t>
            </a:r>
            <a:r>
              <a:rPr sz="800" b="0">
                <a:latin typeface="Arial"/>
              </a:rPr>
              <a:t>(teal</a:t>
            </a:r>
            <a:r>
              <a:rPr sz="800" b="0">
                <a:latin typeface="Arial"/>
              </a:rPr>
              <a:t>square),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value</a:t>
            </a:r>
            <a:r>
              <a:rPr sz="800" b="0">
                <a:latin typeface="Arial"/>
              </a:rPr>
              <a:t>having</a:t>
            </a:r>
            <a:r>
              <a:rPr sz="800" b="0">
                <a:latin typeface="Arial"/>
              </a:rPr>
              <a:t>been</a:t>
            </a:r>
            <a:r>
              <a:rPr sz="800" b="0">
                <a:latin typeface="Arial"/>
              </a:rPr>
              <a:t>selected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producing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largest</a:t>
            </a:r>
            <a:r>
              <a:rPr sz="800" b="0">
                <a:latin typeface="Arial"/>
              </a:rPr>
              <a:t>increase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summed</a:t>
            </a:r>
            <a:r>
              <a:rPr sz="800" b="0">
                <a:latin typeface="Arial"/>
              </a:rPr>
              <a:t>NP</a:t>
            </a:r>
            <a:r>
              <a:rPr sz="800" b="0">
                <a:latin typeface="Arial"/>
              </a:rPr>
              <a:t>factor</a:t>
            </a:r>
            <a:r>
              <a:rPr sz="800" b="0">
                <a:latin typeface="Arial"/>
              </a:rPr>
              <a:t>over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calibrated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(Methods).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Coherence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217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along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AMPA</a:t>
            </a:r>
            <a:r>
              <a:rPr sz="800" b="0">
                <a:latin typeface="Arial"/>
              </a:rPr>
              <a:t>axis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baseline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level</a:t>
            </a:r>
            <a:r>
              <a:rPr sz="800" b="0">
                <a:latin typeface="Arial"/>
              </a:rPr>
              <a:t>(g_GABA-A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0.0015</a:t>
            </a:r>
            <a:r>
              <a:rPr sz="800" b="0">
                <a:latin typeface="Arial"/>
              </a:rPr>
              <a:t>S</a:t>
            </a:r>
            <a:r>
              <a:rPr sz="800" b="0">
                <a:latin typeface="Arial"/>
              </a:rPr>
              <a:t>cm-2),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line</a:t>
            </a:r>
            <a:r>
              <a:rPr sz="800" b="0">
                <a:latin typeface="Arial"/>
              </a:rPr>
              <a:t>along</a:t>
            </a:r>
            <a:r>
              <a:rPr sz="800" b="0">
                <a:latin typeface="Arial"/>
              </a:rPr>
              <a:t>which</a:t>
            </a:r>
            <a:r>
              <a:rPr sz="800" b="0">
                <a:latin typeface="Arial"/>
              </a:rPr>
              <a:t>AMPA</a:t>
            </a:r>
            <a:r>
              <a:rPr sz="800" b="0">
                <a:latin typeface="Arial"/>
              </a:rPr>
              <a:t>was</a:t>
            </a:r>
            <a:r>
              <a:rPr sz="800" b="0">
                <a:latin typeface="Arial"/>
              </a:rPr>
              <a:t>swept:</a:t>
            </a:r>
            <a:r>
              <a:rPr sz="800" b="0">
                <a:latin typeface="Arial"/>
              </a:rPr>
              <a:t>boxes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median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interquartile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across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whiskers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1.5x</a:t>
            </a:r>
            <a:r>
              <a:rPr sz="800" b="0">
                <a:latin typeface="Arial"/>
              </a:rPr>
              <a:t>IQR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plotted</a:t>
            </a:r>
            <a:r>
              <a:rPr sz="800" b="0">
                <a:latin typeface="Arial"/>
              </a:rPr>
              <a:t>(n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217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box;</a:t>
            </a:r>
            <a:r>
              <a:rPr sz="800" b="0">
                <a:latin typeface="Arial"/>
              </a:rPr>
              <a:t>unit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observation,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region).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move</a:t>
            </a:r>
            <a:r>
              <a:rPr sz="800" b="0">
                <a:latin typeface="Arial"/>
              </a:rPr>
              <a:t>into</a:t>
            </a:r>
            <a:r>
              <a:rPr sz="800" b="0">
                <a:latin typeface="Arial"/>
              </a:rPr>
              <a:t>synchrony</a:t>
            </a:r>
            <a:r>
              <a:rPr sz="800" b="0">
                <a:latin typeface="Arial"/>
              </a:rPr>
              <a:t>together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time,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spread</a:t>
            </a:r>
            <a:r>
              <a:rPr sz="800" b="0">
                <a:latin typeface="Arial"/>
              </a:rPr>
              <a:t>across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widens</a:t>
            </a:r>
            <a:r>
              <a:rPr sz="800" b="0">
                <a:latin typeface="Arial"/>
              </a:rPr>
              <a:t>once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network</a:t>
            </a:r>
            <a:r>
              <a:rPr sz="800" b="0">
                <a:latin typeface="Arial"/>
              </a:rPr>
              <a:t>synchronises</a:t>
            </a:r>
            <a:r>
              <a:rPr sz="800" b="0">
                <a:latin typeface="Arial"/>
              </a:rPr>
              <a:t>(median</a:t>
            </a:r>
            <a:r>
              <a:rPr sz="800" b="0">
                <a:latin typeface="Arial"/>
              </a:rPr>
              <a:t>interquartile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0.0028</a:t>
            </a:r>
            <a:r>
              <a:rPr sz="800" b="0">
                <a:latin typeface="Arial"/>
              </a:rPr>
              <a:t>below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transition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0.010</a:t>
            </a:r>
            <a:r>
              <a:rPr sz="800" b="0">
                <a:latin typeface="Arial"/>
              </a:rPr>
              <a:t>above</a:t>
            </a:r>
            <a:r>
              <a:rPr sz="800" b="0">
                <a:latin typeface="Arial"/>
              </a:rPr>
              <a:t>it);</a:t>
            </a:r>
            <a:r>
              <a:rPr sz="800" b="0">
                <a:latin typeface="Arial"/>
              </a:rPr>
              <a:t>gold</a:t>
            </a:r>
            <a:r>
              <a:rPr sz="800" b="0">
                <a:latin typeface="Arial"/>
              </a:rPr>
              <a:t>fill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synchronised</a:t>
            </a:r>
            <a:r>
              <a:rPr sz="800" b="0">
                <a:latin typeface="Arial"/>
              </a:rPr>
              <a:t>settings.</a:t>
            </a:r>
            <a:r>
              <a:rPr sz="800" b="0">
                <a:latin typeface="Arial"/>
              </a:rPr>
              <a:t>Descriptive;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