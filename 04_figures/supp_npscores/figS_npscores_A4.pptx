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igS_npscores_A4_bg.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1410041" y="845143"/>
            <a:ext cx="200025" cy="119186"/>
          </a:xfrm>
          <a:prstGeom prst="rect">
            <a:avLst/>
          </a:prstGeom>
          <a:noFill/>
        </p:spPr>
        <p:txBody>
          <a:bodyPr wrap="none" anchor="ctr" lIns="0" rIns="0" tIns="0" bIns="0">
            <a:noAutofit/>
          </a:bodyPr>
          <a:lstStyle/>
          <a:p>
            <a:pPr algn="ctr"/>
            <a:r>
              <a:rPr sz="800" b="0" i="0">
                <a:solidFill>
                  <a:srgbClr val="595959"/>
                </a:solidFill>
                <a:latin typeface="Arial"/>
              </a:rPr>
              <a:t>n.s.</a:t>
            </a:r>
          </a:p>
        </p:txBody>
      </p:sp>
      <p:sp>
        <p:nvSpPr>
          <p:cNvPr id="4" name="TextBox 3"/>
          <p:cNvSpPr txBox="1"/>
          <p:nvPr/>
        </p:nvSpPr>
        <p:spPr>
          <a:xfrm>
            <a:off x="2629470" y="845143"/>
            <a:ext cx="200025" cy="119186"/>
          </a:xfrm>
          <a:prstGeom prst="rect">
            <a:avLst/>
          </a:prstGeom>
          <a:noFill/>
        </p:spPr>
        <p:txBody>
          <a:bodyPr wrap="none" anchor="ctr" lIns="0" rIns="0" tIns="0" bIns="0">
            <a:noAutofit/>
          </a:bodyPr>
          <a:lstStyle/>
          <a:p>
            <a:pPr algn="ctr"/>
            <a:r>
              <a:rPr sz="800" b="0" i="0">
                <a:solidFill>
                  <a:srgbClr val="595959"/>
                </a:solidFill>
                <a:latin typeface="Arial"/>
              </a:rPr>
              <a:t>n.s.</a:t>
            </a:r>
          </a:p>
        </p:txBody>
      </p:sp>
      <p:sp>
        <p:nvSpPr>
          <p:cNvPr id="5" name="TextBox 4"/>
          <p:cNvSpPr txBox="1"/>
          <p:nvPr/>
        </p:nvSpPr>
        <p:spPr>
          <a:xfrm>
            <a:off x="3848899" y="845143"/>
            <a:ext cx="200025" cy="119186"/>
          </a:xfrm>
          <a:prstGeom prst="rect">
            <a:avLst/>
          </a:prstGeom>
          <a:noFill/>
        </p:spPr>
        <p:txBody>
          <a:bodyPr wrap="none" anchor="ctr" lIns="0" rIns="0" tIns="0" bIns="0">
            <a:noAutofit/>
          </a:bodyPr>
          <a:lstStyle/>
          <a:p>
            <a:pPr algn="ctr"/>
            <a:r>
              <a:rPr sz="800" b="0" i="0">
                <a:solidFill>
                  <a:srgbClr val="595959"/>
                </a:solidFill>
                <a:latin typeface="Arial"/>
              </a:rPr>
              <a:t>n.s.</a:t>
            </a:r>
          </a:p>
        </p:txBody>
      </p:sp>
      <p:sp>
        <p:nvSpPr>
          <p:cNvPr id="6" name="TextBox 5"/>
          <p:cNvSpPr txBox="1"/>
          <p:nvPr/>
        </p:nvSpPr>
        <p:spPr>
          <a:xfrm>
            <a:off x="1062854" y="2533035"/>
            <a:ext cx="894397" cy="276448"/>
          </a:xfrm>
          <a:prstGeom prst="rect">
            <a:avLst/>
          </a:prstGeom>
          <a:noFill/>
        </p:spPr>
        <p:txBody>
          <a:bodyPr wrap="none" anchor="ctr" lIns="0" rIns="0" tIns="0" bIns="0">
            <a:noAutofit/>
          </a:bodyPr>
          <a:lstStyle/>
          <a:p>
            <a:pPr algn="ctr"/>
            <a:r>
              <a:rPr sz="800" b="0" i="0">
                <a:solidFill>
                  <a:srgbClr val="7F7F7F"/>
                </a:solidFill>
                <a:latin typeface="Arial"/>
              </a:rPr>
              <a:t>Healthy controls
n = 69</a:t>
            </a:r>
          </a:p>
        </p:txBody>
      </p:sp>
      <p:sp>
        <p:nvSpPr>
          <p:cNvPr id="7" name="TextBox 6"/>
          <p:cNvSpPr txBox="1"/>
          <p:nvPr/>
        </p:nvSpPr>
        <p:spPr>
          <a:xfrm>
            <a:off x="2325146" y="2533035"/>
            <a:ext cx="808672" cy="276448"/>
          </a:xfrm>
          <a:prstGeom prst="rect">
            <a:avLst/>
          </a:prstGeom>
          <a:noFill/>
        </p:spPr>
        <p:txBody>
          <a:bodyPr wrap="none" anchor="ctr" lIns="0" rIns="0" tIns="0" bIns="0">
            <a:noAutofit/>
          </a:bodyPr>
          <a:lstStyle/>
          <a:p>
            <a:pPr algn="ctr"/>
            <a:r>
              <a:rPr sz="800" b="0" i="0">
                <a:solidFill>
                  <a:srgbClr val="E69F00"/>
                </a:solidFill>
                <a:latin typeface="Arial"/>
              </a:rPr>
              <a:t>High-symptom
n = 89</a:t>
            </a:r>
          </a:p>
        </p:txBody>
      </p:sp>
      <p:sp>
        <p:nvSpPr>
          <p:cNvPr id="8" name="TextBox 7"/>
          <p:cNvSpPr txBox="1"/>
          <p:nvPr/>
        </p:nvSpPr>
        <p:spPr>
          <a:xfrm>
            <a:off x="3724598" y="2533035"/>
            <a:ext cx="448627" cy="276448"/>
          </a:xfrm>
          <a:prstGeom prst="rect">
            <a:avLst/>
          </a:prstGeom>
          <a:noFill/>
        </p:spPr>
        <p:txBody>
          <a:bodyPr wrap="none" anchor="ctr" lIns="0" rIns="0" tIns="0" bIns="0">
            <a:noAutofit/>
          </a:bodyPr>
          <a:lstStyle/>
          <a:p>
            <a:pPr algn="ctr"/>
            <a:r>
              <a:rPr sz="800" b="0" i="0">
                <a:solidFill>
                  <a:srgbClr val="D55E00"/>
                </a:solidFill>
                <a:latin typeface="Arial"/>
              </a:rPr>
              <a:t>Patients
n = 130</a:t>
            </a:r>
          </a:p>
        </p:txBody>
      </p:sp>
      <p:sp>
        <p:nvSpPr>
          <p:cNvPr id="9" name="TextBox 8"/>
          <p:cNvSpPr txBox="1"/>
          <p:nvPr/>
        </p:nvSpPr>
        <p:spPr>
          <a:xfrm>
            <a:off x="1148684" y="2361931"/>
            <a:ext cx="277177" cy="119186"/>
          </a:xfrm>
          <a:prstGeom prst="rect">
            <a:avLst/>
          </a:prstGeom>
          <a:noFill/>
        </p:spPr>
        <p:txBody>
          <a:bodyPr wrap="none" anchor="ctr" lIns="0" rIns="0" tIns="0" bIns="0">
            <a:noAutofit/>
          </a:bodyPr>
          <a:lstStyle/>
          <a:p>
            <a:pPr algn="ctr"/>
            <a:r>
              <a:rPr sz="800" b="0" i="0">
                <a:solidFill>
                  <a:srgbClr val="000000"/>
                </a:solidFill>
                <a:latin typeface="Arial"/>
              </a:rPr>
              <a:t>emp.</a:t>
            </a:r>
          </a:p>
        </p:txBody>
      </p:sp>
      <p:sp>
        <p:nvSpPr>
          <p:cNvPr id="10" name="TextBox 9"/>
          <p:cNvSpPr txBox="1"/>
          <p:nvPr/>
        </p:nvSpPr>
        <p:spPr>
          <a:xfrm>
            <a:off x="1617105" y="2361931"/>
            <a:ext cx="231457" cy="119186"/>
          </a:xfrm>
          <a:prstGeom prst="rect">
            <a:avLst/>
          </a:prstGeom>
          <a:noFill/>
        </p:spPr>
        <p:txBody>
          <a:bodyPr wrap="none" anchor="ctr" lIns="0" rIns="0" tIns="0" bIns="0">
            <a:noAutofit/>
          </a:bodyPr>
          <a:lstStyle/>
          <a:p>
            <a:pPr algn="ctr"/>
            <a:r>
              <a:rPr sz="800" b="0" i="0">
                <a:solidFill>
                  <a:srgbClr val="000000"/>
                </a:solidFill>
                <a:latin typeface="Arial"/>
              </a:rPr>
              <a:t>sim.</a:t>
            </a:r>
          </a:p>
        </p:txBody>
      </p:sp>
      <p:sp>
        <p:nvSpPr>
          <p:cNvPr id="11" name="TextBox 10"/>
          <p:cNvSpPr txBox="1"/>
          <p:nvPr/>
        </p:nvSpPr>
        <p:spPr>
          <a:xfrm>
            <a:off x="2368113" y="2361931"/>
            <a:ext cx="277177" cy="119186"/>
          </a:xfrm>
          <a:prstGeom prst="rect">
            <a:avLst/>
          </a:prstGeom>
          <a:noFill/>
        </p:spPr>
        <p:txBody>
          <a:bodyPr wrap="none" anchor="ctr" lIns="0" rIns="0" tIns="0" bIns="0">
            <a:noAutofit/>
          </a:bodyPr>
          <a:lstStyle/>
          <a:p>
            <a:pPr algn="ctr"/>
            <a:r>
              <a:rPr sz="800" b="0" i="0">
                <a:solidFill>
                  <a:srgbClr val="000000"/>
                </a:solidFill>
                <a:latin typeface="Arial"/>
              </a:rPr>
              <a:t>emp.</a:t>
            </a:r>
          </a:p>
        </p:txBody>
      </p:sp>
      <p:sp>
        <p:nvSpPr>
          <p:cNvPr id="12" name="TextBox 11"/>
          <p:cNvSpPr txBox="1"/>
          <p:nvPr/>
        </p:nvSpPr>
        <p:spPr>
          <a:xfrm>
            <a:off x="2836534" y="2361931"/>
            <a:ext cx="231457" cy="119186"/>
          </a:xfrm>
          <a:prstGeom prst="rect">
            <a:avLst/>
          </a:prstGeom>
          <a:noFill/>
        </p:spPr>
        <p:txBody>
          <a:bodyPr wrap="none" anchor="ctr" lIns="0" rIns="0" tIns="0" bIns="0">
            <a:noAutofit/>
          </a:bodyPr>
          <a:lstStyle/>
          <a:p>
            <a:pPr algn="ctr"/>
            <a:r>
              <a:rPr sz="800" b="0" i="0">
                <a:solidFill>
                  <a:srgbClr val="000000"/>
                </a:solidFill>
                <a:latin typeface="Arial"/>
              </a:rPr>
              <a:t>sim.</a:t>
            </a:r>
          </a:p>
        </p:txBody>
      </p:sp>
      <p:sp>
        <p:nvSpPr>
          <p:cNvPr id="13" name="TextBox 12"/>
          <p:cNvSpPr txBox="1"/>
          <p:nvPr/>
        </p:nvSpPr>
        <p:spPr>
          <a:xfrm>
            <a:off x="3587542" y="2361931"/>
            <a:ext cx="277177" cy="119186"/>
          </a:xfrm>
          <a:prstGeom prst="rect">
            <a:avLst/>
          </a:prstGeom>
          <a:noFill/>
        </p:spPr>
        <p:txBody>
          <a:bodyPr wrap="none" anchor="ctr" lIns="0" rIns="0" tIns="0" bIns="0">
            <a:noAutofit/>
          </a:bodyPr>
          <a:lstStyle/>
          <a:p>
            <a:pPr algn="ctr"/>
            <a:r>
              <a:rPr sz="800" b="0" i="0">
                <a:solidFill>
                  <a:srgbClr val="000000"/>
                </a:solidFill>
                <a:latin typeface="Arial"/>
              </a:rPr>
              <a:t>emp.</a:t>
            </a:r>
          </a:p>
        </p:txBody>
      </p:sp>
      <p:sp>
        <p:nvSpPr>
          <p:cNvPr id="14" name="TextBox 13"/>
          <p:cNvSpPr txBox="1"/>
          <p:nvPr/>
        </p:nvSpPr>
        <p:spPr>
          <a:xfrm>
            <a:off x="4055963" y="2361931"/>
            <a:ext cx="231457" cy="119186"/>
          </a:xfrm>
          <a:prstGeom prst="rect">
            <a:avLst/>
          </a:prstGeom>
          <a:noFill/>
        </p:spPr>
        <p:txBody>
          <a:bodyPr wrap="none" anchor="ctr" lIns="0" rIns="0" tIns="0" bIns="0">
            <a:noAutofit/>
          </a:bodyPr>
          <a:lstStyle/>
          <a:p>
            <a:pPr algn="ctr"/>
            <a:r>
              <a:rPr sz="800" b="0" i="0">
                <a:solidFill>
                  <a:srgbClr val="000000"/>
                </a:solidFill>
                <a:latin typeface="Arial"/>
              </a:rPr>
              <a:t>sim.</a:t>
            </a:r>
          </a:p>
        </p:txBody>
      </p:sp>
      <p:sp>
        <p:nvSpPr>
          <p:cNvPr id="15" name="TextBox 14"/>
          <p:cNvSpPr txBox="1"/>
          <p:nvPr/>
        </p:nvSpPr>
        <p:spPr>
          <a:xfrm rot="16200000">
            <a:off x="-94021" y="1401508"/>
            <a:ext cx="1668780" cy="148983"/>
          </a:xfrm>
          <a:prstGeom prst="rect">
            <a:avLst/>
          </a:prstGeom>
          <a:noFill/>
        </p:spPr>
        <p:txBody>
          <a:bodyPr wrap="none" anchor="ctr" lIns="0" rIns="0" tIns="0" bIns="0">
            <a:noAutofit/>
          </a:bodyPr>
          <a:lstStyle/>
          <a:p>
            <a:pPr algn="ctr"/>
            <a:r>
              <a:rPr sz="1000" b="0" i="0">
                <a:solidFill>
                  <a:srgbClr val="000000"/>
                </a:solidFill>
                <a:latin typeface="Arial"/>
              </a:rPr>
              <a:t>NP factor (residualised)</a:t>
            </a:r>
          </a:p>
        </p:txBody>
      </p:sp>
      <p:sp>
        <p:nvSpPr>
          <p:cNvPr id="16" name="TextBox 15"/>
          <p:cNvSpPr txBox="1"/>
          <p:nvPr/>
        </p:nvSpPr>
        <p:spPr>
          <a:xfrm>
            <a:off x="814217" y="2437661"/>
            <a:ext cx="111442"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17" name="TextBox 16"/>
          <p:cNvSpPr txBox="1"/>
          <p:nvPr/>
        </p:nvSpPr>
        <p:spPr>
          <a:xfrm>
            <a:off x="814217" y="2217367"/>
            <a:ext cx="111442" cy="119186"/>
          </a:xfrm>
          <a:prstGeom prst="rect">
            <a:avLst/>
          </a:prstGeom>
          <a:noFill/>
        </p:spPr>
        <p:txBody>
          <a:bodyPr wrap="none" anchor="ctr" lIns="0" rIns="0" tIns="0" bIns="0">
            <a:noAutofit/>
          </a:bodyPr>
          <a:lstStyle/>
          <a:p>
            <a:pPr algn="r"/>
            <a:r>
              <a:rPr sz="800" b="0" i="0">
                <a:solidFill>
                  <a:srgbClr val="000000"/>
                </a:solidFill>
                <a:latin typeface="Arial"/>
              </a:rPr>
              <a:t>-3</a:t>
            </a:r>
          </a:p>
        </p:txBody>
      </p:sp>
      <p:sp>
        <p:nvSpPr>
          <p:cNvPr id="18" name="TextBox 17"/>
          <p:cNvSpPr txBox="1"/>
          <p:nvPr/>
        </p:nvSpPr>
        <p:spPr>
          <a:xfrm>
            <a:off x="814217" y="1997072"/>
            <a:ext cx="111442"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19" name="TextBox 18"/>
          <p:cNvSpPr txBox="1"/>
          <p:nvPr/>
        </p:nvSpPr>
        <p:spPr>
          <a:xfrm>
            <a:off x="814217" y="1776778"/>
            <a:ext cx="111442" cy="119186"/>
          </a:xfrm>
          <a:prstGeom prst="rect">
            <a:avLst/>
          </a:prstGeom>
          <a:noFill/>
        </p:spPr>
        <p:txBody>
          <a:bodyPr wrap="none" anchor="ctr" lIns="0" rIns="0" tIns="0" bIns="0">
            <a:noAutofit/>
          </a:bodyPr>
          <a:lstStyle/>
          <a:p>
            <a:pPr algn="r"/>
            <a:r>
              <a:rPr sz="800" b="0" i="0">
                <a:solidFill>
                  <a:srgbClr val="000000"/>
                </a:solidFill>
                <a:latin typeface="Arial"/>
              </a:rPr>
              <a:t>-1</a:t>
            </a:r>
          </a:p>
        </p:txBody>
      </p:sp>
      <p:sp>
        <p:nvSpPr>
          <p:cNvPr id="20" name="TextBox 19"/>
          <p:cNvSpPr txBox="1"/>
          <p:nvPr/>
        </p:nvSpPr>
        <p:spPr>
          <a:xfrm>
            <a:off x="852793" y="1556483"/>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21" name="TextBox 20"/>
          <p:cNvSpPr txBox="1"/>
          <p:nvPr/>
        </p:nvSpPr>
        <p:spPr>
          <a:xfrm>
            <a:off x="852793" y="1336189"/>
            <a:ext cx="68580" cy="119186"/>
          </a:xfrm>
          <a:prstGeom prst="rect">
            <a:avLst/>
          </a:prstGeom>
          <a:noFill/>
        </p:spPr>
        <p:txBody>
          <a:bodyPr wrap="none" anchor="ctr" lIns="0" rIns="0" tIns="0" bIns="0">
            <a:noAutofit/>
          </a:bodyPr>
          <a:lstStyle/>
          <a:p>
            <a:pPr algn="r"/>
            <a:r>
              <a:rPr sz="800" b="0" i="0">
                <a:solidFill>
                  <a:srgbClr val="000000"/>
                </a:solidFill>
                <a:latin typeface="Arial"/>
              </a:rPr>
              <a:t>1</a:t>
            </a:r>
          </a:p>
        </p:txBody>
      </p:sp>
      <p:sp>
        <p:nvSpPr>
          <p:cNvPr id="22" name="TextBox 21"/>
          <p:cNvSpPr txBox="1"/>
          <p:nvPr/>
        </p:nvSpPr>
        <p:spPr>
          <a:xfrm>
            <a:off x="852793" y="1115894"/>
            <a:ext cx="68580"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23" name="TextBox 22"/>
          <p:cNvSpPr txBox="1"/>
          <p:nvPr/>
        </p:nvSpPr>
        <p:spPr>
          <a:xfrm>
            <a:off x="852793" y="895600"/>
            <a:ext cx="68580" cy="119186"/>
          </a:xfrm>
          <a:prstGeom prst="rect">
            <a:avLst/>
          </a:prstGeom>
          <a:noFill/>
        </p:spPr>
        <p:txBody>
          <a:bodyPr wrap="none" anchor="ctr" lIns="0" rIns="0" tIns="0" bIns="0">
            <a:noAutofit/>
          </a:bodyPr>
          <a:lstStyle/>
          <a:p>
            <a:pPr algn="r"/>
            <a:r>
              <a:rPr sz="800" b="0" i="0">
                <a:solidFill>
                  <a:srgbClr val="000000"/>
                </a:solidFill>
                <a:latin typeface="Arial"/>
              </a:rPr>
              <a:t>3</a:t>
            </a:r>
          </a:p>
        </p:txBody>
      </p:sp>
      <p:sp>
        <p:nvSpPr>
          <p:cNvPr id="24" name="TextBox 23"/>
          <p:cNvSpPr txBox="1"/>
          <p:nvPr/>
        </p:nvSpPr>
        <p:spPr>
          <a:xfrm>
            <a:off x="852793" y="675305"/>
            <a:ext cx="68580"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25" name="TextBox 24"/>
          <p:cNvSpPr txBox="1"/>
          <p:nvPr/>
        </p:nvSpPr>
        <p:spPr>
          <a:xfrm>
            <a:off x="852793" y="455011"/>
            <a:ext cx="68580" cy="119186"/>
          </a:xfrm>
          <a:prstGeom prst="rect">
            <a:avLst/>
          </a:prstGeom>
          <a:noFill/>
        </p:spPr>
        <p:txBody>
          <a:bodyPr wrap="none" anchor="ctr" lIns="0" rIns="0" tIns="0" bIns="0">
            <a:noAutofit/>
          </a:bodyPr>
          <a:lstStyle/>
          <a:p>
            <a:pPr algn="r"/>
            <a:r>
              <a:rPr sz="800" b="0" i="0">
                <a:solidFill>
                  <a:srgbClr val="000000"/>
                </a:solidFill>
                <a:latin typeface="Arial"/>
              </a:rPr>
              <a:t>5</a:t>
            </a:r>
          </a:p>
        </p:txBody>
      </p:sp>
      <p:sp>
        <p:nvSpPr>
          <p:cNvPr id="26" name="TextBox 25"/>
          <p:cNvSpPr txBox="1"/>
          <p:nvPr/>
        </p:nvSpPr>
        <p:spPr>
          <a:xfrm>
            <a:off x="1299753" y="3357823"/>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27" name="TextBox 26"/>
          <p:cNvSpPr txBox="1"/>
          <p:nvPr/>
        </p:nvSpPr>
        <p:spPr>
          <a:xfrm>
            <a:off x="2234044" y="3357823"/>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28" name="TextBox 27"/>
          <p:cNvSpPr txBox="1"/>
          <p:nvPr/>
        </p:nvSpPr>
        <p:spPr>
          <a:xfrm>
            <a:off x="3168334" y="3357823"/>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29" name="TextBox 28"/>
          <p:cNvSpPr txBox="1"/>
          <p:nvPr/>
        </p:nvSpPr>
        <p:spPr>
          <a:xfrm>
            <a:off x="933993" y="5053035"/>
            <a:ext cx="894397" cy="276448"/>
          </a:xfrm>
          <a:prstGeom prst="rect">
            <a:avLst/>
          </a:prstGeom>
          <a:noFill/>
        </p:spPr>
        <p:txBody>
          <a:bodyPr wrap="none" anchor="ctr" lIns="0" rIns="0" tIns="0" bIns="0">
            <a:noAutofit/>
          </a:bodyPr>
          <a:lstStyle/>
          <a:p>
            <a:pPr algn="ctr"/>
            <a:r>
              <a:rPr sz="800" b="0" i="0">
                <a:solidFill>
                  <a:srgbClr val="7F7F7F"/>
                </a:solidFill>
                <a:latin typeface="Arial"/>
              </a:rPr>
              <a:t>Healthy controls
n = 69</a:t>
            </a:r>
          </a:p>
        </p:txBody>
      </p:sp>
      <p:sp>
        <p:nvSpPr>
          <p:cNvPr id="30" name="TextBox 29"/>
          <p:cNvSpPr txBox="1"/>
          <p:nvPr/>
        </p:nvSpPr>
        <p:spPr>
          <a:xfrm>
            <a:off x="1911146" y="5053035"/>
            <a:ext cx="808672" cy="276448"/>
          </a:xfrm>
          <a:prstGeom prst="rect">
            <a:avLst/>
          </a:prstGeom>
          <a:noFill/>
        </p:spPr>
        <p:txBody>
          <a:bodyPr wrap="none" anchor="ctr" lIns="0" rIns="0" tIns="0" bIns="0">
            <a:noAutofit/>
          </a:bodyPr>
          <a:lstStyle/>
          <a:p>
            <a:pPr algn="ctr"/>
            <a:r>
              <a:rPr sz="800" b="0" i="0">
                <a:solidFill>
                  <a:srgbClr val="E69F00"/>
                </a:solidFill>
                <a:latin typeface="Arial"/>
              </a:rPr>
              <a:t>High-symptom
n = 89</a:t>
            </a:r>
          </a:p>
        </p:txBody>
      </p:sp>
      <p:sp>
        <p:nvSpPr>
          <p:cNvPr id="31" name="TextBox 30"/>
          <p:cNvSpPr txBox="1"/>
          <p:nvPr/>
        </p:nvSpPr>
        <p:spPr>
          <a:xfrm>
            <a:off x="3025459" y="5053035"/>
            <a:ext cx="448627" cy="276448"/>
          </a:xfrm>
          <a:prstGeom prst="rect">
            <a:avLst/>
          </a:prstGeom>
          <a:noFill/>
        </p:spPr>
        <p:txBody>
          <a:bodyPr wrap="none" anchor="ctr" lIns="0" rIns="0" tIns="0" bIns="0">
            <a:noAutofit/>
          </a:bodyPr>
          <a:lstStyle/>
          <a:p>
            <a:pPr algn="ctr"/>
            <a:r>
              <a:rPr sz="800" b="0" i="0">
                <a:solidFill>
                  <a:srgbClr val="D55E00"/>
                </a:solidFill>
                <a:latin typeface="Arial"/>
              </a:rPr>
              <a:t>Patients
n = 130</a:t>
            </a:r>
          </a:p>
        </p:txBody>
      </p:sp>
      <p:sp>
        <p:nvSpPr>
          <p:cNvPr id="32" name="TextBox 31"/>
          <p:cNvSpPr txBox="1"/>
          <p:nvPr/>
        </p:nvSpPr>
        <p:spPr>
          <a:xfrm>
            <a:off x="1076202" y="4881931"/>
            <a:ext cx="268605" cy="119186"/>
          </a:xfrm>
          <a:prstGeom prst="rect">
            <a:avLst/>
          </a:prstGeom>
          <a:noFill/>
        </p:spPr>
        <p:txBody>
          <a:bodyPr wrap="none" anchor="ctr" lIns="0" rIns="0" tIns="0" bIns="0">
            <a:noAutofit/>
          </a:bodyPr>
          <a:lstStyle/>
          <a:p>
            <a:pPr algn="ctr"/>
            <a:r>
              <a:rPr sz="800" b="0" i="0">
                <a:solidFill>
                  <a:srgbClr val="000000"/>
                </a:solidFill>
                <a:latin typeface="Arial"/>
              </a:rPr>
              <a:t>base</a:t>
            </a:r>
          </a:p>
        </p:txBody>
      </p:sp>
      <p:sp>
        <p:nvSpPr>
          <p:cNvPr id="33" name="TextBox 32"/>
          <p:cNvSpPr txBox="1"/>
          <p:nvPr/>
        </p:nvSpPr>
        <p:spPr>
          <a:xfrm>
            <a:off x="1379425" y="4881931"/>
            <a:ext cx="344909" cy="119186"/>
          </a:xfrm>
          <a:prstGeom prst="rect">
            <a:avLst/>
          </a:prstGeom>
          <a:noFill/>
        </p:spPr>
        <p:txBody>
          <a:bodyPr wrap="none" anchor="ctr" lIns="0" rIns="0" tIns="0" bIns="0">
            <a:noAutofit/>
          </a:bodyPr>
          <a:lstStyle/>
          <a:p>
            <a:pPr algn="ctr"/>
            <a:r>
              <a:rPr sz="800" b="0" i="0">
                <a:solidFill>
                  <a:srgbClr val="000000"/>
                </a:solidFill>
                <a:latin typeface="Arial"/>
              </a:rPr>
              <a:t>AMPA</a:t>
            </a:r>
          </a:p>
        </p:txBody>
      </p:sp>
      <p:sp>
        <p:nvSpPr>
          <p:cNvPr id="34" name="TextBox 33"/>
          <p:cNvSpPr txBox="1"/>
          <p:nvPr/>
        </p:nvSpPr>
        <p:spPr>
          <a:xfrm>
            <a:off x="2010492" y="4881931"/>
            <a:ext cx="268605" cy="119186"/>
          </a:xfrm>
          <a:prstGeom prst="rect">
            <a:avLst/>
          </a:prstGeom>
          <a:noFill/>
        </p:spPr>
        <p:txBody>
          <a:bodyPr wrap="none" anchor="ctr" lIns="0" rIns="0" tIns="0" bIns="0">
            <a:noAutofit/>
          </a:bodyPr>
          <a:lstStyle/>
          <a:p>
            <a:pPr algn="ctr"/>
            <a:r>
              <a:rPr sz="800" b="0" i="0">
                <a:solidFill>
                  <a:srgbClr val="000000"/>
                </a:solidFill>
                <a:latin typeface="Arial"/>
              </a:rPr>
              <a:t>base</a:t>
            </a:r>
          </a:p>
        </p:txBody>
      </p:sp>
      <p:sp>
        <p:nvSpPr>
          <p:cNvPr id="35" name="TextBox 34"/>
          <p:cNvSpPr txBox="1"/>
          <p:nvPr/>
        </p:nvSpPr>
        <p:spPr>
          <a:xfrm>
            <a:off x="2313715" y="4881931"/>
            <a:ext cx="344909" cy="119186"/>
          </a:xfrm>
          <a:prstGeom prst="rect">
            <a:avLst/>
          </a:prstGeom>
          <a:noFill/>
        </p:spPr>
        <p:txBody>
          <a:bodyPr wrap="none" anchor="ctr" lIns="0" rIns="0" tIns="0" bIns="0">
            <a:noAutofit/>
          </a:bodyPr>
          <a:lstStyle/>
          <a:p>
            <a:pPr algn="ctr"/>
            <a:r>
              <a:rPr sz="800" b="0" i="0">
                <a:solidFill>
                  <a:srgbClr val="000000"/>
                </a:solidFill>
                <a:latin typeface="Arial"/>
              </a:rPr>
              <a:t>AMPA</a:t>
            </a:r>
          </a:p>
        </p:txBody>
      </p:sp>
      <p:sp>
        <p:nvSpPr>
          <p:cNvPr id="36" name="TextBox 35"/>
          <p:cNvSpPr txBox="1"/>
          <p:nvPr/>
        </p:nvSpPr>
        <p:spPr>
          <a:xfrm>
            <a:off x="2944782" y="4881931"/>
            <a:ext cx="268605" cy="119186"/>
          </a:xfrm>
          <a:prstGeom prst="rect">
            <a:avLst/>
          </a:prstGeom>
          <a:noFill/>
        </p:spPr>
        <p:txBody>
          <a:bodyPr wrap="none" anchor="ctr" lIns="0" rIns="0" tIns="0" bIns="0">
            <a:noAutofit/>
          </a:bodyPr>
          <a:lstStyle/>
          <a:p>
            <a:pPr algn="ctr"/>
            <a:r>
              <a:rPr sz="800" b="0" i="0">
                <a:solidFill>
                  <a:srgbClr val="000000"/>
                </a:solidFill>
                <a:latin typeface="Arial"/>
              </a:rPr>
              <a:t>base</a:t>
            </a:r>
          </a:p>
        </p:txBody>
      </p:sp>
      <p:sp>
        <p:nvSpPr>
          <p:cNvPr id="37" name="TextBox 36"/>
          <p:cNvSpPr txBox="1"/>
          <p:nvPr/>
        </p:nvSpPr>
        <p:spPr>
          <a:xfrm>
            <a:off x="3248005" y="4881931"/>
            <a:ext cx="344909" cy="119186"/>
          </a:xfrm>
          <a:prstGeom prst="rect">
            <a:avLst/>
          </a:prstGeom>
          <a:noFill/>
        </p:spPr>
        <p:txBody>
          <a:bodyPr wrap="none" anchor="ctr" lIns="0" rIns="0" tIns="0" bIns="0">
            <a:noAutofit/>
          </a:bodyPr>
          <a:lstStyle/>
          <a:p>
            <a:pPr algn="ctr"/>
            <a:r>
              <a:rPr sz="800" b="0" i="0">
                <a:solidFill>
                  <a:srgbClr val="000000"/>
                </a:solidFill>
                <a:latin typeface="Arial"/>
              </a:rPr>
              <a:t>AMPA</a:t>
            </a:r>
          </a:p>
        </p:txBody>
      </p:sp>
      <p:sp>
        <p:nvSpPr>
          <p:cNvPr id="38" name="TextBox 37"/>
          <p:cNvSpPr txBox="1"/>
          <p:nvPr/>
        </p:nvSpPr>
        <p:spPr>
          <a:xfrm rot="16200000">
            <a:off x="-11154" y="3921508"/>
            <a:ext cx="1503045" cy="148983"/>
          </a:xfrm>
          <a:prstGeom prst="rect">
            <a:avLst/>
          </a:prstGeom>
          <a:noFill/>
        </p:spPr>
        <p:txBody>
          <a:bodyPr wrap="none" anchor="ctr" lIns="0" rIns="0" tIns="0" bIns="0">
            <a:noAutofit/>
          </a:bodyPr>
          <a:lstStyle/>
          <a:p>
            <a:pPr algn="ctr"/>
            <a:r>
              <a:rPr sz="1000" b="0" i="0">
                <a:solidFill>
                  <a:srgbClr val="000000"/>
                </a:solidFill>
                <a:latin typeface="Arial"/>
              </a:rPr>
              <a:t>NP factor (simulated)</a:t>
            </a:r>
          </a:p>
        </p:txBody>
      </p:sp>
      <p:sp>
        <p:nvSpPr>
          <p:cNvPr id="39" name="TextBox 38"/>
          <p:cNvSpPr txBox="1"/>
          <p:nvPr/>
        </p:nvSpPr>
        <p:spPr>
          <a:xfrm>
            <a:off x="814217" y="4913208"/>
            <a:ext cx="111442"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40" name="TextBox 39"/>
          <p:cNvSpPr txBox="1"/>
          <p:nvPr/>
        </p:nvSpPr>
        <p:spPr>
          <a:xfrm>
            <a:off x="814217" y="4687784"/>
            <a:ext cx="111442" cy="119186"/>
          </a:xfrm>
          <a:prstGeom prst="rect">
            <a:avLst/>
          </a:prstGeom>
          <a:noFill/>
        </p:spPr>
        <p:txBody>
          <a:bodyPr wrap="none" anchor="ctr" lIns="0" rIns="0" tIns="0" bIns="0">
            <a:noAutofit/>
          </a:bodyPr>
          <a:lstStyle/>
          <a:p>
            <a:pPr algn="r"/>
            <a:r>
              <a:rPr sz="800" b="0" i="0">
                <a:solidFill>
                  <a:srgbClr val="000000"/>
                </a:solidFill>
                <a:latin typeface="Arial"/>
              </a:rPr>
              <a:t>-3</a:t>
            </a:r>
          </a:p>
        </p:txBody>
      </p:sp>
      <p:sp>
        <p:nvSpPr>
          <p:cNvPr id="41" name="TextBox 40"/>
          <p:cNvSpPr txBox="1"/>
          <p:nvPr/>
        </p:nvSpPr>
        <p:spPr>
          <a:xfrm>
            <a:off x="814217" y="4462360"/>
            <a:ext cx="111442"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42" name="TextBox 41"/>
          <p:cNvSpPr txBox="1"/>
          <p:nvPr/>
        </p:nvSpPr>
        <p:spPr>
          <a:xfrm>
            <a:off x="814217" y="4236936"/>
            <a:ext cx="111442" cy="119186"/>
          </a:xfrm>
          <a:prstGeom prst="rect">
            <a:avLst/>
          </a:prstGeom>
          <a:noFill/>
        </p:spPr>
        <p:txBody>
          <a:bodyPr wrap="none" anchor="ctr" lIns="0" rIns="0" tIns="0" bIns="0">
            <a:noAutofit/>
          </a:bodyPr>
          <a:lstStyle/>
          <a:p>
            <a:pPr algn="r"/>
            <a:r>
              <a:rPr sz="800" b="0" i="0">
                <a:solidFill>
                  <a:srgbClr val="000000"/>
                </a:solidFill>
                <a:latin typeface="Arial"/>
              </a:rPr>
              <a:t>-1</a:t>
            </a:r>
          </a:p>
        </p:txBody>
      </p:sp>
      <p:sp>
        <p:nvSpPr>
          <p:cNvPr id="43" name="TextBox 42"/>
          <p:cNvSpPr txBox="1"/>
          <p:nvPr/>
        </p:nvSpPr>
        <p:spPr>
          <a:xfrm>
            <a:off x="852793" y="4011511"/>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44" name="TextBox 43"/>
          <p:cNvSpPr txBox="1"/>
          <p:nvPr/>
        </p:nvSpPr>
        <p:spPr>
          <a:xfrm>
            <a:off x="852793" y="3786087"/>
            <a:ext cx="68580" cy="119186"/>
          </a:xfrm>
          <a:prstGeom prst="rect">
            <a:avLst/>
          </a:prstGeom>
          <a:noFill/>
        </p:spPr>
        <p:txBody>
          <a:bodyPr wrap="none" anchor="ctr" lIns="0" rIns="0" tIns="0" bIns="0">
            <a:noAutofit/>
          </a:bodyPr>
          <a:lstStyle/>
          <a:p>
            <a:pPr algn="r"/>
            <a:r>
              <a:rPr sz="800" b="0" i="0">
                <a:solidFill>
                  <a:srgbClr val="000000"/>
                </a:solidFill>
                <a:latin typeface="Arial"/>
              </a:rPr>
              <a:t>1</a:t>
            </a:r>
          </a:p>
        </p:txBody>
      </p:sp>
      <p:sp>
        <p:nvSpPr>
          <p:cNvPr id="45" name="TextBox 44"/>
          <p:cNvSpPr txBox="1"/>
          <p:nvPr/>
        </p:nvSpPr>
        <p:spPr>
          <a:xfrm>
            <a:off x="852793" y="3560663"/>
            <a:ext cx="68580"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46" name="TextBox 45"/>
          <p:cNvSpPr txBox="1"/>
          <p:nvPr/>
        </p:nvSpPr>
        <p:spPr>
          <a:xfrm>
            <a:off x="852793" y="3335239"/>
            <a:ext cx="68580" cy="119186"/>
          </a:xfrm>
          <a:prstGeom prst="rect">
            <a:avLst/>
          </a:prstGeom>
          <a:noFill/>
        </p:spPr>
        <p:txBody>
          <a:bodyPr wrap="none" anchor="ctr" lIns="0" rIns="0" tIns="0" bIns="0">
            <a:noAutofit/>
          </a:bodyPr>
          <a:lstStyle/>
          <a:p>
            <a:pPr algn="r"/>
            <a:r>
              <a:rPr sz="800" b="0" i="0">
                <a:solidFill>
                  <a:srgbClr val="000000"/>
                </a:solidFill>
                <a:latin typeface="Arial"/>
              </a:rPr>
              <a:t>3</a:t>
            </a:r>
          </a:p>
        </p:txBody>
      </p:sp>
      <p:sp>
        <p:nvSpPr>
          <p:cNvPr id="47" name="TextBox 46"/>
          <p:cNvSpPr txBox="1"/>
          <p:nvPr/>
        </p:nvSpPr>
        <p:spPr>
          <a:xfrm>
            <a:off x="852793" y="3109815"/>
            <a:ext cx="68580"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48" name="TextBox 47"/>
          <p:cNvSpPr txBox="1"/>
          <p:nvPr/>
        </p:nvSpPr>
        <p:spPr>
          <a:xfrm>
            <a:off x="4734614" y="3357823"/>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49" name="TextBox 48"/>
          <p:cNvSpPr txBox="1"/>
          <p:nvPr/>
        </p:nvSpPr>
        <p:spPr>
          <a:xfrm>
            <a:off x="5633479" y="3357823"/>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50" name="TextBox 49"/>
          <p:cNvSpPr txBox="1"/>
          <p:nvPr/>
        </p:nvSpPr>
        <p:spPr>
          <a:xfrm>
            <a:off x="6532343" y="3357823"/>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51" name="TextBox 50"/>
          <p:cNvSpPr txBox="1"/>
          <p:nvPr/>
        </p:nvSpPr>
        <p:spPr>
          <a:xfrm>
            <a:off x="4368854" y="5053035"/>
            <a:ext cx="894397" cy="276448"/>
          </a:xfrm>
          <a:prstGeom prst="rect">
            <a:avLst/>
          </a:prstGeom>
          <a:noFill/>
        </p:spPr>
        <p:txBody>
          <a:bodyPr wrap="none" anchor="ctr" lIns="0" rIns="0" tIns="0" bIns="0">
            <a:noAutofit/>
          </a:bodyPr>
          <a:lstStyle/>
          <a:p>
            <a:pPr algn="ctr"/>
            <a:r>
              <a:rPr sz="800" b="0" i="0">
                <a:solidFill>
                  <a:srgbClr val="7F7F7F"/>
                </a:solidFill>
                <a:latin typeface="Arial"/>
              </a:rPr>
              <a:t>Healthy controls
n = 69</a:t>
            </a:r>
          </a:p>
        </p:txBody>
      </p:sp>
      <p:sp>
        <p:nvSpPr>
          <p:cNvPr id="52" name="TextBox 51"/>
          <p:cNvSpPr txBox="1"/>
          <p:nvPr/>
        </p:nvSpPr>
        <p:spPr>
          <a:xfrm>
            <a:off x="5310581" y="5053035"/>
            <a:ext cx="808672" cy="276448"/>
          </a:xfrm>
          <a:prstGeom prst="rect">
            <a:avLst/>
          </a:prstGeom>
          <a:noFill/>
        </p:spPr>
        <p:txBody>
          <a:bodyPr wrap="none" anchor="ctr" lIns="0" rIns="0" tIns="0" bIns="0">
            <a:noAutofit/>
          </a:bodyPr>
          <a:lstStyle/>
          <a:p>
            <a:pPr algn="ctr"/>
            <a:r>
              <a:rPr sz="800" b="0" i="0">
                <a:solidFill>
                  <a:srgbClr val="E69F00"/>
                </a:solidFill>
                <a:latin typeface="Arial"/>
              </a:rPr>
              <a:t>High-symptom
n = 89</a:t>
            </a:r>
          </a:p>
        </p:txBody>
      </p:sp>
      <p:sp>
        <p:nvSpPr>
          <p:cNvPr id="53" name="TextBox 52"/>
          <p:cNvSpPr txBox="1"/>
          <p:nvPr/>
        </p:nvSpPr>
        <p:spPr>
          <a:xfrm>
            <a:off x="6389468" y="5053035"/>
            <a:ext cx="448627" cy="276448"/>
          </a:xfrm>
          <a:prstGeom prst="rect">
            <a:avLst/>
          </a:prstGeom>
          <a:noFill/>
        </p:spPr>
        <p:txBody>
          <a:bodyPr wrap="none" anchor="ctr" lIns="0" rIns="0" tIns="0" bIns="0">
            <a:noAutofit/>
          </a:bodyPr>
          <a:lstStyle/>
          <a:p>
            <a:pPr algn="ctr"/>
            <a:r>
              <a:rPr sz="800" b="0" i="0">
                <a:solidFill>
                  <a:srgbClr val="D55E00"/>
                </a:solidFill>
                <a:latin typeface="Arial"/>
              </a:rPr>
              <a:t>Patients
n = 130</a:t>
            </a:r>
          </a:p>
        </p:txBody>
      </p:sp>
      <p:sp>
        <p:nvSpPr>
          <p:cNvPr id="54" name="TextBox 53"/>
          <p:cNvSpPr txBox="1"/>
          <p:nvPr/>
        </p:nvSpPr>
        <p:spPr>
          <a:xfrm>
            <a:off x="4517535" y="4881931"/>
            <a:ext cx="268604" cy="119186"/>
          </a:xfrm>
          <a:prstGeom prst="rect">
            <a:avLst/>
          </a:prstGeom>
          <a:noFill/>
        </p:spPr>
        <p:txBody>
          <a:bodyPr wrap="none" anchor="ctr" lIns="0" rIns="0" tIns="0" bIns="0">
            <a:noAutofit/>
          </a:bodyPr>
          <a:lstStyle/>
          <a:p>
            <a:pPr algn="ctr"/>
            <a:r>
              <a:rPr sz="800" b="0" i="0">
                <a:solidFill>
                  <a:srgbClr val="000000"/>
                </a:solidFill>
                <a:latin typeface="Arial"/>
              </a:rPr>
              <a:t>base</a:t>
            </a:r>
          </a:p>
        </p:txBody>
      </p:sp>
      <p:sp>
        <p:nvSpPr>
          <p:cNvPr id="55" name="TextBox 54"/>
          <p:cNvSpPr txBox="1"/>
          <p:nvPr/>
        </p:nvSpPr>
        <p:spPr>
          <a:xfrm>
            <a:off x="4744525" y="4881931"/>
            <a:ext cx="471487" cy="119186"/>
          </a:xfrm>
          <a:prstGeom prst="rect">
            <a:avLst/>
          </a:prstGeom>
          <a:noFill/>
        </p:spPr>
        <p:txBody>
          <a:bodyPr wrap="none" anchor="ctr" lIns="0" rIns="0" tIns="0" bIns="0">
            <a:noAutofit/>
          </a:bodyPr>
          <a:lstStyle/>
          <a:p>
            <a:pPr algn="ctr"/>
            <a:r>
              <a:rPr sz="800" b="0" i="0">
                <a:solidFill>
                  <a:srgbClr val="000000"/>
                </a:solidFill>
                <a:latin typeface="Arial"/>
              </a:rPr>
              <a:t>GABA-A</a:t>
            </a:r>
          </a:p>
        </p:txBody>
      </p:sp>
      <p:sp>
        <p:nvSpPr>
          <p:cNvPr id="56" name="TextBox 55"/>
          <p:cNvSpPr txBox="1"/>
          <p:nvPr/>
        </p:nvSpPr>
        <p:spPr>
          <a:xfrm>
            <a:off x="5416399" y="4881931"/>
            <a:ext cx="268605" cy="119186"/>
          </a:xfrm>
          <a:prstGeom prst="rect">
            <a:avLst/>
          </a:prstGeom>
          <a:noFill/>
        </p:spPr>
        <p:txBody>
          <a:bodyPr wrap="none" anchor="ctr" lIns="0" rIns="0" tIns="0" bIns="0">
            <a:noAutofit/>
          </a:bodyPr>
          <a:lstStyle/>
          <a:p>
            <a:pPr algn="ctr"/>
            <a:r>
              <a:rPr sz="800" b="0" i="0">
                <a:solidFill>
                  <a:srgbClr val="000000"/>
                </a:solidFill>
                <a:latin typeface="Arial"/>
              </a:rPr>
              <a:t>base</a:t>
            </a:r>
          </a:p>
        </p:txBody>
      </p:sp>
      <p:sp>
        <p:nvSpPr>
          <p:cNvPr id="57" name="TextBox 56"/>
          <p:cNvSpPr txBox="1"/>
          <p:nvPr/>
        </p:nvSpPr>
        <p:spPr>
          <a:xfrm>
            <a:off x="5643389" y="4881931"/>
            <a:ext cx="471487" cy="119186"/>
          </a:xfrm>
          <a:prstGeom prst="rect">
            <a:avLst/>
          </a:prstGeom>
          <a:noFill/>
        </p:spPr>
        <p:txBody>
          <a:bodyPr wrap="none" anchor="ctr" lIns="0" rIns="0" tIns="0" bIns="0">
            <a:noAutofit/>
          </a:bodyPr>
          <a:lstStyle/>
          <a:p>
            <a:pPr algn="ctr"/>
            <a:r>
              <a:rPr sz="800" b="0" i="0">
                <a:solidFill>
                  <a:srgbClr val="000000"/>
                </a:solidFill>
                <a:latin typeface="Arial"/>
              </a:rPr>
              <a:t>GABA-A</a:t>
            </a:r>
          </a:p>
        </p:txBody>
      </p:sp>
      <p:sp>
        <p:nvSpPr>
          <p:cNvPr id="58" name="TextBox 57"/>
          <p:cNvSpPr txBox="1"/>
          <p:nvPr/>
        </p:nvSpPr>
        <p:spPr>
          <a:xfrm>
            <a:off x="6315264" y="4881931"/>
            <a:ext cx="268605" cy="119186"/>
          </a:xfrm>
          <a:prstGeom prst="rect">
            <a:avLst/>
          </a:prstGeom>
          <a:noFill/>
        </p:spPr>
        <p:txBody>
          <a:bodyPr wrap="none" anchor="ctr" lIns="0" rIns="0" tIns="0" bIns="0">
            <a:noAutofit/>
          </a:bodyPr>
          <a:lstStyle/>
          <a:p>
            <a:pPr algn="ctr"/>
            <a:r>
              <a:rPr sz="800" b="0" i="0">
                <a:solidFill>
                  <a:srgbClr val="000000"/>
                </a:solidFill>
                <a:latin typeface="Arial"/>
              </a:rPr>
              <a:t>base</a:t>
            </a:r>
          </a:p>
        </p:txBody>
      </p:sp>
      <p:sp>
        <p:nvSpPr>
          <p:cNvPr id="59" name="TextBox 58"/>
          <p:cNvSpPr txBox="1"/>
          <p:nvPr/>
        </p:nvSpPr>
        <p:spPr>
          <a:xfrm>
            <a:off x="6542254" y="4881931"/>
            <a:ext cx="471487" cy="119186"/>
          </a:xfrm>
          <a:prstGeom prst="rect">
            <a:avLst/>
          </a:prstGeom>
          <a:noFill/>
        </p:spPr>
        <p:txBody>
          <a:bodyPr wrap="none" anchor="ctr" lIns="0" rIns="0" tIns="0" bIns="0">
            <a:noAutofit/>
          </a:bodyPr>
          <a:lstStyle/>
          <a:p>
            <a:pPr algn="ctr"/>
            <a:r>
              <a:rPr sz="800" b="0" i="0">
                <a:solidFill>
                  <a:srgbClr val="000000"/>
                </a:solidFill>
                <a:latin typeface="Arial"/>
              </a:rPr>
              <a:t>GABA-A</a:t>
            </a:r>
          </a:p>
        </p:txBody>
      </p:sp>
      <p:sp>
        <p:nvSpPr>
          <p:cNvPr id="60" name="TextBox 59"/>
          <p:cNvSpPr txBox="1"/>
          <p:nvPr/>
        </p:nvSpPr>
        <p:spPr>
          <a:xfrm rot="16200000">
            <a:off x="3336845" y="3921508"/>
            <a:ext cx="1503045" cy="148983"/>
          </a:xfrm>
          <a:prstGeom prst="rect">
            <a:avLst/>
          </a:prstGeom>
          <a:noFill/>
        </p:spPr>
        <p:txBody>
          <a:bodyPr wrap="none" anchor="ctr" lIns="0" rIns="0" tIns="0" bIns="0">
            <a:noAutofit/>
          </a:bodyPr>
          <a:lstStyle/>
          <a:p>
            <a:pPr algn="ctr"/>
            <a:r>
              <a:rPr sz="1000" b="0" i="0">
                <a:solidFill>
                  <a:srgbClr val="000000"/>
                </a:solidFill>
                <a:latin typeface="Arial"/>
              </a:rPr>
              <a:t>NP factor (simulated)</a:t>
            </a:r>
          </a:p>
        </p:txBody>
      </p:sp>
      <p:sp>
        <p:nvSpPr>
          <p:cNvPr id="61" name="TextBox 60"/>
          <p:cNvSpPr txBox="1"/>
          <p:nvPr/>
        </p:nvSpPr>
        <p:spPr>
          <a:xfrm>
            <a:off x="4172504" y="4869424"/>
            <a:ext cx="214312" cy="119186"/>
          </a:xfrm>
          <a:prstGeom prst="rect">
            <a:avLst/>
          </a:prstGeom>
          <a:noFill/>
        </p:spPr>
        <p:txBody>
          <a:bodyPr wrap="none" anchor="ctr" lIns="0" rIns="0" tIns="0" bIns="0">
            <a:noAutofit/>
          </a:bodyPr>
          <a:lstStyle/>
          <a:p>
            <a:pPr algn="r"/>
            <a:r>
              <a:rPr sz="800" b="0" i="0">
                <a:solidFill>
                  <a:srgbClr val="000000"/>
                </a:solidFill>
                <a:latin typeface="Arial"/>
              </a:rPr>
              <a:t>-5.0</a:t>
            </a:r>
          </a:p>
        </p:txBody>
      </p:sp>
      <p:sp>
        <p:nvSpPr>
          <p:cNvPr id="62" name="TextBox 61"/>
          <p:cNvSpPr txBox="1"/>
          <p:nvPr/>
        </p:nvSpPr>
        <p:spPr>
          <a:xfrm>
            <a:off x="4172504" y="4653361"/>
            <a:ext cx="214312" cy="119186"/>
          </a:xfrm>
          <a:prstGeom prst="rect">
            <a:avLst/>
          </a:prstGeom>
          <a:noFill/>
        </p:spPr>
        <p:txBody>
          <a:bodyPr wrap="none" anchor="ctr" lIns="0" rIns="0" tIns="0" bIns="0">
            <a:noAutofit/>
          </a:bodyPr>
          <a:lstStyle/>
          <a:p>
            <a:pPr algn="r"/>
            <a:r>
              <a:rPr sz="800" b="0" i="0">
                <a:solidFill>
                  <a:srgbClr val="000000"/>
                </a:solidFill>
                <a:latin typeface="Arial"/>
              </a:rPr>
              <a:t>-2.5</a:t>
            </a:r>
          </a:p>
        </p:txBody>
      </p:sp>
      <p:sp>
        <p:nvSpPr>
          <p:cNvPr id="63" name="TextBox 62"/>
          <p:cNvSpPr txBox="1"/>
          <p:nvPr/>
        </p:nvSpPr>
        <p:spPr>
          <a:xfrm>
            <a:off x="4211080" y="4437297"/>
            <a:ext cx="171450" cy="119186"/>
          </a:xfrm>
          <a:prstGeom prst="rect">
            <a:avLst/>
          </a:prstGeom>
          <a:noFill/>
        </p:spPr>
        <p:txBody>
          <a:bodyPr wrap="none" anchor="ctr" lIns="0" rIns="0" tIns="0" bIns="0">
            <a:noAutofit/>
          </a:bodyPr>
          <a:lstStyle/>
          <a:p>
            <a:pPr algn="r"/>
            <a:r>
              <a:rPr sz="800" b="0" i="0">
                <a:solidFill>
                  <a:srgbClr val="000000"/>
                </a:solidFill>
                <a:latin typeface="Arial"/>
              </a:rPr>
              <a:t>0.0</a:t>
            </a:r>
          </a:p>
        </p:txBody>
      </p:sp>
      <p:sp>
        <p:nvSpPr>
          <p:cNvPr id="64" name="TextBox 63"/>
          <p:cNvSpPr txBox="1"/>
          <p:nvPr/>
        </p:nvSpPr>
        <p:spPr>
          <a:xfrm>
            <a:off x="4211080" y="4221233"/>
            <a:ext cx="171450" cy="119186"/>
          </a:xfrm>
          <a:prstGeom prst="rect">
            <a:avLst/>
          </a:prstGeom>
          <a:noFill/>
        </p:spPr>
        <p:txBody>
          <a:bodyPr wrap="none" anchor="ctr" lIns="0" rIns="0" tIns="0" bIns="0">
            <a:noAutofit/>
          </a:bodyPr>
          <a:lstStyle/>
          <a:p>
            <a:pPr algn="r"/>
            <a:r>
              <a:rPr sz="800" b="0" i="0">
                <a:solidFill>
                  <a:srgbClr val="000000"/>
                </a:solidFill>
                <a:latin typeface="Arial"/>
              </a:rPr>
              <a:t>2.5</a:t>
            </a:r>
          </a:p>
        </p:txBody>
      </p:sp>
      <p:sp>
        <p:nvSpPr>
          <p:cNvPr id="65" name="TextBox 64"/>
          <p:cNvSpPr txBox="1"/>
          <p:nvPr/>
        </p:nvSpPr>
        <p:spPr>
          <a:xfrm>
            <a:off x="4211080" y="4005170"/>
            <a:ext cx="171450" cy="119186"/>
          </a:xfrm>
          <a:prstGeom prst="rect">
            <a:avLst/>
          </a:prstGeom>
          <a:noFill/>
        </p:spPr>
        <p:txBody>
          <a:bodyPr wrap="none" anchor="ctr" lIns="0" rIns="0" tIns="0" bIns="0">
            <a:noAutofit/>
          </a:bodyPr>
          <a:lstStyle/>
          <a:p>
            <a:pPr algn="r"/>
            <a:r>
              <a:rPr sz="800" b="0" i="0">
                <a:solidFill>
                  <a:srgbClr val="000000"/>
                </a:solidFill>
                <a:latin typeface="Arial"/>
              </a:rPr>
              <a:t>5.0</a:t>
            </a:r>
          </a:p>
        </p:txBody>
      </p:sp>
      <p:sp>
        <p:nvSpPr>
          <p:cNvPr id="66" name="TextBox 65"/>
          <p:cNvSpPr txBox="1"/>
          <p:nvPr/>
        </p:nvSpPr>
        <p:spPr>
          <a:xfrm>
            <a:off x="4211080" y="3789106"/>
            <a:ext cx="171450" cy="119186"/>
          </a:xfrm>
          <a:prstGeom prst="rect">
            <a:avLst/>
          </a:prstGeom>
          <a:noFill/>
        </p:spPr>
        <p:txBody>
          <a:bodyPr wrap="none" anchor="ctr" lIns="0" rIns="0" tIns="0" bIns="0">
            <a:noAutofit/>
          </a:bodyPr>
          <a:lstStyle/>
          <a:p>
            <a:pPr algn="r"/>
            <a:r>
              <a:rPr sz="800" b="0" i="0">
                <a:solidFill>
                  <a:srgbClr val="000000"/>
                </a:solidFill>
                <a:latin typeface="Arial"/>
              </a:rPr>
              <a:t>7.5</a:t>
            </a:r>
          </a:p>
        </p:txBody>
      </p:sp>
      <p:sp>
        <p:nvSpPr>
          <p:cNvPr id="67" name="TextBox 66"/>
          <p:cNvSpPr txBox="1"/>
          <p:nvPr/>
        </p:nvSpPr>
        <p:spPr>
          <a:xfrm>
            <a:off x="4149358" y="3573042"/>
            <a:ext cx="240030" cy="119186"/>
          </a:xfrm>
          <a:prstGeom prst="rect">
            <a:avLst/>
          </a:prstGeom>
          <a:noFill/>
        </p:spPr>
        <p:txBody>
          <a:bodyPr wrap="none" anchor="ctr" lIns="0" rIns="0" tIns="0" bIns="0">
            <a:noAutofit/>
          </a:bodyPr>
          <a:lstStyle/>
          <a:p>
            <a:pPr algn="r"/>
            <a:r>
              <a:rPr sz="800" b="0" i="0">
                <a:solidFill>
                  <a:srgbClr val="000000"/>
                </a:solidFill>
                <a:latin typeface="Arial"/>
              </a:rPr>
              <a:t>10.0</a:t>
            </a:r>
          </a:p>
        </p:txBody>
      </p:sp>
      <p:sp>
        <p:nvSpPr>
          <p:cNvPr id="68" name="TextBox 67"/>
          <p:cNvSpPr txBox="1"/>
          <p:nvPr/>
        </p:nvSpPr>
        <p:spPr>
          <a:xfrm>
            <a:off x="4149358" y="3356979"/>
            <a:ext cx="240030" cy="119186"/>
          </a:xfrm>
          <a:prstGeom prst="rect">
            <a:avLst/>
          </a:prstGeom>
          <a:noFill/>
        </p:spPr>
        <p:txBody>
          <a:bodyPr wrap="none" anchor="ctr" lIns="0" rIns="0" tIns="0" bIns="0">
            <a:noAutofit/>
          </a:bodyPr>
          <a:lstStyle/>
          <a:p>
            <a:pPr algn="r"/>
            <a:r>
              <a:rPr sz="800" b="0" i="0">
                <a:solidFill>
                  <a:srgbClr val="000000"/>
                </a:solidFill>
                <a:latin typeface="Arial"/>
              </a:rPr>
              <a:t>12.5</a:t>
            </a:r>
          </a:p>
        </p:txBody>
      </p:sp>
      <p:sp>
        <p:nvSpPr>
          <p:cNvPr id="69" name="TextBox 68"/>
          <p:cNvSpPr txBox="1"/>
          <p:nvPr/>
        </p:nvSpPr>
        <p:spPr>
          <a:xfrm>
            <a:off x="4149358" y="3140915"/>
            <a:ext cx="240030" cy="119186"/>
          </a:xfrm>
          <a:prstGeom prst="rect">
            <a:avLst/>
          </a:prstGeom>
          <a:noFill/>
        </p:spPr>
        <p:txBody>
          <a:bodyPr wrap="none" anchor="ctr" lIns="0" rIns="0" tIns="0" bIns="0">
            <a:noAutofit/>
          </a:bodyPr>
          <a:lstStyle/>
          <a:p>
            <a:pPr algn="r"/>
            <a:r>
              <a:rPr sz="800" b="0" i="0">
                <a:solidFill>
                  <a:srgbClr val="000000"/>
                </a:solidFill>
                <a:latin typeface="Arial"/>
              </a:rPr>
              <a:t>15.0</a:t>
            </a:r>
          </a:p>
        </p:txBody>
      </p:sp>
      <p:sp>
        <p:nvSpPr>
          <p:cNvPr id="70" name="TextBox 69"/>
          <p:cNvSpPr txBox="1"/>
          <p:nvPr/>
        </p:nvSpPr>
        <p:spPr>
          <a:xfrm>
            <a:off x="4149358" y="2924851"/>
            <a:ext cx="240030" cy="119186"/>
          </a:xfrm>
          <a:prstGeom prst="rect">
            <a:avLst/>
          </a:prstGeom>
          <a:noFill/>
        </p:spPr>
        <p:txBody>
          <a:bodyPr wrap="none" anchor="ctr" lIns="0" rIns="0" tIns="0" bIns="0">
            <a:noAutofit/>
          </a:bodyPr>
          <a:lstStyle/>
          <a:p>
            <a:pPr algn="r"/>
            <a:r>
              <a:rPr sz="800" b="0" i="0">
                <a:solidFill>
                  <a:srgbClr val="000000"/>
                </a:solidFill>
                <a:latin typeface="Arial"/>
              </a:rPr>
              <a:t>17.5</a:t>
            </a:r>
          </a:p>
        </p:txBody>
      </p:sp>
      <p:sp>
        <p:nvSpPr>
          <p:cNvPr id="71" name="TextBox 70"/>
          <p:cNvSpPr txBox="1"/>
          <p:nvPr/>
        </p:nvSpPr>
        <p:spPr>
          <a:xfrm>
            <a:off x="530284" y="468106"/>
            <a:ext cx="97154" cy="163881"/>
          </a:xfrm>
          <a:prstGeom prst="rect">
            <a:avLst/>
          </a:prstGeom>
          <a:noFill/>
        </p:spPr>
        <p:txBody>
          <a:bodyPr wrap="none" anchor="ctr" lIns="0" rIns="0" tIns="0" bIns="0">
            <a:noAutofit/>
          </a:bodyPr>
          <a:lstStyle/>
          <a:p>
            <a:pPr algn="l"/>
            <a:r>
              <a:rPr sz="1100" b="1" i="0">
                <a:solidFill>
                  <a:srgbClr val="000000"/>
                </a:solidFill>
                <a:latin typeface="Arial"/>
              </a:rPr>
              <a:t>a</a:t>
            </a:r>
          </a:p>
        </p:txBody>
      </p:sp>
      <p:sp>
        <p:nvSpPr>
          <p:cNvPr id="72" name="TextBox 71"/>
          <p:cNvSpPr txBox="1"/>
          <p:nvPr/>
        </p:nvSpPr>
        <p:spPr>
          <a:xfrm>
            <a:off x="529427" y="2972940"/>
            <a:ext cx="105727" cy="163881"/>
          </a:xfrm>
          <a:prstGeom prst="rect">
            <a:avLst/>
          </a:prstGeom>
          <a:noFill/>
        </p:spPr>
        <p:txBody>
          <a:bodyPr wrap="none" anchor="ctr" lIns="0" rIns="0" tIns="0" bIns="0">
            <a:noAutofit/>
          </a:bodyPr>
          <a:lstStyle/>
          <a:p>
            <a:pPr algn="l"/>
            <a:r>
              <a:rPr sz="1100" b="1" i="0">
                <a:solidFill>
                  <a:srgbClr val="000000"/>
                </a:solidFill>
                <a:latin typeface="Arial"/>
              </a:rPr>
              <a:t>b</a:t>
            </a:r>
          </a:p>
        </p:txBody>
      </p:sp>
      <p:sp>
        <p:nvSpPr>
          <p:cNvPr id="73" name="TextBox 72"/>
          <p:cNvSpPr txBox="1"/>
          <p:nvPr/>
        </p:nvSpPr>
        <p:spPr>
          <a:xfrm>
            <a:off x="3878284" y="2972940"/>
            <a:ext cx="97155" cy="163881"/>
          </a:xfrm>
          <a:prstGeom prst="rect">
            <a:avLst/>
          </a:prstGeom>
          <a:noFill/>
        </p:spPr>
        <p:txBody>
          <a:bodyPr wrap="none" anchor="ctr" lIns="0" rIns="0" tIns="0" bIns="0">
            <a:noAutofit/>
          </a:bodyPr>
          <a:lstStyle/>
          <a:p>
            <a:pPr algn="l"/>
            <a:r>
              <a:rPr sz="1100" b="1" i="0">
                <a:solidFill>
                  <a:srgbClr val="000000"/>
                </a:solidFill>
                <a:latin typeface="Arial"/>
              </a:rPr>
              <a:t>c</a:t>
            </a:r>
          </a:p>
        </p:txBody>
      </p:sp>
      <p:sp>
        <p:nvSpPr>
          <p:cNvPr id="74" name="TextBox 73"/>
          <p:cNvSpPr txBox="1"/>
          <p:nvPr/>
        </p:nvSpPr>
        <p:spPr>
          <a:xfrm>
            <a:off x="540000" y="5310000"/>
            <a:ext cx="6480000" cy="2939400"/>
          </a:xfrm>
          <a:prstGeom prst="rect">
            <a:avLst/>
          </a:prstGeom>
          <a:noFill/>
        </p:spPr>
        <p:txBody>
          <a:bodyPr wrap="square" lIns="0" rIns="0" tIns="0" bIns="0">
            <a:spAutoFit/>
          </a:bodyPr>
          <a:lstStyle/>
          <a:p>
            <a:pPr algn="l"/>
            <a:r>
              <a:rPr sz="800" b="1">
                <a:latin typeface="Arial"/>
              </a:rPr>
              <a:t>Supplementary Fig. S14 | The NP factor score within each diagnostic group: simulated against empirical, and simulated baseline against the perturbed state. </a:t>
            </a:r>
            <a:r>
              <a:rPr sz="800" b="0">
                <a:latin typeface="Arial"/>
              </a:rPr>
              <a:t>All panels show the same n = 288 twins (69 healthy controls, 89 high-symptom participants, 130 patients), one box per condition per diagnostic group with every individual observation plotted beside it; boxes give the median and interquartile range with whiskers at 1.5 times that range. The open box is the reference condition and the filled box the model state compared against it, group identity is carried by colour, and because every comparison is within subject each bracket carries a two-sided paired t test. The bracket shows only the significance symbol (*** P &lt; 0.001, ** P &lt; 0.01, * P &lt; 0.05, n.s. not significant); every t, P, confidence interval and effect size is given below. a asks whether the model reproduces the observed score; b and c ask whether the virtual perturbation moves that score. </a:t>
            </a:r>
            <a:r>
              <a:rPr sz="800" b="1">
                <a:latin typeface="Arial"/>
              </a:rPr>
              <a:t>a,</a:t>
            </a:r>
            <a:r>
              <a:rPr sz="800" b="0">
                <a:latin typeface="Arial"/>
              </a:rPr>
              <a:t> empirical against simulated scores after residualisation (age, sex, site and mean framewise displacement regressed out, each measure centred separately) - the specification used in the manuscript: healthy controls (n = 69) empirical +0.312 versus simulated +0.197, difference -0.115 (95% CI -0.412 to +0.182), t(68) = -0.773, P = 0.442, dz = -0.093; high-symptom (n = 89) empirical -0.003 versus simulated +0.187, difference +0.190 (95% CI -0.051 to +0.431), t(88) = 1.568, P = 0.120, dz = +0.166; patients (n = 130) empirical -0.164 versus simulated -0.233, difference -0.069 (95% CI -0.248 to +0.111), t(129) = -0.759, P = 0.449, dz = -0.067. Simulated and empirical scores do not differ in any group. The subject-wise correlation between the two measures is nonetheless weak (Pearson r = -0.06, +0.12, +0.07 for the three groups), so agreement of the group distributions should not be read as agreement twin by twin. On the raw, unresidualised scores the simulated values carry a downward offset in healthy controls and in patients (empsim_paired_tests_n288.csv), which is a constant of the measure rather than a group effect and is removed by construction here. </a:t>
            </a:r>
            <a:r>
              <a:rPr sz="800" b="1">
                <a:latin typeface="Arial"/>
              </a:rPr>
              <a:t>b,</a:t>
            </a:r>
            <a:r>
              <a:rPr sz="800" b="0">
                <a:latin typeface="Arial"/>
              </a:rPr>
              <a:t> simulated baseline against the AMPA-perturbed state: healthy controls (n = 69) -0.188 to +0.552, change +0.740 (95% CI +0.507 to +0.974), t(68) = 6.325, P = 2.3e-08, dz = +0.761, 52 of 69 twins (75.4%) increased; high-symptom (n = 89) +0.071 to +0.571, change +0.499 (95% CI +0.293 to +0.705), t(88) = 4.825, P = 5.8e-06, dz = +0.511, 63 of 89 twins (70.8%) increased; patients (n = 130) -0.559 to +0.428, change +0.987 (95% CI +0.843 to +1.131), t(129) = 13.551, P = 1.5e-26, dz = +1.189, 119 of 130 twins (91.5%) increased. </a:t>
            </a:r>
            <a:r>
              <a:rPr sz="800" b="1">
                <a:latin typeface="Arial"/>
              </a:rPr>
              <a:t>c,</a:t>
            </a:r>
            <a:r>
              <a:rPr sz="800" b="0">
                <a:latin typeface="Arial"/>
              </a:rPr>
              <a:t> simulated baseline against the GABA-A-perturbed state: healthy controls (n = 69) -0.188 to +2.410, change +2.598 (95% CI +2.196 to +3.001), t(68) = 12.879, P = 6.6e-20, dz = +1.550, 67 of 69 twins (97.1%) increased; high-symptom (n = 89) +0.071 to +2.698, change +2.626 (95% CI +2.276 to +2.977), t(88) = 14.900, P = 8.6e-26, dz = +1.579, 88 of 89 twins (98.9%) increased; patients (n = 130) -0.559 to +2.324, change +2.883 (95% CI +2.576 to +3.189), t(129) = 18.615, P = 2.3e-38, dz = +1.633, 127 of 130 twins (97.7%) increased. </a:t>
            </a:r>
            <a:r>
              <a:rPr sz="800" b="0">
                <a:latin typeface="Arial"/>
              </a:rPr>
              <a:t>Read together: the model's resting score is statistically indistinguishable from the measured one within every group once nuisance variables are removed (a), while both virtual perturbations raise the score in every group (b, c) - the AMPA effect is largest in patients and the GABA-A effect is large and near-universal everywhere. No multiple-comparison correction is applied across the panels. Source values are in empsim_subject_level_n288.csv and empsim_paired_tests_n288.csv (a) and in fig4_paired_np_mid_n288.csv (b, c); the within-group paired tests for b and c are tabulated in npscores_baseline_vs_perturbed_by_group_n288.csv.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