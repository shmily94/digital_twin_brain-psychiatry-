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motion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6104" y="710243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n.s.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1289" y="2346205"/>
            <a:ext cx="3486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Arial"/>
              </a:rPr>
              <a:t>HC
n =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3224" y="2346205"/>
            <a:ext cx="56578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69F00"/>
                </a:solidFill>
                <a:latin typeface="Arial"/>
              </a:rPr>
              <a:t>High-sym.
n = 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8038" y="2346205"/>
            <a:ext cx="41719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D55E00"/>
                </a:solidFill>
                <a:latin typeface="Arial"/>
              </a:rPr>
              <a:t>Patient
n = 130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137485" y="1303219"/>
            <a:ext cx="1363027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framewise
displacement (mm)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478" y="232984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478" y="203846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478" y="174708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478" y="145570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478" y="116432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478" y="87294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478" y="58156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32" y="769531"/>
            <a:ext cx="4857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7365" y="1028281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3536" y="1287031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5523" y="15457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1806" y="1804531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868" y="2063281"/>
            <a:ext cx="971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7377" y="2479700"/>
            <a:ext cx="172593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Pearson r with mean FD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7425" y="2361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280" y="2361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9134" y="2361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1420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2275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3130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3985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4840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5695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2458" y="780222"/>
            <a:ext cx="10692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 NP factor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8158" y="1038972"/>
            <a:ext cx="7629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 NP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1190" y="1297722"/>
            <a:ext cx="1348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(AMPA)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7269" y="1556472"/>
            <a:ext cx="14750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(GABA-A)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8376" y="1815222"/>
            <a:ext cx="9627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(AMPA)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4456" y="2073972"/>
            <a:ext cx="10892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(GABA-A)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0793" y="3328452"/>
            <a:ext cx="7258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72B2"/>
                </a:solidFill>
                <a:latin typeface="Arial"/>
              </a:rPr>
              <a:t>12-edge sum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2021" y="4489516"/>
            <a:ext cx="120300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no edge survives
Bonferroni (12 edges)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7409" y="4963700"/>
            <a:ext cx="131730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Empirical NP 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8342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6368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4393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2419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444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8470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6495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4520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2546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6281" y="4845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9017" y="4845931"/>
            <a:ext cx="19631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2332" y="4845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e12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-122596" y="3885508"/>
            <a:ext cx="172593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Pearson r with mean FD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072" y="4755762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072" y="4535675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072" y="4315587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648" y="409550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648" y="387541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648" y="365532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648" y="34352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648" y="321515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648" y="299506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05289" y="3408238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0582" y="3639847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73219" y="3871455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1696" y="4103064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74405" y="4334672"/>
            <a:ext cx="971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5641" y="4566280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62798" y="4960311"/>
            <a:ext cx="191166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Group effect, partial eta^2 (%)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2975" y="4845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76334" y="4845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5404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8763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10458" y="3418929"/>
            <a:ext cx="10692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 NP factor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6158" y="3650538"/>
            <a:ext cx="7629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 NP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59190" y="3882146"/>
            <a:ext cx="1348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(AMPA)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5269" y="4113754"/>
            <a:ext cx="14750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(GABA-A)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06376" y="4345363"/>
            <a:ext cx="9627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(AMPA)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92456" y="4576971"/>
            <a:ext cx="10892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(GABA-A)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78682" y="3140401"/>
            <a:ext cx="5800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group only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03816" y="3261150"/>
            <a:ext cx="132873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+ mean FD as covariate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33427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284" y="2952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41427" y="2952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0000" y="5130000"/>
            <a:ext cx="6480000" cy="293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 Fig. S5 | Head motion does not differ across diagnostic groups and does not account for the group effects, but it is weakly associated with some of the NP measures. </a:t>
            </a:r>
            <a:r>
              <a:rPr sz="800" b="0">
                <a:latin typeface="Arial"/>
              </a:rPr>
              <a:t>All panels use the n = 288 twins retained by the mean-FD &lt; 0.5 mm inclusion threshold (69 healthy controls, 89 high-symptom participants, 130 patients). Motion is summarised as mean framewise displacement (FD, mm) over the run, and the unit of observation is one subject. Panels carry only the significance symbol (*** P &lt; 0.001, ** P &lt; 0.01, * P &lt; 0.05, n.s. not significant); every coefficient, interval and P value is given below. All tests are two-sided; P values are Bonferroni-corrected across the six NP measures in b and d and across the 12 edges in c. </a:t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 FD by diagnostic group, box with all individual subjects: healthy controls 0.128 ± 0.049 mm (median 0.120), high-symptom 0.142 ± 0.070 (0.129), patients 0.138 ± 0.076 (0.109). One-way ANOVA F(2, 285) = 0.844, P = 0.431; Kruskal-Wallis chi-squared(2) = 2.276, P = 0.320; Levene's test of equal variances F(2, 285) = 1.671, P = 0.190; healthy controls against all others Welch t = -1.478, P = 0.141 (Cohen d = -0.17), Mann-Whitney P = 0.772. Motion does not differ across groups on any of these tests. </a:t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 Pearson correlation of FD with each of the six NP outcomes, point estimate with 95% confidence interval: empirical np factor r = +0.155 (95% CI +0.041 to +0.266, P = 0.0082, P_Bonferroni = 0.049, 2.4% of variance); simulated np r = +0.127 (95% CI +0.012 to +0.240, P = 0.031, P_Bonferroni = 0.184, 1.6% of variance); manipulated np (ampa) r = +0.149 (95% CI +0.034 to +0.260, P = 0.011, P_Bonferroni = 0.067, 2.2% of variance); manipulated np (gaba-a) r = +0.268 (95% CI +0.157 to +0.372, P &lt; 0.001, P_Bonferroni &lt; 0.001, 7.2% of variance); delta np (ampa) r = -0.035 (95% CI -0.150 to +0.081, P = 0.554, P_Bonferroni = 1.000, 0.1% of variance); delta np (gaba-a) r = +0.204 (95% CI +0.090 to +0.312, P &lt; 0.001, P_Bonferroni = 0.003, 4.2% of variance). Three of the six survive correction. The measure behind the main inferences - the AMPA-induced change in NP - is the one with no motion association at all, whereas the measured NP factor is weakly but detectably motion-associated and sits just below the corrected threshold, so that conclusion is sensitive to how the correction family is defined and is reported here as such. </a:t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 the same test edge by edge for the 12 empirical NP edges (n = 288), with the 12-edge sum marked by the dashed line (r = +0.155). No single edge is motion-related: the largest absolute correlation is 0.104, the smallest uncorrected P is 0.078 (edge 12) and the smallest Bonferroni-corrected P is 0.94. Only the sum reaches significance, and only marginally (b). </a:t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 the group effect on each NP measure as partial eta-squared, in a one-way model (open marker, df = 2, 285) and in the same model with FD added as a covariate (filled marker, df = 2, 284): empirical np factor 6.04% to 6.78%; simulated np 9.23% to 9.27%; manipulated np (ampa) 1.48% to 1.54%; manipulated np (gaba-a) 0.88% to 0.77%; delta np (ampa) 5.08% to 5.06%; delta np (gaba-a) 0.62% to 0.61%. The largest shift is 0.74 percentage points and no effect changes its significance status, so adjusting for motion leaves the group effects as they were. </a:t>
            </a:r>
            <a:r>
              <a:rPr sz="800" b="0">
                <a:latin typeface="Arial"/>
              </a:rPr>
              <a:t>Taken together, motion is balanced across the diagnostic groups (a) and adjusting for it does not change the group effects (d), while the cross-sectional association between motion and the NP measures is small but not uniformly zero (b, c). Source values are in motion_subject_level_n288.csv, motion_group_tests.csv, TableS25_motion_np_correlations_corrected_n288.csv, motion_per_edge_correlations.csv and TableS26_group_effect_motion_adjustment_corrected_n288.csv.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