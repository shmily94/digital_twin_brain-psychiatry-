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560000" cy="10692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igS_motion_A4_nocaption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0" cy="10692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796104" y="710243"/>
            <a:ext cx="200025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595959"/>
                </a:solidFill>
                <a:latin typeface="Arial"/>
              </a:rPr>
              <a:t>n.s.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91289" y="2346205"/>
            <a:ext cx="348615" cy="276448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7F7F7F"/>
                </a:solidFill>
                <a:latin typeface="Arial"/>
              </a:rPr>
              <a:t>HC
n = 69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13224" y="2346205"/>
            <a:ext cx="565785" cy="276448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E69F00"/>
                </a:solidFill>
                <a:latin typeface="Arial"/>
              </a:rPr>
              <a:t>High-sym.
n = 89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18038" y="2346205"/>
            <a:ext cx="417195" cy="276448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D55E00"/>
                </a:solidFill>
                <a:latin typeface="Arial"/>
              </a:rPr>
              <a:t>Patient
n = 130</a:t>
            </a:r>
          </a:p>
        </p:txBody>
      </p:sp>
      <p:sp>
        <p:nvSpPr>
          <p:cNvPr id="7" name="TextBox 6"/>
          <p:cNvSpPr txBox="1"/>
          <p:nvPr/>
        </p:nvSpPr>
        <p:spPr>
          <a:xfrm rot="16200000">
            <a:off x="137485" y="1303219"/>
            <a:ext cx="1363027" cy="34556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1000" b="0" i="0">
                <a:solidFill>
                  <a:srgbClr val="000000"/>
                </a:solidFill>
                <a:latin typeface="Arial"/>
              </a:rPr>
              <a:t>Mean framewise
displacement (mm)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5478" y="2329840"/>
            <a:ext cx="17145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0.0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5478" y="2038460"/>
            <a:ext cx="17145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0.1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5478" y="1747080"/>
            <a:ext cx="17145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0.2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5478" y="1455701"/>
            <a:ext cx="17145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0.3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5478" y="1164321"/>
            <a:ext cx="17145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0.4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5478" y="872941"/>
            <a:ext cx="17145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0.5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5478" y="581562"/>
            <a:ext cx="17145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0.6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31532" y="769531"/>
            <a:ext cx="48577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Arial"/>
              </a:rPr>
              <a:t>*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17365" y="1028281"/>
            <a:ext cx="200025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800" b="0" i="0">
                <a:solidFill>
                  <a:srgbClr val="808080"/>
                </a:solidFill>
                <a:latin typeface="Arial"/>
              </a:rPr>
              <a:t>n.s.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3536" y="1287031"/>
            <a:ext cx="200025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800" b="0" i="0">
                <a:solidFill>
                  <a:srgbClr val="808080"/>
                </a:solidFill>
                <a:latin typeface="Arial"/>
              </a:rPr>
              <a:t>n.s.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25523" y="1545781"/>
            <a:ext cx="14573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Arial"/>
              </a:rPr>
              <a:t>***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11806" y="1804531"/>
            <a:ext cx="200025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800" b="0" i="0">
                <a:solidFill>
                  <a:srgbClr val="808080"/>
                </a:solidFill>
                <a:latin typeface="Arial"/>
              </a:rPr>
              <a:t>n.s.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1868" y="2063281"/>
            <a:ext cx="97155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Arial"/>
              </a:rPr>
              <a:t>**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17377" y="2479700"/>
            <a:ext cx="1725930" cy="148983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1000" b="0" i="0">
                <a:solidFill>
                  <a:srgbClr val="000000"/>
                </a:solidFill>
                <a:latin typeface="Arial"/>
              </a:rPr>
              <a:t>Pearson r with mean FD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97425" y="2361931"/>
            <a:ext cx="21431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-0.3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78280" y="2361931"/>
            <a:ext cx="21431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-0.2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59134" y="2361931"/>
            <a:ext cx="21431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-0.1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61420" y="2361931"/>
            <a:ext cx="17145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0.0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42275" y="2361931"/>
            <a:ext cx="17145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0.1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723130" y="2361931"/>
            <a:ext cx="17145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0.2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03985" y="2361931"/>
            <a:ext cx="17145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0.3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84840" y="2361931"/>
            <a:ext cx="17145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0.4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65695" y="2361931"/>
            <a:ext cx="17145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0.5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02458" y="780222"/>
            <a:ext cx="1069285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Empirical NP factor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78158" y="1038972"/>
            <a:ext cx="76295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Simulated NP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951190" y="1297722"/>
            <a:ext cx="134847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Manipulated NP (AMPA)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837269" y="1556472"/>
            <a:ext cx="147505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Manipulated NP (GABA-A)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298376" y="1815222"/>
            <a:ext cx="962709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Delta NP (AMPA)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184456" y="2073972"/>
            <a:ext cx="1089287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Delta NP (GABA-A)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920793" y="3328452"/>
            <a:ext cx="725805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72B2"/>
                </a:solidFill>
                <a:latin typeface="Arial"/>
              </a:rPr>
              <a:t>12-edge sum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52021" y="4489516"/>
            <a:ext cx="1203007" cy="276448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800" b="0" i="0">
                <a:solidFill>
                  <a:srgbClr val="595959"/>
                </a:solidFill>
                <a:latin typeface="Arial"/>
              </a:rPr>
              <a:t>no edge survives
Bonferroni (12 edges)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707409" y="4963700"/>
            <a:ext cx="1317307" cy="148983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1000" b="0" i="0">
                <a:solidFill>
                  <a:srgbClr val="000000"/>
                </a:solidFill>
                <a:latin typeface="Arial"/>
              </a:rPr>
              <a:t>Empirical NP edge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208342" y="4845931"/>
            <a:ext cx="13716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e1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406368" y="4845931"/>
            <a:ext cx="13716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e2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604393" y="4845931"/>
            <a:ext cx="13716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e3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802419" y="4845931"/>
            <a:ext cx="13716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e4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000444" y="4845931"/>
            <a:ext cx="13716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e5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198470" y="4845931"/>
            <a:ext cx="13716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e6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396495" y="4845931"/>
            <a:ext cx="13716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e7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594520" y="4845931"/>
            <a:ext cx="13716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e8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792546" y="4845931"/>
            <a:ext cx="13716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e9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956281" y="4845931"/>
            <a:ext cx="20574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e10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159017" y="4845931"/>
            <a:ext cx="196319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e11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52332" y="4845931"/>
            <a:ext cx="20574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e12</a:t>
            </a:r>
          </a:p>
        </p:txBody>
      </p:sp>
      <p:sp>
        <p:nvSpPr>
          <p:cNvPr id="52" name="TextBox 51"/>
          <p:cNvSpPr txBox="1"/>
          <p:nvPr/>
        </p:nvSpPr>
        <p:spPr>
          <a:xfrm rot="16200000">
            <a:off x="-122596" y="3885508"/>
            <a:ext cx="1725930" cy="148983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1000" b="0" i="0">
                <a:solidFill>
                  <a:srgbClr val="000000"/>
                </a:solidFill>
                <a:latin typeface="Arial"/>
              </a:rPr>
              <a:t>Pearson r with mean FD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97072" y="4755762"/>
            <a:ext cx="28289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-0.15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97072" y="4535675"/>
            <a:ext cx="28289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-0.10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97072" y="4315587"/>
            <a:ext cx="28289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-0.05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35648" y="4095500"/>
            <a:ext cx="24003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0.00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35648" y="3875412"/>
            <a:ext cx="24003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0.05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35648" y="3655325"/>
            <a:ext cx="24003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0.10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35648" y="3435237"/>
            <a:ext cx="24003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0.15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35648" y="3215150"/>
            <a:ext cx="24003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0.20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35648" y="2995062"/>
            <a:ext cx="24003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0.25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205289" y="3408238"/>
            <a:ext cx="14573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Arial"/>
              </a:rPr>
              <a:t>***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550582" y="3639847"/>
            <a:ext cx="14573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Arial"/>
              </a:rPr>
              <a:t>***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473219" y="3871455"/>
            <a:ext cx="200025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800" b="0" i="0">
                <a:solidFill>
                  <a:srgbClr val="808080"/>
                </a:solidFill>
                <a:latin typeface="Arial"/>
              </a:rPr>
              <a:t>n.s.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381696" y="4103064"/>
            <a:ext cx="200025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800" b="0" i="0">
                <a:solidFill>
                  <a:srgbClr val="808080"/>
                </a:solidFill>
                <a:latin typeface="Arial"/>
              </a:rPr>
              <a:t>n.s.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974405" y="4334672"/>
            <a:ext cx="97155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Arial"/>
              </a:rPr>
              <a:t>**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345641" y="4566280"/>
            <a:ext cx="200025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800" b="0" i="0">
                <a:solidFill>
                  <a:srgbClr val="808080"/>
                </a:solidFill>
                <a:latin typeface="Arial"/>
              </a:rPr>
              <a:t>n.s.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162798" y="4960311"/>
            <a:ext cx="1911667" cy="18288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1000" b="0" i="0">
                <a:solidFill>
                  <a:srgbClr val="000000"/>
                </a:solidFill>
                <a:latin typeface="Arial"/>
              </a:rPr>
              <a:t>Group effect, partial eta^2 (%)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182975" y="4845931"/>
            <a:ext cx="6858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0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876334" y="4845931"/>
            <a:ext cx="6858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5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535404" y="4845931"/>
            <a:ext cx="13716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10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228763" y="4845931"/>
            <a:ext cx="13716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15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210458" y="3418929"/>
            <a:ext cx="1069285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Empirical NP factor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486158" y="3650538"/>
            <a:ext cx="76295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Simulated NP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959190" y="3882146"/>
            <a:ext cx="134847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Manipulated NP (AMPA)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3845269" y="4113754"/>
            <a:ext cx="147505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Manipulated NP (GABA-A)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306376" y="4345363"/>
            <a:ext cx="962709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Delta NP (AMPA)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192456" y="4576971"/>
            <a:ext cx="1089287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Delta NP (GABA-A)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5878682" y="3140401"/>
            <a:ext cx="58007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Arial"/>
              </a:rPr>
              <a:t>group only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803816" y="3261150"/>
            <a:ext cx="1328737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Arial"/>
              </a:rPr>
              <a:t>+ mean FD as covariate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530284" y="468106"/>
            <a:ext cx="97155" cy="163881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1100" b="1" i="0">
                <a:solidFill>
                  <a:srgbClr val="000000"/>
                </a:solidFill>
                <a:latin typeface="Arial"/>
              </a:rPr>
              <a:t>a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2833427" y="468106"/>
            <a:ext cx="105727" cy="163881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1100" b="1" i="0">
                <a:solidFill>
                  <a:srgbClr val="000000"/>
                </a:solidFill>
                <a:latin typeface="Arial"/>
              </a:rPr>
              <a:t>b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30284" y="2952106"/>
            <a:ext cx="97154" cy="163881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1100" b="1" i="0">
                <a:solidFill>
                  <a:srgbClr val="000000"/>
                </a:solidFill>
                <a:latin typeface="Arial"/>
              </a:rPr>
              <a:t>c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841427" y="2952106"/>
            <a:ext cx="105727" cy="163881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1100" b="1" i="0">
                <a:solidFill>
                  <a:srgbClr val="000000"/>
                </a:solidFill>
                <a:latin typeface="Arial"/>
              </a:rPr>
              <a:t>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