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5_main_A4_np12_nocaption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06246" y="658351"/>
            <a:ext cx="605790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Ketamine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17054" y="658351"/>
            <a:ext cx="694372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Midazolam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4923" y="2286951"/>
            <a:ext cx="534352" cy="14898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both 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34712" y="2286951"/>
            <a:ext cx="682942" cy="14898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any down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30022" y="2286951"/>
            <a:ext cx="534352" cy="14898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both 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9811" y="2286951"/>
            <a:ext cx="682942" cy="14898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any down</a:t>
            </a:r>
          </a:p>
        </p:txBody>
      </p:sp>
      <p:sp>
        <p:nvSpPr>
          <p:cNvPr id="9" name="TextBox 8"/>
          <p:cNvSpPr txBox="1"/>
          <p:nvPr/>
        </p:nvSpPr>
        <p:spPr>
          <a:xfrm rot="16200000">
            <a:off x="143390" y="1265196"/>
            <a:ext cx="1354454" cy="349607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Δ summed MID FC
(drug - placebo)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12" y="2261181"/>
            <a:ext cx="1114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7012" y="1887256"/>
            <a:ext cx="1114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5589" y="1513332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5589" y="1139408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5589" y="765483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5589" y="391559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203" y="878658"/>
            <a:ext cx="54292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*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78922" y="658351"/>
            <a:ext cx="517207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Placebo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11322" y="2286951"/>
            <a:ext cx="534352" cy="14898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both 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88729" y="2286951"/>
            <a:ext cx="682942" cy="14898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any down</a:t>
            </a:r>
          </a:p>
        </p:txBody>
      </p:sp>
      <p:sp>
        <p:nvSpPr>
          <p:cNvPr id="20" name="TextBox 19"/>
          <p:cNvSpPr txBox="1"/>
          <p:nvPr/>
        </p:nvSpPr>
        <p:spPr>
          <a:xfrm rot="16200000">
            <a:off x="3095633" y="1364716"/>
            <a:ext cx="1831657" cy="15056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Placebo summed MID FC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75657" y="2263962"/>
            <a:ext cx="21431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-1.0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75657" y="1986394"/>
            <a:ext cx="21431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-0.5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233" y="1708825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233" y="1431256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233" y="1153688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233" y="876119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1.5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233" y="598551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2.0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89533" y="878658"/>
            <a:ext cx="162877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***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80399" y="658180"/>
            <a:ext cx="668655" cy="135795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Simulation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27944" y="2286951"/>
            <a:ext cx="534352" cy="14898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both up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5351" y="2286951"/>
            <a:ext cx="682942" cy="14898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any down</a:t>
            </a:r>
          </a:p>
        </p:txBody>
      </p:sp>
      <p:sp>
        <p:nvSpPr>
          <p:cNvPr id="32" name="TextBox 31"/>
          <p:cNvSpPr txBox="1"/>
          <p:nvPr/>
        </p:nvSpPr>
        <p:spPr>
          <a:xfrm rot="16200000">
            <a:off x="4838829" y="1364716"/>
            <a:ext cx="1943100" cy="15056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Simulated baseline MID FC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84861" y="2283341"/>
            <a:ext cx="1114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84861" y="2019117"/>
            <a:ext cx="1114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84861" y="1754893"/>
            <a:ext cx="1114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23438" y="1490668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23438" y="1226444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23438" y="962220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23438" y="697996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23438" y="433772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87420" y="3438443"/>
            <a:ext cx="54292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*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807836" y="3135627"/>
            <a:ext cx="108585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**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67596" y="2933551"/>
            <a:ext cx="605790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Ketamine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33115" y="4562151"/>
            <a:ext cx="362902" cy="14898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MDD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95390" y="4561993"/>
            <a:ext cx="228600" cy="15056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HC</a:t>
            </a:r>
          </a:p>
        </p:txBody>
      </p:sp>
      <p:sp>
        <p:nvSpPr>
          <p:cNvPr id="46" name="TextBox 45"/>
          <p:cNvSpPr txBox="1"/>
          <p:nvPr/>
        </p:nvSpPr>
        <p:spPr>
          <a:xfrm rot="16200000">
            <a:off x="56236" y="3540396"/>
            <a:ext cx="1528762" cy="349607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Δ NP FC
(ketamine - placebo)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4429" y="4699715"/>
            <a:ext cx="21431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-7.5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4429" y="4430253"/>
            <a:ext cx="21431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-5.0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4429" y="4160792"/>
            <a:ext cx="21431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-2.5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03006" y="3891330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3006" y="3621869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2.5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3006" y="3352408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5.0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03006" y="3082946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7.5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41284" y="2813485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10.0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982372" y="3153858"/>
            <a:ext cx="108585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**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50991" y="2933551"/>
            <a:ext cx="517207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Placebo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507651" y="4562151"/>
            <a:ext cx="362902" cy="14898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MDD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269926" y="4561993"/>
            <a:ext cx="228600" cy="15056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HC</a:t>
            </a:r>
          </a:p>
        </p:txBody>
      </p:sp>
      <p:sp>
        <p:nvSpPr>
          <p:cNvPr id="59" name="TextBox 58"/>
          <p:cNvSpPr txBox="1"/>
          <p:nvPr/>
        </p:nvSpPr>
        <p:spPr>
          <a:xfrm rot="16200000">
            <a:off x="2554286" y="3639916"/>
            <a:ext cx="1094422" cy="15056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Placebo NP FC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231548" y="4576640"/>
            <a:ext cx="1114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231548" y="4183435"/>
            <a:ext cx="1114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270125" y="3790230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270125" y="3397026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270125" y="3003821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270125" y="2610616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593100" y="2933551"/>
            <a:ext cx="605790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Ketamine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394376" y="2933551"/>
            <a:ext cx="585787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900" b="0" i="0">
                <a:solidFill>
                  <a:srgbClr val="000000"/>
                </a:solidFill>
                <a:latin typeface="Arial"/>
              </a:rPr>
              <a:t>r = −0.56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620406" y="4682654"/>
            <a:ext cx="1334452" cy="151447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Δ NP FC (residual)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098327" y="4565131"/>
            <a:ext cx="1114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-4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665253" y="4565131"/>
            <a:ext cx="1114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-2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253610" y="4565131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820536" y="4565131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387462" y="4565131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74" name="TextBox 73"/>
          <p:cNvSpPr txBox="1"/>
          <p:nvPr/>
        </p:nvSpPr>
        <p:spPr>
          <a:xfrm rot="16200000">
            <a:off x="4753265" y="3541187"/>
            <a:ext cx="1151572" cy="34802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Δ symptom PC1
(residual)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482516" y="4701362"/>
            <a:ext cx="1114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482516" y="4344285"/>
            <a:ext cx="1114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-2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482516" y="3987208"/>
            <a:ext cx="1114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-1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521093" y="3630131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521093" y="3273054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521093" y="2915977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521093" y="2558900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167596" y="5208751"/>
            <a:ext cx="605790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Ketamine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940583" y="5208615"/>
            <a:ext cx="617220" cy="135449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900" b="0" i="0">
                <a:solidFill>
                  <a:srgbClr val="000000"/>
                </a:solidFill>
                <a:latin typeface="Arial"/>
              </a:rPr>
              <a:t>ρ = −0.56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40840" y="6938284"/>
            <a:ext cx="2042576" cy="34714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Similarity to AMPA-perturbed
twin (residual)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70335" y="6840331"/>
            <a:ext cx="35147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-0.050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235877" y="6840331"/>
            <a:ext cx="35147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-0.025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622850" y="6840331"/>
            <a:ext cx="30861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0.000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988392" y="6840331"/>
            <a:ext cx="30861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0.025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353933" y="6840331"/>
            <a:ext cx="30861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0.050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719475" y="6840331"/>
            <a:ext cx="30861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0.075</a:t>
            </a:r>
          </a:p>
        </p:txBody>
      </p:sp>
      <p:sp>
        <p:nvSpPr>
          <p:cNvPr id="91" name="TextBox 90"/>
          <p:cNvSpPr txBox="1"/>
          <p:nvPr/>
        </p:nvSpPr>
        <p:spPr>
          <a:xfrm rot="16200000">
            <a:off x="455301" y="5816828"/>
            <a:ext cx="728662" cy="34714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Δ MADRS
(residual)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95290" y="6789335"/>
            <a:ext cx="18002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-20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95290" y="6367731"/>
            <a:ext cx="18002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-10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95589" y="5946127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33867" y="5524523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33867" y="5102920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20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340418" y="5208751"/>
            <a:ext cx="622935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Follow-up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220560" y="5208751"/>
            <a:ext cx="500062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900" b="0" i="0">
                <a:solidFill>
                  <a:srgbClr val="000000"/>
                </a:solidFill>
                <a:latin typeface="Arial"/>
              </a:rPr>
              <a:t>r = 0.29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240850" y="6938196"/>
            <a:ext cx="1591627" cy="34802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Predicted Δ symptoms
(leave-one-out)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962703" y="6840331"/>
            <a:ext cx="18002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-15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389297" y="6840331"/>
            <a:ext cx="18002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-10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850181" y="6840331"/>
            <a:ext cx="1114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-5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298206" y="6840331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724800" y="6840331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5</a:t>
            </a:r>
          </a:p>
        </p:txBody>
      </p:sp>
      <p:sp>
        <p:nvSpPr>
          <p:cNvPr id="105" name="TextBox 104"/>
          <p:cNvSpPr txBox="1"/>
          <p:nvPr/>
        </p:nvSpPr>
        <p:spPr>
          <a:xfrm rot="16200000">
            <a:off x="2297463" y="5914676"/>
            <a:ext cx="1608772" cy="151447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Observed Δ symptoms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169826" y="7162814"/>
            <a:ext cx="18002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-30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169826" y="6715609"/>
            <a:ext cx="18002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-20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169826" y="6268404"/>
            <a:ext cx="18002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-10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270125" y="5821199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208403" y="5373994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10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3208403" y="4926789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20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877007" y="6174344"/>
            <a:ext cx="582930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Arial"/>
              </a:rPr>
              <a:t> null 95th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698218" y="5627534"/>
            <a:ext cx="162877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***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979352" y="5803221"/>
            <a:ext cx="108585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**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460181" y="5498545"/>
            <a:ext cx="162877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***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768461" y="5967233"/>
            <a:ext cx="54292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*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591386" y="5208751"/>
            <a:ext cx="622935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Follow-up</a:t>
            </a:r>
          </a:p>
        </p:txBody>
      </p:sp>
      <p:sp>
        <p:nvSpPr>
          <p:cNvPr id="118" name="TextBox 117"/>
          <p:cNvSpPr txBox="1"/>
          <p:nvPr/>
        </p:nvSpPr>
        <p:spPr>
          <a:xfrm rot="18900000">
            <a:off x="5365974" y="6988012"/>
            <a:ext cx="57150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symptoms</a:t>
            </a:r>
          </a:p>
        </p:txBody>
      </p:sp>
      <p:sp>
        <p:nvSpPr>
          <p:cNvPr id="119" name="TextBox 118"/>
          <p:cNvSpPr txBox="1"/>
          <p:nvPr/>
        </p:nvSpPr>
        <p:spPr>
          <a:xfrm rot="18900000">
            <a:off x="5649042" y="6977505"/>
            <a:ext cx="53435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simulated</a:t>
            </a:r>
          </a:p>
        </p:txBody>
      </p:sp>
      <p:sp>
        <p:nvSpPr>
          <p:cNvPr id="120" name="TextBox 119"/>
          <p:cNvSpPr txBox="1"/>
          <p:nvPr/>
        </p:nvSpPr>
        <p:spPr>
          <a:xfrm rot="18900000">
            <a:off x="5927636" y="6968615"/>
            <a:ext cx="50292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empirical</a:t>
            </a:r>
          </a:p>
        </p:txBody>
      </p:sp>
      <p:sp>
        <p:nvSpPr>
          <p:cNvPr id="121" name="TextBox 120"/>
          <p:cNvSpPr txBox="1"/>
          <p:nvPr/>
        </p:nvSpPr>
        <p:spPr>
          <a:xfrm rot="18900000">
            <a:off x="6127936" y="6988012"/>
            <a:ext cx="57150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sym + sim</a:t>
            </a:r>
          </a:p>
        </p:txBody>
      </p:sp>
      <p:sp>
        <p:nvSpPr>
          <p:cNvPr id="122" name="TextBox 121"/>
          <p:cNvSpPr txBox="1"/>
          <p:nvPr/>
        </p:nvSpPr>
        <p:spPr>
          <a:xfrm rot="18900000">
            <a:off x="6346132" y="7000943"/>
            <a:ext cx="61722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sym + emp</a:t>
            </a:r>
          </a:p>
        </p:txBody>
      </p:sp>
      <p:sp>
        <p:nvSpPr>
          <p:cNvPr id="123" name="TextBox 122"/>
          <p:cNvSpPr txBox="1"/>
          <p:nvPr/>
        </p:nvSpPr>
        <p:spPr>
          <a:xfrm rot="16200000">
            <a:off x="4444783" y="5817619"/>
            <a:ext cx="1674495" cy="34556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Leave-one-out r
(predicted vs observed)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5428510" y="6733497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0.0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5428510" y="6448753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0.1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5428510" y="6164009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0.2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428510" y="5879266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0.3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428510" y="5594522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0.4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5428510" y="5309778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5428510" y="5025034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530284" y="468106"/>
            <a:ext cx="97155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799887" y="468106"/>
            <a:ext cx="105727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b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5599662" y="468106"/>
            <a:ext cx="97155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c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529427" y="2743306"/>
            <a:ext cx="105727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d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890780" y="2743306"/>
            <a:ext cx="97155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e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5043351" y="2741996"/>
            <a:ext cx="57150" cy="165337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f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529427" y="5018148"/>
            <a:ext cx="105727" cy="164279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g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2889923" y="5018506"/>
            <a:ext cx="105727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h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998174" y="5018506"/>
            <a:ext cx="48577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