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main_A4_np1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6246" y="696738"/>
            <a:ext cx="6057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Ketamine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17054" y="696738"/>
            <a:ext cx="69437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Midazolam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4923" y="2217401"/>
            <a:ext cx="53435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4712" y="2217401"/>
            <a:ext cx="6829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22" y="2217401"/>
            <a:ext cx="53435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9811" y="2217401"/>
            <a:ext cx="6829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143390" y="1250436"/>
            <a:ext cx="1354454" cy="34960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summed MID FC
(drug - placebo)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12" y="2186228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012" y="1838172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589" y="149011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589" y="114206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589" y="79400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589" y="44594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203" y="894383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8922" y="696738"/>
            <a:ext cx="51720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Placebo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1322" y="2217401"/>
            <a:ext cx="53435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8729" y="2217401"/>
            <a:ext cx="6829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3095633" y="1349956"/>
            <a:ext cx="1831657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Placebo summed MID FC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5657" y="218881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5657" y="193045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233" y="167208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233" y="141371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233" y="115535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233" y="89698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233" y="63861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9533" y="89438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0399" y="696567"/>
            <a:ext cx="668655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7944" y="2217401"/>
            <a:ext cx="53435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5351" y="2217401"/>
            <a:ext cx="6829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32" name="TextBox 31"/>
          <p:cNvSpPr txBox="1"/>
          <p:nvPr/>
        </p:nvSpPr>
        <p:spPr>
          <a:xfrm rot="16200000">
            <a:off x="4838829" y="1349956"/>
            <a:ext cx="19431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 baseline MID FC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4861" y="2206856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4861" y="196091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4861" y="1714965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3438" y="146902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3438" y="122307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3438" y="97713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3438" y="73118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3438" y="48523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7420" y="3324900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07836" y="3043032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596" y="2862357"/>
            <a:ext cx="6057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Ketamine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3115" y="4383020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95390" y="4382861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46" name="TextBox 45"/>
          <p:cNvSpPr txBox="1"/>
          <p:nvPr/>
        </p:nvSpPr>
        <p:spPr>
          <a:xfrm rot="16200000">
            <a:off x="56236" y="3416055"/>
            <a:ext cx="1528762" cy="34960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NP FC
(ketamine - placebo)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429" y="450388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-7.5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429" y="425306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-5.0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429" y="400224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3006" y="375142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006" y="350060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3006" y="324978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3006" y="299896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284" y="274814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82372" y="3060002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0991" y="2862357"/>
            <a:ext cx="51720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Placebo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07651" y="4383020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69926" y="4382861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59" name="TextBox 58"/>
          <p:cNvSpPr txBox="1"/>
          <p:nvPr/>
        </p:nvSpPr>
        <p:spPr>
          <a:xfrm rot="16200000">
            <a:off x="2554286" y="3515575"/>
            <a:ext cx="1094422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Placebo NP FC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31548" y="438932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31548" y="4023318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70125" y="365731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70125" y="329131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70125" y="292531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70125" y="255930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93100" y="2862357"/>
            <a:ext cx="6057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Ketamine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94376" y="2862357"/>
            <a:ext cx="58578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−0.56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20406" y="4503522"/>
            <a:ext cx="1334452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NP FC (residual)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98327" y="438599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5253" y="438599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53610" y="438599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20536" y="438599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87462" y="438599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 rot="16200000">
            <a:off x="4753265" y="3416846"/>
            <a:ext cx="1151572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symptom PC1
(residual)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2516" y="4505415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2516" y="417304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2516" y="3840666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21093" y="350829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21093" y="317591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21093" y="284354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21093" y="251116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67596" y="5027976"/>
            <a:ext cx="6057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Ketamine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40583" y="5027839"/>
            <a:ext cx="617220" cy="135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ρ = −0.56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0840" y="6649572"/>
            <a:ext cx="2042576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Similarity to AMPA-perturbed
twin (residual)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0335" y="6551618"/>
            <a:ext cx="3514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-0.050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35877" y="6551618"/>
            <a:ext cx="3514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-0.025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22850" y="6551618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88392" y="6551618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0.025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53933" y="6551618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19475" y="6551618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0.075</a:t>
            </a:r>
          </a:p>
        </p:txBody>
      </p:sp>
      <p:sp>
        <p:nvSpPr>
          <p:cNvPr id="91" name="TextBox 90"/>
          <p:cNvSpPr txBox="1"/>
          <p:nvPr/>
        </p:nvSpPr>
        <p:spPr>
          <a:xfrm rot="16200000">
            <a:off x="455301" y="5582906"/>
            <a:ext cx="728662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MADRS
(residual)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5290" y="6496760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5290" y="6104322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5589" y="571188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3867" y="531944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3867" y="492701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40418" y="5027976"/>
            <a:ext cx="62293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Follow-up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20560" y="5027976"/>
            <a:ext cx="5000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0.29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40850" y="6649484"/>
            <a:ext cx="1591627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Predicted Δ symptoms
(leave-one-out)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62703" y="6551618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89297" y="6551618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50181" y="6551618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98206" y="655161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24800" y="655161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05" name="TextBox 104"/>
          <p:cNvSpPr txBox="1"/>
          <p:nvPr/>
        </p:nvSpPr>
        <p:spPr>
          <a:xfrm rot="16200000">
            <a:off x="2297463" y="5680754"/>
            <a:ext cx="1608772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Observed Δ symptoms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69826" y="684440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169826" y="642813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169826" y="6011867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70125" y="559559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08403" y="5179332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08403" y="4763064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77007" y="5923059"/>
            <a:ext cx="58293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 null 95th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98218" y="5410366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79352" y="5573899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60181" y="5290301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68461" y="5726565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91386" y="5027976"/>
            <a:ext cx="62293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Follow-up</a:t>
            </a:r>
          </a:p>
        </p:txBody>
      </p:sp>
      <p:sp>
        <p:nvSpPr>
          <p:cNvPr id="118" name="TextBox 117"/>
          <p:cNvSpPr txBox="1"/>
          <p:nvPr/>
        </p:nvSpPr>
        <p:spPr>
          <a:xfrm rot="18900000">
            <a:off x="5365974" y="6699299"/>
            <a:ext cx="57150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symptoms</a:t>
            </a:r>
          </a:p>
        </p:txBody>
      </p:sp>
      <p:sp>
        <p:nvSpPr>
          <p:cNvPr id="119" name="TextBox 118"/>
          <p:cNvSpPr txBox="1"/>
          <p:nvPr/>
        </p:nvSpPr>
        <p:spPr>
          <a:xfrm rot="18900000">
            <a:off x="5649042" y="6688792"/>
            <a:ext cx="5343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simulated</a:t>
            </a:r>
          </a:p>
        </p:txBody>
      </p:sp>
      <p:sp>
        <p:nvSpPr>
          <p:cNvPr id="120" name="TextBox 119"/>
          <p:cNvSpPr txBox="1"/>
          <p:nvPr/>
        </p:nvSpPr>
        <p:spPr>
          <a:xfrm rot="18900000">
            <a:off x="5927636" y="6679902"/>
            <a:ext cx="50292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121" name="TextBox 120"/>
          <p:cNvSpPr txBox="1"/>
          <p:nvPr/>
        </p:nvSpPr>
        <p:spPr>
          <a:xfrm rot="18900000">
            <a:off x="6127936" y="6699299"/>
            <a:ext cx="57150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sym + sim</a:t>
            </a:r>
          </a:p>
        </p:txBody>
      </p:sp>
      <p:sp>
        <p:nvSpPr>
          <p:cNvPr id="122" name="TextBox 121"/>
          <p:cNvSpPr txBox="1"/>
          <p:nvPr/>
        </p:nvSpPr>
        <p:spPr>
          <a:xfrm rot="18900000">
            <a:off x="6346132" y="6712231"/>
            <a:ext cx="61722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sym + emp</a:t>
            </a:r>
          </a:p>
        </p:txBody>
      </p:sp>
      <p:sp>
        <p:nvSpPr>
          <p:cNvPr id="123" name="TextBox 122"/>
          <p:cNvSpPr txBox="1"/>
          <p:nvPr/>
        </p:nvSpPr>
        <p:spPr>
          <a:xfrm rot="16200000">
            <a:off x="4444783" y="5583697"/>
            <a:ext cx="167449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Leave-one-out r
(predicted vs observed)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28510" y="644478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28510" y="617973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28510" y="591469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28510" y="564964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428510" y="538460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28510" y="511955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28510" y="485451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3028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799887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599662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29427" y="267375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890780" y="267375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43351" y="2672446"/>
            <a:ext cx="57150" cy="16533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9427" y="4839017"/>
            <a:ext cx="105727" cy="16427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889923" y="4839375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998174" y="4839375"/>
            <a:ext cx="4857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i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0000" y="7015687"/>
            <a:ext cx="6480000" cy="315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Fig. 5 | In vivo pharmacology and longitudinal association. </a:t>
            </a:r>
            <a:r>
              <a:rPr sz="800" b="0">
                <a:latin typeface="Arial"/>
              </a:rPr>
              <a:t>Two cohorts test the perturbation account in vivo, one panel gives its model counterpart, and a third cohort tests it prospectively. Healthy volunteers (n = 27) received placebo, ketamine and midazolam; the clinical cohort (n = 36) received placebo and ketamine; the digital twins in c are the Fig. 4 cohort (n = 288); the longitudinal cohort is the IMAGEN follow-up (n = 85). Box plots show the median, 25th-75th percentiles and 1.5 x IQR whiskers with every participant overplotted; dashed line, no change. An asterisk above a single box (d) is a two-sided one-sample t test against zero; brackets are the between-group test named below. *P &lt; 0.05, **P &lt; 0.01, ***P &lt; 0.001. The heading inside each panel names the condition or data source it shows. b, c and e make one statement in two independent drug datasets and in the model: the group whose connectivity rises under the drug is the group that starts from the lower drug-free level. In f, g and h both axes are residuals, so the grey cross marks zero on each and the coefficient in the heading band is the effect size itself (both axes being residuals, it is a partial coefficient); its P, confidence interval and n are given below. </a:t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 change in summed MID FC from placebo in the healthy cohort, split by the Fig. 4 response rule (both up n = 8, any down n = 19). Ketamine: +0.59 +/- 0.21 in both-up versus -0.25 +/- 0.58 in any-down; midazolam: +0.72 +/- 0.66 versus -0.30 +/- 0.61 (mean +/- s.d.). This panel is descriptive and carries no test: the two groups are defined by the sign of the very quantity plotted here, so any test of it would be circular. </a:t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 drug-free (placebo) level of the same two groups: -0.32 versus +0.13, two-sided Welch t = -2.83, P = 0.01. The grouping is defined on the drug-induced change and the plotted quantity is the drug-free level, so this contrast is not circular. </a:t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 the same comparison in the digital twins of the Fig. 4 cohort: simulated baseline MID FC under the both-up / any-down split defined on the NP sum (both up n = 229, any down n = 59): -0.31 +/- 0.58 versus +0.22 +/- 0.51, Welch t = -6.95, P &lt; 0.0001 -- the model reproduces the direction seen in b on the same measure. </a:t>
            </a:r>
            <a:r>
              <a:rPr sz="800" b="1">
                <a:latin typeface="Arial"/>
              </a:rPr>
              <a:t>d,</a:t>
            </a:r>
            <a:r>
              <a:rPr sz="800" b="0">
                <a:latin typeface="Arial"/>
              </a:rPr>
              <a:t> ketamine-induced change in NP FC in the clinical cohort (MDD n = 22, HC n = 14): +0.87 versus -0.93. The bracket is the group coefficient of an OLS model adjusted for age, sex, infusion order and placebo-session mean framewise displacement (beta = 2.43, t = 3.43, df = 30, P = 0.0018), not a raw two-sample test. </a:t>
            </a:r>
            <a:r>
              <a:rPr sz="800" b="1">
                <a:latin typeface="Arial"/>
              </a:rPr>
              <a:t>e,</a:t>
            </a:r>
            <a:r>
              <a:rPr sz="800" b="0">
                <a:latin typeface="Arial"/>
              </a:rPr>
              <a:t> placebo NP FC in the same cohort, same adjusted model (beta = -1.34, t = -2.77, df = 30, P = 0.0096). </a:t>
            </a:r>
            <a:r>
              <a:rPr sz="800" b="1">
                <a:latin typeface="Arial"/>
              </a:rPr>
              <a:t>f,</a:t>
            </a:r>
            <a:r>
              <a:rPr sz="800" b="0">
                <a:latin typeface="Arial"/>
              </a:rPr>
              <a:t> change in NP FC against change in the symptom PC1 in the patients (n = 22); both axes are residuals on baseline severity, age, infusion order and placebo-session mean framewise displacement, so the residual df is 16: partial r = -0.56, P = 0.016. </a:t>
            </a:r>
            <a:r>
              <a:rPr sz="800" b="1">
                <a:latin typeface="Arial"/>
              </a:rPr>
              <a:t>g,</a:t>
            </a:r>
            <a:r>
              <a:rPr sz="800" b="0">
                <a:latin typeface="Arial"/>
              </a:rPr>
              <a:t> similarity of the ketamine state to the AMPA-perturbed digital twin against MADRS change (n = 22), both residualised on age, sex, infusion order and placebo-session mean framewise displacement: Spearman rho = -0.56, P = 0.0069; permutation P = 0.0068. </a:t>
            </a:r>
            <a:r>
              <a:rPr sz="800" b="1">
                <a:latin typeface="Arial"/>
              </a:rPr>
              <a:t>h,</a:t>
            </a:r>
            <a:r>
              <a:rPr sz="800" b="0">
                <a:latin typeface="Arial"/>
              </a:rPr>
              <a:t> leave-one-out predicted against observed four-year symptom change from the 12 NP edges of each participant's unperturbed digital twin (n = 85): r = 0.29, P = 0.0072; cross-validated R^2 = 0.012. Negative values on both axes are improvement; the line is a least-squares fit shown to indicate direction, not an additional test. </a:t>
            </a:r>
            <a:r>
              <a:rPr sz="800" b="1">
                <a:latin typeface="Arial"/>
              </a:rPr>
              <a:t>i,</a:t>
            </a:r>
            <a:r>
              <a:rPr sz="800" b="0">
                <a:latin typeface="Arial"/>
              </a:rPr>
              <a:t> leave-one-out correlation between predicted and observed symptom change for five model specifications in the same n = 85: age-19 symptoms alone r = 0.35, the 12 simulated edges r = 0.29, the 12 empirical edges r = 0.13, and symptoms combined with each edge set r = 0.40 and r = 0.23. Filled bars, simulated network; open bars, empirical network. The dashed line is the 95th percentile (0.19) of a permutation null for the 12-edge simulated model in which the outcome was shuffled and the whole leave-one-out procedure repeated 2,000 times (observed P = 0.0095). *P &lt; 0.05, **P &lt; 0.01, ***P &lt; 0.001 on the leave-one-out correlation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