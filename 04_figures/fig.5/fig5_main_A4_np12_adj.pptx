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5_main_A4_np12_adj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406246" y="731076"/>
            <a:ext cx="605790" cy="134084"/>
          </a:xfrm>
          <a:prstGeom prst="rect">
            <a:avLst/>
          </a:prstGeom>
          <a:noFill/>
        </p:spPr>
        <p:txBody>
          <a:bodyPr wrap="none" anchor="ctr" lIns="0" rIns="0" tIns="0" bIns="0">
            <a:noAutofit/>
          </a:bodyPr>
          <a:lstStyle/>
          <a:p>
            <a:pPr algn="ctr"/>
            <a:r>
              <a:rPr sz="900" b="0" i="0">
                <a:solidFill>
                  <a:srgbClr val="000000"/>
                </a:solidFill>
                <a:latin typeface="Arial"/>
              </a:rPr>
              <a:t>Ketamine</a:t>
            </a:r>
          </a:p>
        </p:txBody>
      </p:sp>
      <p:sp>
        <p:nvSpPr>
          <p:cNvPr id="4" name="TextBox 3"/>
          <p:cNvSpPr txBox="1"/>
          <p:nvPr/>
        </p:nvSpPr>
        <p:spPr>
          <a:xfrm>
            <a:off x="2617054" y="731076"/>
            <a:ext cx="694372" cy="134084"/>
          </a:xfrm>
          <a:prstGeom prst="rect">
            <a:avLst/>
          </a:prstGeom>
          <a:noFill/>
        </p:spPr>
        <p:txBody>
          <a:bodyPr wrap="none" anchor="ctr" lIns="0" rIns="0" tIns="0" bIns="0">
            <a:noAutofit/>
          </a:bodyPr>
          <a:lstStyle/>
          <a:p>
            <a:pPr algn="ctr"/>
            <a:r>
              <a:rPr sz="900" b="0" i="0">
                <a:solidFill>
                  <a:srgbClr val="000000"/>
                </a:solidFill>
                <a:latin typeface="Arial"/>
              </a:rPr>
              <a:t>Midazolam</a:t>
            </a:r>
          </a:p>
        </p:txBody>
      </p:sp>
      <p:sp>
        <p:nvSpPr>
          <p:cNvPr id="5" name="TextBox 4"/>
          <p:cNvSpPr txBox="1"/>
          <p:nvPr/>
        </p:nvSpPr>
        <p:spPr>
          <a:xfrm>
            <a:off x="1174923" y="2182001"/>
            <a:ext cx="534352" cy="148983"/>
          </a:xfrm>
          <a:prstGeom prst="rect">
            <a:avLst/>
          </a:prstGeom>
          <a:noFill/>
        </p:spPr>
        <p:txBody>
          <a:bodyPr wrap="none" anchor="ctr" lIns="0" rIns="0" tIns="0" bIns="0">
            <a:noAutofit/>
          </a:bodyPr>
          <a:lstStyle/>
          <a:p>
            <a:pPr algn="ctr"/>
            <a:r>
              <a:rPr sz="1000" b="0" i="0">
                <a:solidFill>
                  <a:srgbClr val="000000"/>
                </a:solidFill>
                <a:latin typeface="Arial"/>
              </a:rPr>
              <a:t>both up</a:t>
            </a:r>
          </a:p>
        </p:txBody>
      </p:sp>
      <p:sp>
        <p:nvSpPr>
          <p:cNvPr id="6" name="TextBox 5"/>
          <p:cNvSpPr txBox="1"/>
          <p:nvPr/>
        </p:nvSpPr>
        <p:spPr>
          <a:xfrm>
            <a:off x="1634712" y="2182001"/>
            <a:ext cx="682942" cy="148983"/>
          </a:xfrm>
          <a:prstGeom prst="rect">
            <a:avLst/>
          </a:prstGeom>
          <a:noFill/>
        </p:spPr>
        <p:txBody>
          <a:bodyPr wrap="none" anchor="ctr" lIns="0" rIns="0" tIns="0" bIns="0">
            <a:noAutofit/>
          </a:bodyPr>
          <a:lstStyle/>
          <a:p>
            <a:pPr algn="ctr"/>
            <a:r>
              <a:rPr sz="1000" b="0" i="0">
                <a:solidFill>
                  <a:srgbClr val="000000"/>
                </a:solidFill>
                <a:latin typeface="Arial"/>
              </a:rPr>
              <a:t>any down</a:t>
            </a:r>
          </a:p>
        </p:txBody>
      </p:sp>
      <p:sp>
        <p:nvSpPr>
          <p:cNvPr id="7" name="TextBox 6"/>
          <p:cNvSpPr txBox="1"/>
          <p:nvPr/>
        </p:nvSpPr>
        <p:spPr>
          <a:xfrm>
            <a:off x="2430022" y="2182001"/>
            <a:ext cx="534352" cy="148983"/>
          </a:xfrm>
          <a:prstGeom prst="rect">
            <a:avLst/>
          </a:prstGeom>
          <a:noFill/>
        </p:spPr>
        <p:txBody>
          <a:bodyPr wrap="none" anchor="ctr" lIns="0" rIns="0" tIns="0" bIns="0">
            <a:noAutofit/>
          </a:bodyPr>
          <a:lstStyle/>
          <a:p>
            <a:pPr algn="ctr"/>
            <a:r>
              <a:rPr sz="1000" b="0" i="0">
                <a:solidFill>
                  <a:srgbClr val="000000"/>
                </a:solidFill>
                <a:latin typeface="Arial"/>
              </a:rPr>
              <a:t>both up</a:t>
            </a:r>
          </a:p>
        </p:txBody>
      </p:sp>
      <p:sp>
        <p:nvSpPr>
          <p:cNvPr id="8" name="TextBox 7"/>
          <p:cNvSpPr txBox="1"/>
          <p:nvPr/>
        </p:nvSpPr>
        <p:spPr>
          <a:xfrm>
            <a:off x="2889811" y="2182001"/>
            <a:ext cx="682942" cy="148983"/>
          </a:xfrm>
          <a:prstGeom prst="rect">
            <a:avLst/>
          </a:prstGeom>
          <a:noFill/>
        </p:spPr>
        <p:txBody>
          <a:bodyPr wrap="none" anchor="ctr" lIns="0" rIns="0" tIns="0" bIns="0">
            <a:noAutofit/>
          </a:bodyPr>
          <a:lstStyle/>
          <a:p>
            <a:pPr algn="ctr"/>
            <a:r>
              <a:rPr sz="1000" b="0" i="0">
                <a:solidFill>
                  <a:srgbClr val="000000"/>
                </a:solidFill>
                <a:latin typeface="Arial"/>
              </a:rPr>
              <a:t>any down</a:t>
            </a:r>
          </a:p>
        </p:txBody>
      </p:sp>
      <p:sp>
        <p:nvSpPr>
          <p:cNvPr id="9" name="TextBox 8"/>
          <p:cNvSpPr txBox="1"/>
          <p:nvPr/>
        </p:nvSpPr>
        <p:spPr>
          <a:xfrm rot="16200000">
            <a:off x="143390" y="1250436"/>
            <a:ext cx="1354454" cy="349607"/>
          </a:xfrm>
          <a:prstGeom prst="rect">
            <a:avLst/>
          </a:prstGeom>
          <a:noFill/>
        </p:spPr>
        <p:txBody>
          <a:bodyPr wrap="none" anchor="ctr" lIns="0" rIns="0" tIns="0" bIns="0">
            <a:noAutofit/>
          </a:bodyPr>
          <a:lstStyle/>
          <a:p>
            <a:pPr algn="ctr"/>
            <a:r>
              <a:rPr sz="1000" b="0" i="0">
                <a:solidFill>
                  <a:srgbClr val="000000"/>
                </a:solidFill>
                <a:latin typeface="Arial"/>
              </a:rPr>
              <a:t>Δ summed MID FC
(drug - placebo)</a:t>
            </a:r>
          </a:p>
        </p:txBody>
      </p:sp>
      <p:sp>
        <p:nvSpPr>
          <p:cNvPr id="10" name="TextBox 9"/>
          <p:cNvSpPr txBox="1"/>
          <p:nvPr/>
        </p:nvSpPr>
        <p:spPr>
          <a:xfrm>
            <a:off x="1057012" y="2147338"/>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1" name="TextBox 10"/>
          <p:cNvSpPr txBox="1"/>
          <p:nvPr/>
        </p:nvSpPr>
        <p:spPr>
          <a:xfrm>
            <a:off x="1057012" y="1815995"/>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12" name="TextBox 11"/>
          <p:cNvSpPr txBox="1"/>
          <p:nvPr/>
        </p:nvSpPr>
        <p:spPr>
          <a:xfrm>
            <a:off x="1095589" y="1484652"/>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3" name="TextBox 12"/>
          <p:cNvSpPr txBox="1"/>
          <p:nvPr/>
        </p:nvSpPr>
        <p:spPr>
          <a:xfrm>
            <a:off x="1095589" y="1153309"/>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14" name="TextBox 13"/>
          <p:cNvSpPr txBox="1"/>
          <p:nvPr/>
        </p:nvSpPr>
        <p:spPr>
          <a:xfrm>
            <a:off x="1095589" y="821966"/>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5" name="TextBox 14"/>
          <p:cNvSpPr txBox="1"/>
          <p:nvPr/>
        </p:nvSpPr>
        <p:spPr>
          <a:xfrm>
            <a:off x="1095589" y="490623"/>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16" name="TextBox 15"/>
          <p:cNvSpPr txBox="1"/>
          <p:nvPr/>
        </p:nvSpPr>
        <p:spPr>
          <a:xfrm>
            <a:off x="4727203" y="914079"/>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7" name="TextBox 16"/>
          <p:cNvSpPr txBox="1"/>
          <p:nvPr/>
        </p:nvSpPr>
        <p:spPr>
          <a:xfrm>
            <a:off x="4278922" y="731076"/>
            <a:ext cx="517207" cy="134084"/>
          </a:xfrm>
          <a:prstGeom prst="rect">
            <a:avLst/>
          </a:prstGeom>
          <a:noFill/>
        </p:spPr>
        <p:txBody>
          <a:bodyPr wrap="none" anchor="ctr" lIns="0" rIns="0" tIns="0" bIns="0">
            <a:noAutofit/>
          </a:bodyPr>
          <a:lstStyle/>
          <a:p>
            <a:pPr algn="l"/>
            <a:r>
              <a:rPr sz="900" b="0" i="0">
                <a:solidFill>
                  <a:srgbClr val="000000"/>
                </a:solidFill>
                <a:latin typeface="Arial"/>
              </a:rPr>
              <a:t>Placebo</a:t>
            </a:r>
          </a:p>
        </p:txBody>
      </p:sp>
      <p:sp>
        <p:nvSpPr>
          <p:cNvPr id="18" name="TextBox 17"/>
          <p:cNvSpPr txBox="1"/>
          <p:nvPr/>
        </p:nvSpPr>
        <p:spPr>
          <a:xfrm>
            <a:off x="4211322" y="2182001"/>
            <a:ext cx="534352" cy="148983"/>
          </a:xfrm>
          <a:prstGeom prst="rect">
            <a:avLst/>
          </a:prstGeom>
          <a:noFill/>
        </p:spPr>
        <p:txBody>
          <a:bodyPr wrap="none" anchor="ctr" lIns="0" rIns="0" tIns="0" bIns="0">
            <a:noAutofit/>
          </a:bodyPr>
          <a:lstStyle/>
          <a:p>
            <a:pPr algn="ctr"/>
            <a:r>
              <a:rPr sz="1000" b="0" i="0">
                <a:solidFill>
                  <a:srgbClr val="000000"/>
                </a:solidFill>
                <a:latin typeface="Arial"/>
              </a:rPr>
              <a:t>both up</a:t>
            </a:r>
          </a:p>
        </p:txBody>
      </p:sp>
      <p:sp>
        <p:nvSpPr>
          <p:cNvPr id="19" name="TextBox 18"/>
          <p:cNvSpPr txBox="1"/>
          <p:nvPr/>
        </p:nvSpPr>
        <p:spPr>
          <a:xfrm>
            <a:off x="4688729" y="2182001"/>
            <a:ext cx="682942" cy="148983"/>
          </a:xfrm>
          <a:prstGeom prst="rect">
            <a:avLst/>
          </a:prstGeom>
          <a:noFill/>
        </p:spPr>
        <p:txBody>
          <a:bodyPr wrap="none" anchor="ctr" lIns="0" rIns="0" tIns="0" bIns="0">
            <a:noAutofit/>
          </a:bodyPr>
          <a:lstStyle/>
          <a:p>
            <a:pPr algn="ctr"/>
            <a:r>
              <a:rPr sz="1000" b="0" i="0">
                <a:solidFill>
                  <a:srgbClr val="000000"/>
                </a:solidFill>
                <a:latin typeface="Arial"/>
              </a:rPr>
              <a:t>any down</a:t>
            </a:r>
          </a:p>
        </p:txBody>
      </p:sp>
      <p:sp>
        <p:nvSpPr>
          <p:cNvPr id="20" name="TextBox 19"/>
          <p:cNvSpPr txBox="1"/>
          <p:nvPr/>
        </p:nvSpPr>
        <p:spPr>
          <a:xfrm rot="16200000">
            <a:off x="3095633" y="1349956"/>
            <a:ext cx="1831657" cy="150566"/>
          </a:xfrm>
          <a:prstGeom prst="rect">
            <a:avLst/>
          </a:prstGeom>
          <a:noFill/>
        </p:spPr>
        <p:txBody>
          <a:bodyPr wrap="none" anchor="ctr" lIns="0" rIns="0" tIns="0" bIns="0">
            <a:noAutofit/>
          </a:bodyPr>
          <a:lstStyle/>
          <a:p>
            <a:pPr algn="ctr"/>
            <a:r>
              <a:rPr sz="1000" b="0" i="0">
                <a:solidFill>
                  <a:srgbClr val="000000"/>
                </a:solidFill>
                <a:latin typeface="Arial"/>
              </a:rPr>
              <a:t>Placebo summed MID FC</a:t>
            </a:r>
          </a:p>
        </p:txBody>
      </p:sp>
      <p:sp>
        <p:nvSpPr>
          <p:cNvPr id="21" name="TextBox 20"/>
          <p:cNvSpPr txBox="1"/>
          <p:nvPr/>
        </p:nvSpPr>
        <p:spPr>
          <a:xfrm>
            <a:off x="4075657" y="2149803"/>
            <a:ext cx="21431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2" name="TextBox 21"/>
          <p:cNvSpPr txBox="1"/>
          <p:nvPr/>
        </p:nvSpPr>
        <p:spPr>
          <a:xfrm>
            <a:off x="4075657" y="1903843"/>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23" name="TextBox 22"/>
          <p:cNvSpPr txBox="1"/>
          <p:nvPr/>
        </p:nvSpPr>
        <p:spPr>
          <a:xfrm>
            <a:off x="4114233" y="1657883"/>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24" name="TextBox 23"/>
          <p:cNvSpPr txBox="1"/>
          <p:nvPr/>
        </p:nvSpPr>
        <p:spPr>
          <a:xfrm>
            <a:off x="4114233" y="1411923"/>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25" name="TextBox 24"/>
          <p:cNvSpPr txBox="1"/>
          <p:nvPr/>
        </p:nvSpPr>
        <p:spPr>
          <a:xfrm>
            <a:off x="4114233" y="1165963"/>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6" name="TextBox 25"/>
          <p:cNvSpPr txBox="1"/>
          <p:nvPr/>
        </p:nvSpPr>
        <p:spPr>
          <a:xfrm>
            <a:off x="4114233" y="920003"/>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27" name="TextBox 26"/>
          <p:cNvSpPr txBox="1"/>
          <p:nvPr/>
        </p:nvSpPr>
        <p:spPr>
          <a:xfrm>
            <a:off x="4114233" y="674043"/>
            <a:ext cx="17145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28" name="TextBox 27"/>
          <p:cNvSpPr txBox="1"/>
          <p:nvPr/>
        </p:nvSpPr>
        <p:spPr>
          <a:xfrm>
            <a:off x="6389533" y="914079"/>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29" name="TextBox 28"/>
          <p:cNvSpPr txBox="1"/>
          <p:nvPr/>
        </p:nvSpPr>
        <p:spPr>
          <a:xfrm>
            <a:off x="5980399" y="730905"/>
            <a:ext cx="668655" cy="135795"/>
          </a:xfrm>
          <a:prstGeom prst="rect">
            <a:avLst/>
          </a:prstGeom>
          <a:noFill/>
        </p:spPr>
        <p:txBody>
          <a:bodyPr wrap="none" anchor="ctr" lIns="0" rIns="0" tIns="0" bIns="0">
            <a:noAutofit/>
          </a:bodyPr>
          <a:lstStyle/>
          <a:p>
            <a:pPr algn="l"/>
            <a:r>
              <a:rPr sz="900" b="0" i="0">
                <a:solidFill>
                  <a:srgbClr val="000000"/>
                </a:solidFill>
                <a:latin typeface="Arial"/>
              </a:rPr>
              <a:t>Simulation</a:t>
            </a:r>
          </a:p>
        </p:txBody>
      </p:sp>
      <p:sp>
        <p:nvSpPr>
          <p:cNvPr id="30" name="TextBox 29"/>
          <p:cNvSpPr txBox="1"/>
          <p:nvPr/>
        </p:nvSpPr>
        <p:spPr>
          <a:xfrm>
            <a:off x="5927944" y="2182001"/>
            <a:ext cx="534352" cy="148983"/>
          </a:xfrm>
          <a:prstGeom prst="rect">
            <a:avLst/>
          </a:prstGeom>
          <a:noFill/>
        </p:spPr>
        <p:txBody>
          <a:bodyPr wrap="none" anchor="ctr" lIns="0" rIns="0" tIns="0" bIns="0">
            <a:noAutofit/>
          </a:bodyPr>
          <a:lstStyle/>
          <a:p>
            <a:pPr algn="ctr"/>
            <a:r>
              <a:rPr sz="1000" b="0" i="0">
                <a:solidFill>
                  <a:srgbClr val="000000"/>
                </a:solidFill>
                <a:latin typeface="Arial"/>
              </a:rPr>
              <a:t>both up</a:t>
            </a:r>
          </a:p>
        </p:txBody>
      </p:sp>
      <p:sp>
        <p:nvSpPr>
          <p:cNvPr id="31" name="TextBox 30"/>
          <p:cNvSpPr txBox="1"/>
          <p:nvPr/>
        </p:nvSpPr>
        <p:spPr>
          <a:xfrm>
            <a:off x="6405351" y="2182001"/>
            <a:ext cx="682942" cy="148983"/>
          </a:xfrm>
          <a:prstGeom prst="rect">
            <a:avLst/>
          </a:prstGeom>
          <a:noFill/>
        </p:spPr>
        <p:txBody>
          <a:bodyPr wrap="none" anchor="ctr" lIns="0" rIns="0" tIns="0" bIns="0">
            <a:noAutofit/>
          </a:bodyPr>
          <a:lstStyle/>
          <a:p>
            <a:pPr algn="ctr"/>
            <a:r>
              <a:rPr sz="1000" b="0" i="0">
                <a:solidFill>
                  <a:srgbClr val="000000"/>
                </a:solidFill>
                <a:latin typeface="Arial"/>
              </a:rPr>
              <a:t>any down</a:t>
            </a:r>
          </a:p>
        </p:txBody>
      </p:sp>
      <p:sp>
        <p:nvSpPr>
          <p:cNvPr id="32" name="TextBox 31"/>
          <p:cNvSpPr txBox="1"/>
          <p:nvPr/>
        </p:nvSpPr>
        <p:spPr>
          <a:xfrm rot="16200000">
            <a:off x="4838829" y="1349956"/>
            <a:ext cx="1943100" cy="150566"/>
          </a:xfrm>
          <a:prstGeom prst="rect">
            <a:avLst/>
          </a:prstGeom>
          <a:noFill/>
        </p:spPr>
        <p:txBody>
          <a:bodyPr wrap="none" anchor="ctr" lIns="0" rIns="0" tIns="0" bIns="0">
            <a:noAutofit/>
          </a:bodyPr>
          <a:lstStyle/>
          <a:p>
            <a:pPr algn="ctr"/>
            <a:r>
              <a:rPr sz="1000" b="0" i="0">
                <a:solidFill>
                  <a:srgbClr val="000000"/>
                </a:solidFill>
                <a:latin typeface="Arial"/>
              </a:rPr>
              <a:t>Simulated baseline MID FC</a:t>
            </a:r>
          </a:p>
        </p:txBody>
      </p:sp>
      <p:sp>
        <p:nvSpPr>
          <p:cNvPr id="33" name="TextBox 32"/>
          <p:cNvSpPr txBox="1"/>
          <p:nvPr/>
        </p:nvSpPr>
        <p:spPr>
          <a:xfrm>
            <a:off x="5884861" y="2166975"/>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34" name="TextBox 33"/>
          <p:cNvSpPr txBox="1"/>
          <p:nvPr/>
        </p:nvSpPr>
        <p:spPr>
          <a:xfrm>
            <a:off x="5884861" y="1932840"/>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5" name="TextBox 34"/>
          <p:cNvSpPr txBox="1"/>
          <p:nvPr/>
        </p:nvSpPr>
        <p:spPr>
          <a:xfrm>
            <a:off x="5884861" y="1698705"/>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6" name="TextBox 35"/>
          <p:cNvSpPr txBox="1"/>
          <p:nvPr/>
        </p:nvSpPr>
        <p:spPr>
          <a:xfrm>
            <a:off x="5923438" y="146456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37" name="TextBox 36"/>
          <p:cNvSpPr txBox="1"/>
          <p:nvPr/>
        </p:nvSpPr>
        <p:spPr>
          <a:xfrm>
            <a:off x="5923438" y="1230434"/>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8" name="TextBox 37"/>
          <p:cNvSpPr txBox="1"/>
          <p:nvPr/>
        </p:nvSpPr>
        <p:spPr>
          <a:xfrm>
            <a:off x="5923438" y="99629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9" name="TextBox 38"/>
          <p:cNvSpPr txBox="1"/>
          <p:nvPr/>
        </p:nvSpPr>
        <p:spPr>
          <a:xfrm>
            <a:off x="5923438" y="762164"/>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40" name="TextBox 39"/>
          <p:cNvSpPr txBox="1"/>
          <p:nvPr/>
        </p:nvSpPr>
        <p:spPr>
          <a:xfrm>
            <a:off x="5923438" y="528029"/>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41" name="TextBox 40"/>
          <p:cNvSpPr txBox="1"/>
          <p:nvPr/>
        </p:nvSpPr>
        <p:spPr>
          <a:xfrm>
            <a:off x="1487420" y="3261127"/>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2" name="TextBox 41"/>
          <p:cNvSpPr txBox="1"/>
          <p:nvPr/>
        </p:nvSpPr>
        <p:spPr>
          <a:xfrm>
            <a:off x="1807836" y="2992794"/>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3" name="TextBox 42"/>
          <p:cNvSpPr txBox="1"/>
          <p:nvPr/>
        </p:nvSpPr>
        <p:spPr>
          <a:xfrm>
            <a:off x="1167596" y="2825945"/>
            <a:ext cx="605790" cy="134084"/>
          </a:xfrm>
          <a:prstGeom prst="rect">
            <a:avLst/>
          </a:prstGeom>
          <a:noFill/>
        </p:spPr>
        <p:txBody>
          <a:bodyPr wrap="none" anchor="ctr" lIns="0" rIns="0" tIns="0" bIns="0">
            <a:noAutofit/>
          </a:bodyPr>
          <a:lstStyle/>
          <a:p>
            <a:pPr algn="l"/>
            <a:r>
              <a:rPr sz="900" b="0" i="0">
                <a:solidFill>
                  <a:srgbClr val="000000"/>
                </a:solidFill>
                <a:latin typeface="Arial"/>
              </a:rPr>
              <a:t>Ketamine</a:t>
            </a:r>
          </a:p>
        </p:txBody>
      </p:sp>
      <p:sp>
        <p:nvSpPr>
          <p:cNvPr id="44" name="TextBox 43"/>
          <p:cNvSpPr txBox="1"/>
          <p:nvPr/>
        </p:nvSpPr>
        <p:spPr>
          <a:xfrm>
            <a:off x="1333115" y="4276870"/>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45" name="TextBox 44"/>
          <p:cNvSpPr txBox="1"/>
          <p:nvPr/>
        </p:nvSpPr>
        <p:spPr>
          <a:xfrm>
            <a:off x="2095390" y="4276712"/>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46" name="TextBox 45"/>
          <p:cNvSpPr txBox="1"/>
          <p:nvPr/>
        </p:nvSpPr>
        <p:spPr>
          <a:xfrm rot="16200000">
            <a:off x="56236" y="3345305"/>
            <a:ext cx="1528762" cy="349607"/>
          </a:xfrm>
          <a:prstGeom prst="rect">
            <a:avLst/>
          </a:prstGeom>
          <a:noFill/>
        </p:spPr>
        <p:txBody>
          <a:bodyPr wrap="none" anchor="ctr" lIns="0" rIns="0" tIns="0" bIns="0">
            <a:noAutofit/>
          </a:bodyPr>
          <a:lstStyle/>
          <a:p>
            <a:pPr algn="ctr"/>
            <a:r>
              <a:rPr sz="1000" b="0" i="0">
                <a:solidFill>
                  <a:srgbClr val="000000"/>
                </a:solidFill>
                <a:latin typeface="Arial"/>
              </a:rPr>
              <a:t>Δ NP FC
(ketamine - placebo)</a:t>
            </a:r>
          </a:p>
        </p:txBody>
      </p:sp>
      <p:sp>
        <p:nvSpPr>
          <p:cNvPr id="47" name="TextBox 46"/>
          <p:cNvSpPr txBox="1"/>
          <p:nvPr/>
        </p:nvSpPr>
        <p:spPr>
          <a:xfrm>
            <a:off x="964429" y="4386942"/>
            <a:ext cx="214312"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48" name="TextBox 47"/>
          <p:cNvSpPr txBox="1"/>
          <p:nvPr/>
        </p:nvSpPr>
        <p:spPr>
          <a:xfrm>
            <a:off x="964429" y="4148166"/>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49" name="TextBox 48"/>
          <p:cNvSpPr txBox="1"/>
          <p:nvPr/>
        </p:nvSpPr>
        <p:spPr>
          <a:xfrm>
            <a:off x="964429" y="3909390"/>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50" name="TextBox 49"/>
          <p:cNvSpPr txBox="1"/>
          <p:nvPr/>
        </p:nvSpPr>
        <p:spPr>
          <a:xfrm>
            <a:off x="1003006" y="3670614"/>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51" name="TextBox 50"/>
          <p:cNvSpPr txBox="1"/>
          <p:nvPr/>
        </p:nvSpPr>
        <p:spPr>
          <a:xfrm>
            <a:off x="1003006" y="3431838"/>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52" name="TextBox 51"/>
          <p:cNvSpPr txBox="1"/>
          <p:nvPr/>
        </p:nvSpPr>
        <p:spPr>
          <a:xfrm>
            <a:off x="1003006" y="3193062"/>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53" name="TextBox 52"/>
          <p:cNvSpPr txBox="1"/>
          <p:nvPr/>
        </p:nvSpPr>
        <p:spPr>
          <a:xfrm>
            <a:off x="1003006" y="295428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54" name="TextBox 53"/>
          <p:cNvSpPr txBox="1"/>
          <p:nvPr/>
        </p:nvSpPr>
        <p:spPr>
          <a:xfrm>
            <a:off x="941284" y="2715510"/>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55" name="TextBox 54"/>
          <p:cNvSpPr txBox="1"/>
          <p:nvPr/>
        </p:nvSpPr>
        <p:spPr>
          <a:xfrm>
            <a:off x="3982372" y="3008949"/>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6" name="TextBox 55"/>
          <p:cNvSpPr txBox="1"/>
          <p:nvPr/>
        </p:nvSpPr>
        <p:spPr>
          <a:xfrm>
            <a:off x="3350991" y="2825945"/>
            <a:ext cx="517207" cy="134084"/>
          </a:xfrm>
          <a:prstGeom prst="rect">
            <a:avLst/>
          </a:prstGeom>
          <a:noFill/>
        </p:spPr>
        <p:txBody>
          <a:bodyPr wrap="none" anchor="ctr" lIns="0" rIns="0" tIns="0" bIns="0">
            <a:noAutofit/>
          </a:bodyPr>
          <a:lstStyle/>
          <a:p>
            <a:pPr algn="l"/>
            <a:r>
              <a:rPr sz="900" b="0" i="0">
                <a:solidFill>
                  <a:srgbClr val="000000"/>
                </a:solidFill>
                <a:latin typeface="Arial"/>
              </a:rPr>
              <a:t>Placebo</a:t>
            </a:r>
          </a:p>
        </p:txBody>
      </p:sp>
      <p:sp>
        <p:nvSpPr>
          <p:cNvPr id="57" name="TextBox 56"/>
          <p:cNvSpPr txBox="1"/>
          <p:nvPr/>
        </p:nvSpPr>
        <p:spPr>
          <a:xfrm>
            <a:off x="3507651" y="4276870"/>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58" name="TextBox 57"/>
          <p:cNvSpPr txBox="1"/>
          <p:nvPr/>
        </p:nvSpPr>
        <p:spPr>
          <a:xfrm>
            <a:off x="4269926" y="4276712"/>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59" name="TextBox 58"/>
          <p:cNvSpPr txBox="1"/>
          <p:nvPr/>
        </p:nvSpPr>
        <p:spPr>
          <a:xfrm rot="16200000">
            <a:off x="2554286" y="3444826"/>
            <a:ext cx="1094422" cy="150566"/>
          </a:xfrm>
          <a:prstGeom prst="rect">
            <a:avLst/>
          </a:prstGeom>
          <a:noFill/>
        </p:spPr>
        <p:txBody>
          <a:bodyPr wrap="none" anchor="ctr" lIns="0" rIns="0" tIns="0" bIns="0">
            <a:noAutofit/>
          </a:bodyPr>
          <a:lstStyle/>
          <a:p>
            <a:pPr algn="ctr"/>
            <a:r>
              <a:rPr sz="1000" b="0" i="0">
                <a:solidFill>
                  <a:srgbClr val="000000"/>
                </a:solidFill>
                <a:latin typeface="Arial"/>
              </a:rPr>
              <a:t>Placebo NP FC</a:t>
            </a:r>
          </a:p>
        </p:txBody>
      </p:sp>
      <p:sp>
        <p:nvSpPr>
          <p:cNvPr id="60" name="TextBox 59"/>
          <p:cNvSpPr txBox="1"/>
          <p:nvPr/>
        </p:nvSpPr>
        <p:spPr>
          <a:xfrm>
            <a:off x="3231548" y="4277882"/>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61" name="TextBox 60"/>
          <p:cNvSpPr txBox="1"/>
          <p:nvPr/>
        </p:nvSpPr>
        <p:spPr>
          <a:xfrm>
            <a:off x="3231548" y="3929454"/>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62" name="TextBox 61"/>
          <p:cNvSpPr txBox="1"/>
          <p:nvPr/>
        </p:nvSpPr>
        <p:spPr>
          <a:xfrm>
            <a:off x="3270125" y="358102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63" name="TextBox 62"/>
          <p:cNvSpPr txBox="1"/>
          <p:nvPr/>
        </p:nvSpPr>
        <p:spPr>
          <a:xfrm>
            <a:off x="3270125" y="323259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64" name="TextBox 63"/>
          <p:cNvSpPr txBox="1"/>
          <p:nvPr/>
        </p:nvSpPr>
        <p:spPr>
          <a:xfrm>
            <a:off x="3270125" y="2884171"/>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65" name="TextBox 64"/>
          <p:cNvSpPr txBox="1"/>
          <p:nvPr/>
        </p:nvSpPr>
        <p:spPr>
          <a:xfrm>
            <a:off x="3270125" y="2535743"/>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66" name="TextBox 65"/>
          <p:cNvSpPr txBox="1"/>
          <p:nvPr/>
        </p:nvSpPr>
        <p:spPr>
          <a:xfrm>
            <a:off x="5593100" y="2825945"/>
            <a:ext cx="605790" cy="134084"/>
          </a:xfrm>
          <a:prstGeom prst="rect">
            <a:avLst/>
          </a:prstGeom>
          <a:noFill/>
        </p:spPr>
        <p:txBody>
          <a:bodyPr wrap="none" anchor="ctr" lIns="0" rIns="0" tIns="0" bIns="0">
            <a:noAutofit/>
          </a:bodyPr>
          <a:lstStyle/>
          <a:p>
            <a:pPr algn="l"/>
            <a:r>
              <a:rPr sz="900" b="0" i="0">
                <a:solidFill>
                  <a:srgbClr val="000000"/>
                </a:solidFill>
                <a:latin typeface="Arial"/>
              </a:rPr>
              <a:t>Ketamine</a:t>
            </a:r>
          </a:p>
        </p:txBody>
      </p:sp>
      <p:sp>
        <p:nvSpPr>
          <p:cNvPr id="67" name="TextBox 66"/>
          <p:cNvSpPr txBox="1"/>
          <p:nvPr/>
        </p:nvSpPr>
        <p:spPr>
          <a:xfrm>
            <a:off x="6394376" y="2825945"/>
            <a:ext cx="585787" cy="134084"/>
          </a:xfrm>
          <a:prstGeom prst="rect">
            <a:avLst/>
          </a:prstGeom>
          <a:noFill/>
        </p:spPr>
        <p:txBody>
          <a:bodyPr wrap="none" anchor="ctr" lIns="0" rIns="0" tIns="0" bIns="0">
            <a:noAutofit/>
          </a:bodyPr>
          <a:lstStyle/>
          <a:p>
            <a:pPr algn="r"/>
            <a:r>
              <a:rPr sz="900" b="0" i="0">
                <a:solidFill>
                  <a:srgbClr val="000000"/>
                </a:solidFill>
                <a:latin typeface="Arial"/>
              </a:rPr>
              <a:t>r = −0.56</a:t>
            </a:r>
          </a:p>
        </p:txBody>
      </p:sp>
      <p:sp>
        <p:nvSpPr>
          <p:cNvPr id="68" name="TextBox 67"/>
          <p:cNvSpPr txBox="1"/>
          <p:nvPr/>
        </p:nvSpPr>
        <p:spPr>
          <a:xfrm>
            <a:off x="5620406" y="4397373"/>
            <a:ext cx="1334452" cy="151447"/>
          </a:xfrm>
          <a:prstGeom prst="rect">
            <a:avLst/>
          </a:prstGeom>
          <a:noFill/>
        </p:spPr>
        <p:txBody>
          <a:bodyPr wrap="none" anchor="ctr" lIns="0" rIns="0" tIns="0" bIns="0">
            <a:noAutofit/>
          </a:bodyPr>
          <a:lstStyle/>
          <a:p>
            <a:pPr algn="ctr"/>
            <a:r>
              <a:rPr sz="1000" b="0" i="0">
                <a:solidFill>
                  <a:srgbClr val="000000"/>
                </a:solidFill>
                <a:latin typeface="Arial"/>
              </a:rPr>
              <a:t>Δ NP FC (residual)</a:t>
            </a:r>
          </a:p>
        </p:txBody>
      </p:sp>
      <p:sp>
        <p:nvSpPr>
          <p:cNvPr id="69" name="TextBox 68"/>
          <p:cNvSpPr txBox="1"/>
          <p:nvPr/>
        </p:nvSpPr>
        <p:spPr>
          <a:xfrm>
            <a:off x="5098327" y="4279850"/>
            <a:ext cx="111442"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70" name="TextBox 69"/>
          <p:cNvSpPr txBox="1"/>
          <p:nvPr/>
        </p:nvSpPr>
        <p:spPr>
          <a:xfrm>
            <a:off x="5665253" y="4279850"/>
            <a:ext cx="111442"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71" name="TextBox 70"/>
          <p:cNvSpPr txBox="1"/>
          <p:nvPr/>
        </p:nvSpPr>
        <p:spPr>
          <a:xfrm>
            <a:off x="6253610" y="4279850"/>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72" name="TextBox 71"/>
          <p:cNvSpPr txBox="1"/>
          <p:nvPr/>
        </p:nvSpPr>
        <p:spPr>
          <a:xfrm>
            <a:off x="6820536" y="4279850"/>
            <a:ext cx="68580"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73" name="TextBox 72"/>
          <p:cNvSpPr txBox="1"/>
          <p:nvPr/>
        </p:nvSpPr>
        <p:spPr>
          <a:xfrm>
            <a:off x="7387462" y="4279850"/>
            <a:ext cx="68580"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74" name="TextBox 73"/>
          <p:cNvSpPr txBox="1"/>
          <p:nvPr/>
        </p:nvSpPr>
        <p:spPr>
          <a:xfrm rot="16200000">
            <a:off x="4753265" y="3346097"/>
            <a:ext cx="1151572" cy="348024"/>
          </a:xfrm>
          <a:prstGeom prst="rect">
            <a:avLst/>
          </a:prstGeom>
          <a:noFill/>
        </p:spPr>
        <p:txBody>
          <a:bodyPr wrap="none" anchor="ctr" lIns="0" rIns="0" tIns="0" bIns="0">
            <a:noAutofit/>
          </a:bodyPr>
          <a:lstStyle/>
          <a:p>
            <a:pPr algn="ctr"/>
            <a:r>
              <a:rPr sz="1000" b="0" i="0">
                <a:solidFill>
                  <a:srgbClr val="000000"/>
                </a:solidFill>
                <a:latin typeface="Arial"/>
              </a:rPr>
              <a:t>Δ symptom PC1
(residual)</a:t>
            </a:r>
          </a:p>
        </p:txBody>
      </p:sp>
      <p:sp>
        <p:nvSpPr>
          <p:cNvPr id="75" name="TextBox 74"/>
          <p:cNvSpPr txBox="1"/>
          <p:nvPr/>
        </p:nvSpPr>
        <p:spPr>
          <a:xfrm>
            <a:off x="5482516" y="4388401"/>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76" name="TextBox 75"/>
          <p:cNvSpPr txBox="1"/>
          <p:nvPr/>
        </p:nvSpPr>
        <p:spPr>
          <a:xfrm>
            <a:off x="5482516" y="4071987"/>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77" name="TextBox 76"/>
          <p:cNvSpPr txBox="1"/>
          <p:nvPr/>
        </p:nvSpPr>
        <p:spPr>
          <a:xfrm>
            <a:off x="5482516" y="3755573"/>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78" name="TextBox 77"/>
          <p:cNvSpPr txBox="1"/>
          <p:nvPr/>
        </p:nvSpPr>
        <p:spPr>
          <a:xfrm>
            <a:off x="5521093" y="343915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79" name="TextBox 78"/>
          <p:cNvSpPr txBox="1"/>
          <p:nvPr/>
        </p:nvSpPr>
        <p:spPr>
          <a:xfrm>
            <a:off x="5521093" y="3122745"/>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80" name="TextBox 79"/>
          <p:cNvSpPr txBox="1"/>
          <p:nvPr/>
        </p:nvSpPr>
        <p:spPr>
          <a:xfrm>
            <a:off x="5521093" y="2806330"/>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81" name="TextBox 80"/>
          <p:cNvSpPr txBox="1"/>
          <p:nvPr/>
        </p:nvSpPr>
        <p:spPr>
          <a:xfrm>
            <a:off x="5521093" y="2489916"/>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82" name="TextBox 81"/>
          <p:cNvSpPr txBox="1"/>
          <p:nvPr/>
        </p:nvSpPr>
        <p:spPr>
          <a:xfrm>
            <a:off x="1167596" y="4920764"/>
            <a:ext cx="605790" cy="134084"/>
          </a:xfrm>
          <a:prstGeom prst="rect">
            <a:avLst/>
          </a:prstGeom>
          <a:noFill/>
        </p:spPr>
        <p:txBody>
          <a:bodyPr wrap="none" anchor="ctr" lIns="0" rIns="0" tIns="0" bIns="0">
            <a:noAutofit/>
          </a:bodyPr>
          <a:lstStyle/>
          <a:p>
            <a:pPr algn="l"/>
            <a:r>
              <a:rPr sz="900" b="0" i="0">
                <a:solidFill>
                  <a:srgbClr val="000000"/>
                </a:solidFill>
                <a:latin typeface="Arial"/>
              </a:rPr>
              <a:t>Ketamine</a:t>
            </a:r>
          </a:p>
        </p:txBody>
      </p:sp>
      <p:sp>
        <p:nvSpPr>
          <p:cNvPr id="83" name="TextBox 82"/>
          <p:cNvSpPr txBox="1"/>
          <p:nvPr/>
        </p:nvSpPr>
        <p:spPr>
          <a:xfrm>
            <a:off x="1940583" y="4920628"/>
            <a:ext cx="617220" cy="135449"/>
          </a:xfrm>
          <a:prstGeom prst="rect">
            <a:avLst/>
          </a:prstGeom>
          <a:noFill/>
        </p:spPr>
        <p:txBody>
          <a:bodyPr wrap="none" anchor="ctr" lIns="0" rIns="0" tIns="0" bIns="0">
            <a:noAutofit/>
          </a:bodyPr>
          <a:lstStyle/>
          <a:p>
            <a:pPr algn="r"/>
            <a:r>
              <a:rPr sz="900" b="0" i="0">
                <a:solidFill>
                  <a:srgbClr val="000000"/>
                </a:solidFill>
                <a:latin typeface="Arial"/>
              </a:rPr>
              <a:t>ρ = −0.56</a:t>
            </a:r>
          </a:p>
        </p:txBody>
      </p:sp>
      <p:sp>
        <p:nvSpPr>
          <p:cNvPr id="84" name="TextBox 83"/>
          <p:cNvSpPr txBox="1"/>
          <p:nvPr/>
        </p:nvSpPr>
        <p:spPr>
          <a:xfrm>
            <a:off x="840840" y="6472622"/>
            <a:ext cx="2042576" cy="347143"/>
          </a:xfrm>
          <a:prstGeom prst="rect">
            <a:avLst/>
          </a:prstGeom>
          <a:noFill/>
        </p:spPr>
        <p:txBody>
          <a:bodyPr wrap="none" anchor="ctr" lIns="0" rIns="0" tIns="0" bIns="0">
            <a:noAutofit/>
          </a:bodyPr>
          <a:lstStyle/>
          <a:p>
            <a:pPr algn="ctr"/>
            <a:r>
              <a:rPr sz="1000" b="0" i="0">
                <a:solidFill>
                  <a:srgbClr val="000000"/>
                </a:solidFill>
                <a:latin typeface="Arial"/>
              </a:rPr>
              <a:t>Similarity to AMPA-perturbed
twin (residual)</a:t>
            </a:r>
          </a:p>
        </p:txBody>
      </p:sp>
      <p:sp>
        <p:nvSpPr>
          <p:cNvPr id="85" name="TextBox 84"/>
          <p:cNvSpPr txBox="1"/>
          <p:nvPr/>
        </p:nvSpPr>
        <p:spPr>
          <a:xfrm>
            <a:off x="870335" y="6374669"/>
            <a:ext cx="351472" cy="119186"/>
          </a:xfrm>
          <a:prstGeom prst="rect">
            <a:avLst/>
          </a:prstGeom>
          <a:noFill/>
        </p:spPr>
        <p:txBody>
          <a:bodyPr wrap="none" anchor="ctr" lIns="0" rIns="0" tIns="0" bIns="0">
            <a:noAutofit/>
          </a:bodyPr>
          <a:lstStyle/>
          <a:p>
            <a:pPr algn="ctr"/>
            <a:r>
              <a:rPr sz="800" b="0" i="0">
                <a:solidFill>
                  <a:srgbClr val="000000"/>
                </a:solidFill>
                <a:latin typeface="Arial"/>
              </a:rPr>
              <a:t>-0.050</a:t>
            </a:r>
          </a:p>
        </p:txBody>
      </p:sp>
      <p:sp>
        <p:nvSpPr>
          <p:cNvPr id="86" name="TextBox 85"/>
          <p:cNvSpPr txBox="1"/>
          <p:nvPr/>
        </p:nvSpPr>
        <p:spPr>
          <a:xfrm>
            <a:off x="1235877" y="6374669"/>
            <a:ext cx="351472" cy="119186"/>
          </a:xfrm>
          <a:prstGeom prst="rect">
            <a:avLst/>
          </a:prstGeom>
          <a:noFill/>
        </p:spPr>
        <p:txBody>
          <a:bodyPr wrap="none" anchor="ctr" lIns="0" rIns="0" tIns="0" bIns="0">
            <a:noAutofit/>
          </a:bodyPr>
          <a:lstStyle/>
          <a:p>
            <a:pPr algn="ctr"/>
            <a:r>
              <a:rPr sz="800" b="0" i="0">
                <a:solidFill>
                  <a:srgbClr val="000000"/>
                </a:solidFill>
                <a:latin typeface="Arial"/>
              </a:rPr>
              <a:t>-0.025</a:t>
            </a:r>
          </a:p>
        </p:txBody>
      </p:sp>
      <p:sp>
        <p:nvSpPr>
          <p:cNvPr id="87" name="TextBox 86"/>
          <p:cNvSpPr txBox="1"/>
          <p:nvPr/>
        </p:nvSpPr>
        <p:spPr>
          <a:xfrm>
            <a:off x="1622850" y="6374669"/>
            <a:ext cx="308610" cy="119186"/>
          </a:xfrm>
          <a:prstGeom prst="rect">
            <a:avLst/>
          </a:prstGeom>
          <a:noFill/>
        </p:spPr>
        <p:txBody>
          <a:bodyPr wrap="none" anchor="ctr" lIns="0" rIns="0" tIns="0" bIns="0">
            <a:noAutofit/>
          </a:bodyPr>
          <a:lstStyle/>
          <a:p>
            <a:pPr algn="ctr"/>
            <a:r>
              <a:rPr sz="800" b="0" i="0">
                <a:solidFill>
                  <a:srgbClr val="000000"/>
                </a:solidFill>
                <a:latin typeface="Arial"/>
              </a:rPr>
              <a:t>0.000</a:t>
            </a:r>
          </a:p>
        </p:txBody>
      </p:sp>
      <p:sp>
        <p:nvSpPr>
          <p:cNvPr id="88" name="TextBox 87"/>
          <p:cNvSpPr txBox="1"/>
          <p:nvPr/>
        </p:nvSpPr>
        <p:spPr>
          <a:xfrm>
            <a:off x="1988392" y="6374669"/>
            <a:ext cx="308610" cy="119186"/>
          </a:xfrm>
          <a:prstGeom prst="rect">
            <a:avLst/>
          </a:prstGeom>
          <a:noFill/>
        </p:spPr>
        <p:txBody>
          <a:bodyPr wrap="none" anchor="ctr" lIns="0" rIns="0" tIns="0" bIns="0">
            <a:noAutofit/>
          </a:bodyPr>
          <a:lstStyle/>
          <a:p>
            <a:pPr algn="ctr"/>
            <a:r>
              <a:rPr sz="800" b="0" i="0">
                <a:solidFill>
                  <a:srgbClr val="000000"/>
                </a:solidFill>
                <a:latin typeface="Arial"/>
              </a:rPr>
              <a:t>0.025</a:t>
            </a:r>
          </a:p>
        </p:txBody>
      </p:sp>
      <p:sp>
        <p:nvSpPr>
          <p:cNvPr id="89" name="TextBox 88"/>
          <p:cNvSpPr txBox="1"/>
          <p:nvPr/>
        </p:nvSpPr>
        <p:spPr>
          <a:xfrm>
            <a:off x="2353933" y="6374669"/>
            <a:ext cx="308610" cy="119186"/>
          </a:xfrm>
          <a:prstGeom prst="rect">
            <a:avLst/>
          </a:prstGeom>
          <a:noFill/>
        </p:spPr>
        <p:txBody>
          <a:bodyPr wrap="none" anchor="ctr" lIns="0" rIns="0" tIns="0" bIns="0">
            <a:noAutofit/>
          </a:bodyPr>
          <a:lstStyle/>
          <a:p>
            <a:pPr algn="ctr"/>
            <a:r>
              <a:rPr sz="800" b="0" i="0">
                <a:solidFill>
                  <a:srgbClr val="000000"/>
                </a:solidFill>
                <a:latin typeface="Arial"/>
              </a:rPr>
              <a:t>0.050</a:t>
            </a:r>
          </a:p>
        </p:txBody>
      </p:sp>
      <p:sp>
        <p:nvSpPr>
          <p:cNvPr id="90" name="TextBox 89"/>
          <p:cNvSpPr txBox="1"/>
          <p:nvPr/>
        </p:nvSpPr>
        <p:spPr>
          <a:xfrm>
            <a:off x="2719475" y="6374669"/>
            <a:ext cx="308610" cy="119186"/>
          </a:xfrm>
          <a:prstGeom prst="rect">
            <a:avLst/>
          </a:prstGeom>
          <a:noFill/>
        </p:spPr>
        <p:txBody>
          <a:bodyPr wrap="none" anchor="ctr" lIns="0" rIns="0" tIns="0" bIns="0">
            <a:noAutofit/>
          </a:bodyPr>
          <a:lstStyle/>
          <a:p>
            <a:pPr algn="ctr"/>
            <a:r>
              <a:rPr sz="800" b="0" i="0">
                <a:solidFill>
                  <a:srgbClr val="000000"/>
                </a:solidFill>
                <a:latin typeface="Arial"/>
              </a:rPr>
              <a:t>0.075</a:t>
            </a:r>
          </a:p>
        </p:txBody>
      </p:sp>
      <p:sp>
        <p:nvSpPr>
          <p:cNvPr id="91" name="TextBox 90"/>
          <p:cNvSpPr txBox="1"/>
          <p:nvPr/>
        </p:nvSpPr>
        <p:spPr>
          <a:xfrm rot="16200000">
            <a:off x="455301" y="5441356"/>
            <a:ext cx="728662" cy="347143"/>
          </a:xfrm>
          <a:prstGeom prst="rect">
            <a:avLst/>
          </a:prstGeom>
          <a:noFill/>
        </p:spPr>
        <p:txBody>
          <a:bodyPr wrap="none" anchor="ctr" lIns="0" rIns="0" tIns="0" bIns="0">
            <a:noAutofit/>
          </a:bodyPr>
          <a:lstStyle/>
          <a:p>
            <a:pPr algn="ctr"/>
            <a:r>
              <a:rPr sz="1000" b="0" i="0">
                <a:solidFill>
                  <a:srgbClr val="000000"/>
                </a:solidFill>
                <a:latin typeface="Arial"/>
              </a:rPr>
              <a:t>Δ MADRS
(residual)</a:t>
            </a:r>
          </a:p>
        </p:txBody>
      </p:sp>
      <p:sp>
        <p:nvSpPr>
          <p:cNvPr id="92" name="TextBox 91"/>
          <p:cNvSpPr txBox="1"/>
          <p:nvPr/>
        </p:nvSpPr>
        <p:spPr>
          <a:xfrm>
            <a:off x="995290" y="6317314"/>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93" name="TextBox 92"/>
          <p:cNvSpPr txBox="1"/>
          <p:nvPr/>
        </p:nvSpPr>
        <p:spPr>
          <a:xfrm>
            <a:off x="995290" y="5943721"/>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4" name="TextBox 93"/>
          <p:cNvSpPr txBox="1"/>
          <p:nvPr/>
        </p:nvSpPr>
        <p:spPr>
          <a:xfrm>
            <a:off x="1095589" y="557012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95" name="TextBox 94"/>
          <p:cNvSpPr txBox="1"/>
          <p:nvPr/>
        </p:nvSpPr>
        <p:spPr>
          <a:xfrm>
            <a:off x="1033867" y="5196536"/>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6" name="TextBox 95"/>
          <p:cNvSpPr txBox="1"/>
          <p:nvPr/>
        </p:nvSpPr>
        <p:spPr>
          <a:xfrm>
            <a:off x="1033867" y="4822943"/>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97" name="TextBox 96"/>
          <p:cNvSpPr txBox="1"/>
          <p:nvPr/>
        </p:nvSpPr>
        <p:spPr>
          <a:xfrm>
            <a:off x="3340418" y="4920764"/>
            <a:ext cx="622935" cy="134084"/>
          </a:xfrm>
          <a:prstGeom prst="rect">
            <a:avLst/>
          </a:prstGeom>
          <a:noFill/>
        </p:spPr>
        <p:txBody>
          <a:bodyPr wrap="none" anchor="ctr" lIns="0" rIns="0" tIns="0" bIns="0">
            <a:noAutofit/>
          </a:bodyPr>
          <a:lstStyle/>
          <a:p>
            <a:pPr algn="l"/>
            <a:r>
              <a:rPr sz="900" b="0" i="0">
                <a:solidFill>
                  <a:srgbClr val="000000"/>
                </a:solidFill>
                <a:latin typeface="Arial"/>
              </a:rPr>
              <a:t>Follow-up</a:t>
            </a:r>
          </a:p>
        </p:txBody>
      </p:sp>
      <p:sp>
        <p:nvSpPr>
          <p:cNvPr id="98" name="TextBox 97"/>
          <p:cNvSpPr txBox="1"/>
          <p:nvPr/>
        </p:nvSpPr>
        <p:spPr>
          <a:xfrm>
            <a:off x="4220560" y="4920764"/>
            <a:ext cx="500062" cy="134084"/>
          </a:xfrm>
          <a:prstGeom prst="rect">
            <a:avLst/>
          </a:prstGeom>
          <a:noFill/>
        </p:spPr>
        <p:txBody>
          <a:bodyPr wrap="none" anchor="ctr" lIns="0" rIns="0" tIns="0" bIns="0">
            <a:noAutofit/>
          </a:bodyPr>
          <a:lstStyle/>
          <a:p>
            <a:pPr algn="r"/>
            <a:r>
              <a:rPr sz="900" b="0" i="0">
                <a:solidFill>
                  <a:srgbClr val="000000"/>
                </a:solidFill>
                <a:latin typeface="Arial"/>
              </a:rPr>
              <a:t>r = 0.32</a:t>
            </a:r>
          </a:p>
        </p:txBody>
      </p:sp>
      <p:sp>
        <p:nvSpPr>
          <p:cNvPr id="99" name="TextBox 98"/>
          <p:cNvSpPr txBox="1"/>
          <p:nvPr/>
        </p:nvSpPr>
        <p:spPr>
          <a:xfrm>
            <a:off x="3240850" y="6472534"/>
            <a:ext cx="1591627" cy="348024"/>
          </a:xfrm>
          <a:prstGeom prst="rect">
            <a:avLst/>
          </a:prstGeom>
          <a:noFill/>
        </p:spPr>
        <p:txBody>
          <a:bodyPr wrap="none" anchor="ctr" lIns="0" rIns="0" tIns="0" bIns="0">
            <a:noAutofit/>
          </a:bodyPr>
          <a:lstStyle/>
          <a:p>
            <a:pPr algn="ctr"/>
            <a:r>
              <a:rPr sz="1000" b="0" i="0">
                <a:solidFill>
                  <a:srgbClr val="000000"/>
                </a:solidFill>
                <a:latin typeface="Arial"/>
              </a:rPr>
              <a:t>Predicted Δ symptoms
(leave-one-out)</a:t>
            </a:r>
          </a:p>
        </p:txBody>
      </p:sp>
      <p:sp>
        <p:nvSpPr>
          <p:cNvPr id="100" name="TextBox 99"/>
          <p:cNvSpPr txBox="1"/>
          <p:nvPr/>
        </p:nvSpPr>
        <p:spPr>
          <a:xfrm>
            <a:off x="3194567" y="6374669"/>
            <a:ext cx="180022" cy="119186"/>
          </a:xfrm>
          <a:prstGeom prst="rect">
            <a:avLst/>
          </a:prstGeom>
          <a:noFill/>
        </p:spPr>
        <p:txBody>
          <a:bodyPr wrap="none" anchor="ctr" lIns="0" rIns="0" tIns="0" bIns="0">
            <a:noAutofit/>
          </a:bodyPr>
          <a:lstStyle/>
          <a:p>
            <a:pPr algn="ctr"/>
            <a:r>
              <a:rPr sz="800" b="0" i="0">
                <a:solidFill>
                  <a:srgbClr val="000000"/>
                </a:solidFill>
                <a:latin typeface="Arial"/>
              </a:rPr>
              <a:t>-20</a:t>
            </a:r>
          </a:p>
        </p:txBody>
      </p:sp>
      <p:sp>
        <p:nvSpPr>
          <p:cNvPr id="101" name="TextBox 100"/>
          <p:cNvSpPr txBox="1"/>
          <p:nvPr/>
        </p:nvSpPr>
        <p:spPr>
          <a:xfrm>
            <a:off x="3731936" y="6374669"/>
            <a:ext cx="180022"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02" name="TextBox 101"/>
          <p:cNvSpPr txBox="1"/>
          <p:nvPr/>
        </p:nvSpPr>
        <p:spPr>
          <a:xfrm>
            <a:off x="4325026" y="6374669"/>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103" name="TextBox 102"/>
          <p:cNvSpPr txBox="1"/>
          <p:nvPr/>
        </p:nvSpPr>
        <p:spPr>
          <a:xfrm>
            <a:off x="4828105" y="6374669"/>
            <a:ext cx="13716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04" name="TextBox 103"/>
          <p:cNvSpPr txBox="1"/>
          <p:nvPr/>
        </p:nvSpPr>
        <p:spPr>
          <a:xfrm rot="16200000">
            <a:off x="2297463" y="5539204"/>
            <a:ext cx="1608772" cy="151447"/>
          </a:xfrm>
          <a:prstGeom prst="rect">
            <a:avLst/>
          </a:prstGeom>
          <a:noFill/>
        </p:spPr>
        <p:txBody>
          <a:bodyPr wrap="none" anchor="ctr" lIns="0" rIns="0" tIns="0" bIns="0">
            <a:noAutofit/>
          </a:bodyPr>
          <a:lstStyle/>
          <a:p>
            <a:pPr algn="ctr"/>
            <a:r>
              <a:rPr sz="1000" b="0" i="0">
                <a:solidFill>
                  <a:srgbClr val="000000"/>
                </a:solidFill>
                <a:latin typeface="Arial"/>
              </a:rPr>
              <a:t>Observed Δ symptoms</a:t>
            </a:r>
          </a:p>
        </p:txBody>
      </p:sp>
      <p:sp>
        <p:nvSpPr>
          <p:cNvPr id="105" name="TextBox 104"/>
          <p:cNvSpPr txBox="1"/>
          <p:nvPr/>
        </p:nvSpPr>
        <p:spPr>
          <a:xfrm>
            <a:off x="3169826" y="6648263"/>
            <a:ext cx="180022"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106" name="TextBox 105"/>
          <p:cNvSpPr txBox="1"/>
          <p:nvPr/>
        </p:nvSpPr>
        <p:spPr>
          <a:xfrm>
            <a:off x="3169826" y="6251984"/>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07" name="TextBox 106"/>
          <p:cNvSpPr txBox="1"/>
          <p:nvPr/>
        </p:nvSpPr>
        <p:spPr>
          <a:xfrm>
            <a:off x="3169826" y="5855705"/>
            <a:ext cx="18002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08" name="TextBox 107"/>
          <p:cNvSpPr txBox="1"/>
          <p:nvPr/>
        </p:nvSpPr>
        <p:spPr>
          <a:xfrm>
            <a:off x="3270125" y="545942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09" name="TextBox 108"/>
          <p:cNvSpPr txBox="1"/>
          <p:nvPr/>
        </p:nvSpPr>
        <p:spPr>
          <a:xfrm>
            <a:off x="3208403" y="5063148"/>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10" name="TextBox 109"/>
          <p:cNvSpPr txBox="1"/>
          <p:nvPr/>
        </p:nvSpPr>
        <p:spPr>
          <a:xfrm>
            <a:off x="3208403" y="4666869"/>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11" name="TextBox 110"/>
          <p:cNvSpPr txBox="1"/>
          <p:nvPr/>
        </p:nvSpPr>
        <p:spPr>
          <a:xfrm>
            <a:off x="6877007" y="5717937"/>
            <a:ext cx="582930" cy="134084"/>
          </a:xfrm>
          <a:prstGeom prst="rect">
            <a:avLst/>
          </a:prstGeom>
          <a:noFill/>
        </p:spPr>
        <p:txBody>
          <a:bodyPr wrap="none" anchor="ctr" lIns="0" rIns="0" tIns="0" bIns="0">
            <a:noAutofit/>
          </a:bodyPr>
          <a:lstStyle/>
          <a:p>
            <a:pPr algn="l"/>
            <a:r>
              <a:rPr sz="900" b="0" i="0">
                <a:solidFill>
                  <a:srgbClr val="595959"/>
                </a:solidFill>
                <a:latin typeface="Arial"/>
              </a:rPr>
              <a:t> null 95th</a:t>
            </a:r>
          </a:p>
        </p:txBody>
      </p:sp>
      <p:sp>
        <p:nvSpPr>
          <p:cNvPr id="112" name="TextBox 111"/>
          <p:cNvSpPr txBox="1"/>
          <p:nvPr/>
        </p:nvSpPr>
        <p:spPr>
          <a:xfrm>
            <a:off x="5752511" y="5585981"/>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13" name="TextBox 112"/>
          <p:cNvSpPr txBox="1"/>
          <p:nvPr/>
        </p:nvSpPr>
        <p:spPr>
          <a:xfrm>
            <a:off x="5979352" y="5373238"/>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14" name="TextBox 113"/>
          <p:cNvSpPr txBox="1"/>
          <p:nvPr/>
        </p:nvSpPr>
        <p:spPr>
          <a:xfrm>
            <a:off x="6460181" y="5165726"/>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15" name="TextBox 114"/>
          <p:cNvSpPr txBox="1"/>
          <p:nvPr/>
        </p:nvSpPr>
        <p:spPr>
          <a:xfrm>
            <a:off x="5591386" y="4920764"/>
            <a:ext cx="622935" cy="134084"/>
          </a:xfrm>
          <a:prstGeom prst="rect">
            <a:avLst/>
          </a:prstGeom>
          <a:noFill/>
        </p:spPr>
        <p:txBody>
          <a:bodyPr wrap="none" anchor="ctr" lIns="0" rIns="0" tIns="0" bIns="0">
            <a:noAutofit/>
          </a:bodyPr>
          <a:lstStyle/>
          <a:p>
            <a:pPr algn="l"/>
            <a:r>
              <a:rPr sz="900" b="0" i="0">
                <a:solidFill>
                  <a:srgbClr val="000000"/>
                </a:solidFill>
                <a:latin typeface="Arial"/>
              </a:rPr>
              <a:t>Follow-up</a:t>
            </a:r>
          </a:p>
        </p:txBody>
      </p:sp>
      <p:sp>
        <p:nvSpPr>
          <p:cNvPr id="116" name="TextBox 115"/>
          <p:cNvSpPr txBox="1"/>
          <p:nvPr/>
        </p:nvSpPr>
        <p:spPr>
          <a:xfrm rot="18900000">
            <a:off x="5365974" y="6522350"/>
            <a:ext cx="571500" cy="119186"/>
          </a:xfrm>
          <a:prstGeom prst="rect">
            <a:avLst/>
          </a:prstGeom>
          <a:noFill/>
        </p:spPr>
        <p:txBody>
          <a:bodyPr wrap="none" anchor="ctr" lIns="0" rIns="0" tIns="0" bIns="0">
            <a:noAutofit/>
          </a:bodyPr>
          <a:lstStyle/>
          <a:p>
            <a:pPr algn="r"/>
            <a:r>
              <a:rPr sz="800" b="0" i="0">
                <a:solidFill>
                  <a:srgbClr val="000000"/>
                </a:solidFill>
                <a:latin typeface="Arial"/>
              </a:rPr>
              <a:t>symptoms</a:t>
            </a:r>
          </a:p>
        </p:txBody>
      </p:sp>
      <p:sp>
        <p:nvSpPr>
          <p:cNvPr id="117" name="TextBox 116"/>
          <p:cNvSpPr txBox="1"/>
          <p:nvPr/>
        </p:nvSpPr>
        <p:spPr>
          <a:xfrm rot="18900000">
            <a:off x="5649042" y="6511843"/>
            <a:ext cx="534352" cy="119186"/>
          </a:xfrm>
          <a:prstGeom prst="rect">
            <a:avLst/>
          </a:prstGeom>
          <a:noFill/>
        </p:spPr>
        <p:txBody>
          <a:bodyPr wrap="none" anchor="ctr" lIns="0" rIns="0" tIns="0" bIns="0">
            <a:noAutofit/>
          </a:bodyPr>
          <a:lstStyle/>
          <a:p>
            <a:pPr algn="r"/>
            <a:r>
              <a:rPr sz="800" b="0" i="0">
                <a:solidFill>
                  <a:srgbClr val="000000"/>
                </a:solidFill>
                <a:latin typeface="Arial"/>
              </a:rPr>
              <a:t>simulated</a:t>
            </a:r>
          </a:p>
        </p:txBody>
      </p:sp>
      <p:sp>
        <p:nvSpPr>
          <p:cNvPr id="118" name="TextBox 117"/>
          <p:cNvSpPr txBox="1"/>
          <p:nvPr/>
        </p:nvSpPr>
        <p:spPr>
          <a:xfrm rot="18900000">
            <a:off x="5927636" y="6502953"/>
            <a:ext cx="502920" cy="119186"/>
          </a:xfrm>
          <a:prstGeom prst="rect">
            <a:avLst/>
          </a:prstGeom>
          <a:noFill/>
        </p:spPr>
        <p:txBody>
          <a:bodyPr wrap="none" anchor="ctr" lIns="0" rIns="0" tIns="0" bIns="0">
            <a:noAutofit/>
          </a:bodyPr>
          <a:lstStyle/>
          <a:p>
            <a:pPr algn="r"/>
            <a:r>
              <a:rPr sz="800" b="0" i="0">
                <a:solidFill>
                  <a:srgbClr val="000000"/>
                </a:solidFill>
                <a:latin typeface="Arial"/>
              </a:rPr>
              <a:t>empirical</a:t>
            </a:r>
          </a:p>
        </p:txBody>
      </p:sp>
      <p:sp>
        <p:nvSpPr>
          <p:cNvPr id="119" name="TextBox 118"/>
          <p:cNvSpPr txBox="1"/>
          <p:nvPr/>
        </p:nvSpPr>
        <p:spPr>
          <a:xfrm rot="18900000">
            <a:off x="6127936" y="6522350"/>
            <a:ext cx="571500" cy="119186"/>
          </a:xfrm>
          <a:prstGeom prst="rect">
            <a:avLst/>
          </a:prstGeom>
          <a:noFill/>
        </p:spPr>
        <p:txBody>
          <a:bodyPr wrap="none" anchor="ctr" lIns="0" rIns="0" tIns="0" bIns="0">
            <a:noAutofit/>
          </a:bodyPr>
          <a:lstStyle/>
          <a:p>
            <a:pPr algn="r"/>
            <a:r>
              <a:rPr sz="800" b="0" i="0">
                <a:solidFill>
                  <a:srgbClr val="000000"/>
                </a:solidFill>
                <a:latin typeface="Arial"/>
              </a:rPr>
              <a:t>sym + sim</a:t>
            </a:r>
          </a:p>
        </p:txBody>
      </p:sp>
      <p:sp>
        <p:nvSpPr>
          <p:cNvPr id="120" name="TextBox 119"/>
          <p:cNvSpPr txBox="1"/>
          <p:nvPr/>
        </p:nvSpPr>
        <p:spPr>
          <a:xfrm rot="18900000">
            <a:off x="6346132" y="6535281"/>
            <a:ext cx="617220" cy="119186"/>
          </a:xfrm>
          <a:prstGeom prst="rect">
            <a:avLst/>
          </a:prstGeom>
          <a:noFill/>
        </p:spPr>
        <p:txBody>
          <a:bodyPr wrap="none" anchor="ctr" lIns="0" rIns="0" tIns="0" bIns="0">
            <a:noAutofit/>
          </a:bodyPr>
          <a:lstStyle/>
          <a:p>
            <a:pPr algn="r"/>
            <a:r>
              <a:rPr sz="800" b="0" i="0">
                <a:solidFill>
                  <a:srgbClr val="000000"/>
                </a:solidFill>
                <a:latin typeface="Arial"/>
              </a:rPr>
              <a:t>sym + emp</a:t>
            </a:r>
          </a:p>
        </p:txBody>
      </p:sp>
      <p:sp>
        <p:nvSpPr>
          <p:cNvPr id="121" name="TextBox 120"/>
          <p:cNvSpPr txBox="1"/>
          <p:nvPr/>
        </p:nvSpPr>
        <p:spPr>
          <a:xfrm rot="16200000">
            <a:off x="4444783" y="5442148"/>
            <a:ext cx="1674495" cy="345560"/>
          </a:xfrm>
          <a:prstGeom prst="rect">
            <a:avLst/>
          </a:prstGeom>
          <a:noFill/>
        </p:spPr>
        <p:txBody>
          <a:bodyPr wrap="none" anchor="ctr" lIns="0" rIns="0" tIns="0" bIns="0">
            <a:noAutofit/>
          </a:bodyPr>
          <a:lstStyle/>
          <a:p>
            <a:pPr algn="ctr"/>
            <a:r>
              <a:rPr sz="1000" b="0" i="0">
                <a:solidFill>
                  <a:srgbClr val="000000"/>
                </a:solidFill>
                <a:latin typeface="Arial"/>
              </a:rPr>
              <a:t>Leave-one-out r
(predicted vs observed)</a:t>
            </a:r>
          </a:p>
        </p:txBody>
      </p:sp>
      <p:sp>
        <p:nvSpPr>
          <p:cNvPr id="122" name="TextBox 121"/>
          <p:cNvSpPr txBox="1"/>
          <p:nvPr/>
        </p:nvSpPr>
        <p:spPr>
          <a:xfrm>
            <a:off x="5428510" y="6267835"/>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123" name="TextBox 122"/>
          <p:cNvSpPr txBox="1"/>
          <p:nvPr/>
        </p:nvSpPr>
        <p:spPr>
          <a:xfrm>
            <a:off x="5428510" y="6018721"/>
            <a:ext cx="171450" cy="119186"/>
          </a:xfrm>
          <a:prstGeom prst="rect">
            <a:avLst/>
          </a:prstGeom>
          <a:noFill/>
        </p:spPr>
        <p:txBody>
          <a:bodyPr wrap="none" anchor="ctr" lIns="0" rIns="0" tIns="0" bIns="0">
            <a:noAutofit/>
          </a:bodyPr>
          <a:lstStyle/>
          <a:p>
            <a:pPr algn="r"/>
            <a:r>
              <a:rPr sz="800" b="0" i="0">
                <a:solidFill>
                  <a:srgbClr val="000000"/>
                </a:solidFill>
                <a:latin typeface="Arial"/>
              </a:rPr>
              <a:t>0.1</a:t>
            </a:r>
          </a:p>
        </p:txBody>
      </p:sp>
      <p:sp>
        <p:nvSpPr>
          <p:cNvPr id="124" name="TextBox 123"/>
          <p:cNvSpPr txBox="1"/>
          <p:nvPr/>
        </p:nvSpPr>
        <p:spPr>
          <a:xfrm>
            <a:off x="5428510" y="5769607"/>
            <a:ext cx="171450"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125" name="TextBox 124"/>
          <p:cNvSpPr txBox="1"/>
          <p:nvPr/>
        </p:nvSpPr>
        <p:spPr>
          <a:xfrm>
            <a:off x="5428510" y="5520494"/>
            <a:ext cx="171450" cy="119186"/>
          </a:xfrm>
          <a:prstGeom prst="rect">
            <a:avLst/>
          </a:prstGeom>
          <a:noFill/>
        </p:spPr>
        <p:txBody>
          <a:bodyPr wrap="none" anchor="ctr" lIns="0" rIns="0" tIns="0" bIns="0">
            <a:noAutofit/>
          </a:bodyPr>
          <a:lstStyle/>
          <a:p>
            <a:pPr algn="r"/>
            <a:r>
              <a:rPr sz="800" b="0" i="0">
                <a:solidFill>
                  <a:srgbClr val="000000"/>
                </a:solidFill>
                <a:latin typeface="Arial"/>
              </a:rPr>
              <a:t>0.3</a:t>
            </a:r>
          </a:p>
        </p:txBody>
      </p:sp>
      <p:sp>
        <p:nvSpPr>
          <p:cNvPr id="126" name="TextBox 125"/>
          <p:cNvSpPr txBox="1"/>
          <p:nvPr/>
        </p:nvSpPr>
        <p:spPr>
          <a:xfrm>
            <a:off x="5428510" y="5271380"/>
            <a:ext cx="171450" cy="119186"/>
          </a:xfrm>
          <a:prstGeom prst="rect">
            <a:avLst/>
          </a:prstGeom>
          <a:noFill/>
        </p:spPr>
        <p:txBody>
          <a:bodyPr wrap="none" anchor="ctr" lIns="0" rIns="0" tIns="0" bIns="0">
            <a:noAutofit/>
          </a:bodyPr>
          <a:lstStyle/>
          <a:p>
            <a:pPr algn="r"/>
            <a:r>
              <a:rPr sz="800" b="0" i="0">
                <a:solidFill>
                  <a:srgbClr val="000000"/>
                </a:solidFill>
                <a:latin typeface="Arial"/>
              </a:rPr>
              <a:t>0.4</a:t>
            </a:r>
          </a:p>
        </p:txBody>
      </p:sp>
      <p:sp>
        <p:nvSpPr>
          <p:cNvPr id="127" name="TextBox 126"/>
          <p:cNvSpPr txBox="1"/>
          <p:nvPr/>
        </p:nvSpPr>
        <p:spPr>
          <a:xfrm>
            <a:off x="5428510" y="5022266"/>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128" name="TextBox 127"/>
          <p:cNvSpPr txBox="1"/>
          <p:nvPr/>
        </p:nvSpPr>
        <p:spPr>
          <a:xfrm>
            <a:off x="5428510" y="4773152"/>
            <a:ext cx="171450" cy="119186"/>
          </a:xfrm>
          <a:prstGeom prst="rect">
            <a:avLst/>
          </a:prstGeom>
          <a:noFill/>
        </p:spPr>
        <p:txBody>
          <a:bodyPr wrap="none" anchor="ctr" lIns="0" rIns="0" tIns="0" bIns="0">
            <a:noAutofit/>
          </a:bodyPr>
          <a:lstStyle/>
          <a:p>
            <a:pPr algn="r"/>
            <a:r>
              <a:rPr sz="800" b="0" i="0">
                <a:solidFill>
                  <a:srgbClr val="000000"/>
                </a:solidFill>
                <a:latin typeface="Arial"/>
              </a:rPr>
              <a:t>0.6</a:t>
            </a:r>
          </a:p>
        </p:txBody>
      </p:sp>
      <p:sp>
        <p:nvSpPr>
          <p:cNvPr id="129" name="TextBox 128"/>
          <p:cNvSpPr txBox="1"/>
          <p:nvPr/>
        </p:nvSpPr>
        <p:spPr>
          <a:xfrm>
            <a:off x="530284" y="468106"/>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130" name="TextBox 129"/>
          <p:cNvSpPr txBox="1"/>
          <p:nvPr/>
        </p:nvSpPr>
        <p:spPr>
          <a:xfrm>
            <a:off x="3799887"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131" name="TextBox 130"/>
          <p:cNvSpPr txBox="1"/>
          <p:nvPr/>
        </p:nvSpPr>
        <p:spPr>
          <a:xfrm>
            <a:off x="5599662" y="468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132" name="TextBox 131"/>
          <p:cNvSpPr txBox="1"/>
          <p:nvPr/>
        </p:nvSpPr>
        <p:spPr>
          <a:xfrm>
            <a:off x="529427" y="263835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133" name="TextBox 132"/>
          <p:cNvSpPr txBox="1"/>
          <p:nvPr/>
        </p:nvSpPr>
        <p:spPr>
          <a:xfrm>
            <a:off x="2890780" y="263835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134" name="TextBox 133"/>
          <p:cNvSpPr txBox="1"/>
          <p:nvPr/>
        </p:nvSpPr>
        <p:spPr>
          <a:xfrm>
            <a:off x="5043351" y="2637046"/>
            <a:ext cx="57150" cy="165337"/>
          </a:xfrm>
          <a:prstGeom prst="rect">
            <a:avLst/>
          </a:prstGeom>
          <a:noFill/>
        </p:spPr>
        <p:txBody>
          <a:bodyPr wrap="none" anchor="ctr" lIns="0" rIns="0" tIns="0" bIns="0">
            <a:noAutofit/>
          </a:bodyPr>
          <a:lstStyle/>
          <a:p>
            <a:pPr algn="l"/>
            <a:r>
              <a:rPr sz="1100" b="1" i="0">
                <a:solidFill>
                  <a:srgbClr val="000000"/>
                </a:solidFill>
                <a:latin typeface="Arial"/>
              </a:rPr>
              <a:t>f</a:t>
            </a:r>
          </a:p>
        </p:txBody>
      </p:sp>
      <p:sp>
        <p:nvSpPr>
          <p:cNvPr id="135" name="TextBox 134"/>
          <p:cNvSpPr txBox="1"/>
          <p:nvPr/>
        </p:nvSpPr>
        <p:spPr>
          <a:xfrm>
            <a:off x="529427" y="4732867"/>
            <a:ext cx="105727" cy="164279"/>
          </a:xfrm>
          <a:prstGeom prst="rect">
            <a:avLst/>
          </a:prstGeom>
          <a:noFill/>
        </p:spPr>
        <p:txBody>
          <a:bodyPr wrap="none" anchor="ctr" lIns="0" rIns="0" tIns="0" bIns="0">
            <a:noAutofit/>
          </a:bodyPr>
          <a:lstStyle/>
          <a:p>
            <a:pPr algn="l"/>
            <a:r>
              <a:rPr sz="1100" b="1" i="0">
                <a:solidFill>
                  <a:srgbClr val="000000"/>
                </a:solidFill>
                <a:latin typeface="Arial"/>
              </a:rPr>
              <a:t>g</a:t>
            </a:r>
          </a:p>
        </p:txBody>
      </p:sp>
      <p:sp>
        <p:nvSpPr>
          <p:cNvPr id="136" name="TextBox 135"/>
          <p:cNvSpPr txBox="1"/>
          <p:nvPr/>
        </p:nvSpPr>
        <p:spPr>
          <a:xfrm>
            <a:off x="2889923" y="4733225"/>
            <a:ext cx="105727" cy="163881"/>
          </a:xfrm>
          <a:prstGeom prst="rect">
            <a:avLst/>
          </a:prstGeom>
          <a:noFill/>
        </p:spPr>
        <p:txBody>
          <a:bodyPr wrap="none" anchor="ctr" lIns="0" rIns="0" tIns="0" bIns="0">
            <a:noAutofit/>
          </a:bodyPr>
          <a:lstStyle/>
          <a:p>
            <a:pPr algn="l"/>
            <a:r>
              <a:rPr sz="1100" b="1" i="0">
                <a:solidFill>
                  <a:srgbClr val="000000"/>
                </a:solidFill>
                <a:latin typeface="Arial"/>
              </a:rPr>
              <a:t>h</a:t>
            </a:r>
          </a:p>
        </p:txBody>
      </p:sp>
      <p:sp>
        <p:nvSpPr>
          <p:cNvPr id="137" name="TextBox 136"/>
          <p:cNvSpPr txBox="1"/>
          <p:nvPr/>
        </p:nvSpPr>
        <p:spPr>
          <a:xfrm>
            <a:off x="4998174" y="4733225"/>
            <a:ext cx="48577" cy="163881"/>
          </a:xfrm>
          <a:prstGeom prst="rect">
            <a:avLst/>
          </a:prstGeom>
          <a:noFill/>
        </p:spPr>
        <p:txBody>
          <a:bodyPr wrap="none" anchor="ctr" lIns="0" rIns="0" tIns="0" bIns="0">
            <a:noAutofit/>
          </a:bodyPr>
          <a:lstStyle/>
          <a:p>
            <a:pPr algn="l"/>
            <a:r>
              <a:rPr sz="1100" b="1" i="0">
                <a:solidFill>
                  <a:srgbClr val="000000"/>
                </a:solidFill>
                <a:latin typeface="Arial"/>
              </a:rPr>
              <a:t>i</a:t>
            </a:r>
          </a:p>
        </p:txBody>
      </p:sp>
      <p:sp>
        <p:nvSpPr>
          <p:cNvPr id="138" name="TextBox 137"/>
          <p:cNvSpPr txBox="1"/>
          <p:nvPr/>
        </p:nvSpPr>
        <p:spPr>
          <a:xfrm>
            <a:off x="540000" y="6838738"/>
            <a:ext cx="6480000" cy="3364199"/>
          </a:xfrm>
          <a:prstGeom prst="rect">
            <a:avLst/>
          </a:prstGeom>
          <a:noFill/>
        </p:spPr>
        <p:txBody>
          <a:bodyPr wrap="square" lIns="0" rIns="0" tIns="0" bIns="0">
            <a:spAutoFit/>
          </a:bodyPr>
          <a:lstStyle/>
          <a:p>
            <a:pPr algn="l"/>
            <a:r>
              <a:rPr sz="800" b="1">
                <a:latin typeface="Arial"/>
              </a:rPr>
              <a:t>Fig. 5 | In vivo pharmacology and longitudinal association. </a:t>
            </a:r>
            <a:r>
              <a:rPr sz="800" b="0">
                <a:latin typeface="Arial"/>
              </a:rPr>
              <a:t>Two cohorts test the perturbation account in vivo, one panel gives its model counterpart, and a third cohort tests it prospectively. Healthy volunteers (n = 27) received placebo, ketamine and midazolam; the clinical cohort (n = 36) received placebo and ketamine; the digital twins in c are the Fig. 4 cohort (n = 288); the longitudinal cohort is the IMAGEN follow-up (n = 85). Box plots show the median, 25th-75th percentiles and 1.5 x IQR whiskers with every participant overplotted; dashed line, no change. An asterisk above a single box (d) is a two-sided one-sample t test against zero; brackets are the between-group test named below. *P &lt; 0.05, **P &lt; 0.01, ***P &lt; 0.001. The heading inside each panel names the condition or data source it shows. b, c and e make one statement in two independent drug datasets and in the model: the group whose connectivity rises under the drug is the group that starts from the lower drug-free level. In f, g and h both axes are residuals, so the grey cross marks zero on each and the coefficient in the heading band is the effect size itself (both axes being residuals, it is a partial coefficient); its P, confidence interval and n are given below. </a:t>
            </a:r>
            <a:r>
              <a:rPr sz="800" b="1">
                <a:latin typeface="Arial"/>
              </a:rPr>
              <a:t>a,</a:t>
            </a:r>
            <a:r>
              <a:rPr sz="800" b="0">
                <a:latin typeface="Arial"/>
              </a:rPr>
              <a:t> change in summed MID FC from placebo in the healthy cohort, split by the Fig. 4 response rule (both up n = 8, any down n = 19). Ketamine: +0.59 +/- 0.21 in both-up versus -0.25 +/- 0.58 in any-down; midazolam: +0.72 +/- 0.66 versus -0.30 +/- 0.61 (mean +/- s.d.). This panel is descriptive and carries no test: the two groups are defined by the sign of the very quantity plotted here, so any test of it would be circular. </a:t>
            </a:r>
            <a:r>
              <a:rPr sz="800" b="1">
                <a:latin typeface="Arial"/>
              </a:rPr>
              <a:t>b,</a:t>
            </a:r>
            <a:r>
              <a:rPr sz="800" b="0">
                <a:latin typeface="Arial"/>
              </a:rPr>
              <a:t> drug-free (placebo) level of the same two groups: -0.32 versus +0.13, two-sided Welch t = -2.83, P = 0.01. The grouping is defined on the drug-induced change and the plotted quantity is the drug-free level, so this contrast is not circular. </a:t>
            </a:r>
            <a:r>
              <a:rPr sz="800" b="1">
                <a:latin typeface="Arial"/>
              </a:rPr>
              <a:t>c,</a:t>
            </a:r>
            <a:r>
              <a:rPr sz="800" b="0">
                <a:latin typeface="Arial"/>
              </a:rPr>
              <a:t> the same comparison in the digital twins of the Fig. 4 cohort: simulated baseline MID FC under the both-up / any-down split defined on the NP sum (both up n = 229, any down n = 59): -0.31 +/- 0.58 versus +0.22 +/- 0.51, Welch t = -6.95, P &lt; 0.0001 -- the model reproduces the direction seen in b on the same measure. </a:t>
            </a:r>
            <a:r>
              <a:rPr sz="800" b="1">
                <a:latin typeface="Arial"/>
              </a:rPr>
              <a:t>d,</a:t>
            </a:r>
            <a:r>
              <a:rPr sz="800" b="0">
                <a:latin typeface="Arial"/>
              </a:rPr>
              <a:t> ketamine-induced change in NP FC in the clinical cohort (MDD n = 22, HC n = 14): +0.87 versus -0.93. The bracket is the group coefficient of an OLS model adjusted for age, sex, infusion order and placebo-session mean framewise displacement (beta = 2.43, t = 3.43, df = 30, P = 0.0018), not a raw two-sample test. </a:t>
            </a:r>
            <a:r>
              <a:rPr sz="800" b="1">
                <a:latin typeface="Arial"/>
              </a:rPr>
              <a:t>e,</a:t>
            </a:r>
            <a:r>
              <a:rPr sz="800" b="0">
                <a:latin typeface="Arial"/>
              </a:rPr>
              <a:t> placebo NP FC in the same cohort, same adjusted model (beta = -1.34, t = -2.77, df = 30, P = 0.0096). </a:t>
            </a:r>
            <a:r>
              <a:rPr sz="800" b="1">
                <a:latin typeface="Arial"/>
              </a:rPr>
              <a:t>f,</a:t>
            </a:r>
            <a:r>
              <a:rPr sz="800" b="0">
                <a:latin typeface="Arial"/>
              </a:rPr>
              <a:t> change in NP FC against change in the symptom PC1 in the patients (n = 22); both axes are residuals on baseline severity, age, infusion order and placebo-session mean framewise displacement, so the residual df is 16: partial r = -0.56, P = 0.016. </a:t>
            </a:r>
            <a:r>
              <a:rPr sz="800" b="1">
                <a:latin typeface="Arial"/>
              </a:rPr>
              <a:t>g,</a:t>
            </a:r>
            <a:r>
              <a:rPr sz="800" b="0">
                <a:latin typeface="Arial"/>
              </a:rPr>
              <a:t> similarity of the ketamine state to the AMPA-perturbed digital twin against MADRS change (n = 22), both residualised on age, sex, infusion order and placebo-session mean framewise displacement: Spearman rho = -0.56, permutation P = 0.0068, q = 0.027 after Benjamini-Hochberg correction across the four symptom measures. </a:t>
            </a:r>
            <a:r>
              <a:rPr sz="800" b="1">
                <a:latin typeface="Arial"/>
              </a:rPr>
              <a:t>h,</a:t>
            </a:r>
            <a:r>
              <a:rPr sz="800" b="0">
                <a:latin typeface="Arial"/>
              </a:rPr>
              <a:t> leave-one-out predicted against observed four-year symptom change from the 12 NP edges of each participant's unperturbed digital twin, with sex, recruitment site and mean framewise displacement included as covariates in every model (n = 85): r = 0.32, permutation P = 0.0088; in-sample R^2 = 0.42, F(21,63) = 2.15, P = 0.0103; cross-validated R^2 = -0.053. Negative values on both axes are improvement; the line is a least-squares fit shown to indicate direction, not an additional test. </a:t>
            </a:r>
            <a:r>
              <a:rPr sz="800" b="1">
                <a:latin typeface="Arial"/>
              </a:rPr>
              <a:t>i,</a:t>
            </a:r>
            <a:r>
              <a:rPr sz="800" b="0">
                <a:latin typeface="Arial"/>
              </a:rPr>
              <a:t> leave-one-out correlation between predicted and observed symptom change for five model specifications in the same n = 85, each including sex, recruitment site and mean framewise displacement as covariates: age-19 symptoms alone r = 0.23, the 12 simulated edges r = 0.32, the 12 empirical edges r = 0.09, and symptoms combined with each edge set r = 0.40 and r = 0.19. Filled bars, simulated network; open bars, empirical network. The dashed segment above each bar is the 95th percentile of that model's own permutation null (0.19 to 0.22), obtained by shuffling the outcome and repeating the whole leave-one-out procedure 5,000 times. *P &lt; 0.05, **P &lt; 0.01, ***P &lt; 0.001 on the permutation P of the leave-one-out correlation.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