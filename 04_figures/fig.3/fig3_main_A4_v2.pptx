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main_A4_v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7504" y="1750049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 M
268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4532" y="1750049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8267" y="1750049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voxel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879" y="1750049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100 M
voxel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272" y="1750049"/>
            <a:ext cx="94297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assimilated
hyperparameters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0744" y="642266"/>
            <a:ext cx="110299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5538AA"/>
                </a:solidFill>
                <a:latin typeface="Arial"/>
              </a:rPr>
              <a:t>regional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9547" y="642266"/>
            <a:ext cx="91154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22475"/>
                </a:solidFill>
                <a:latin typeface="Arial"/>
              </a:rPr>
              <a:t>voxel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7064" y="1503099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3 M
268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3653" y="1503099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268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4532" y="1503099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8267" y="1503099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9146" y="1503099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879" y="1503099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100 M
voxel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0904" y="1503099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 B
voxel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85983" y="948441"/>
            <a:ext cx="1311592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Assimilated-region
BOLD (r)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244" y="133678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244" y="118636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244" y="103594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9244" y="88552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244" y="73511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3037" y="1283067"/>
            <a:ext cx="2628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3390" y="1281528"/>
            <a:ext cx="27717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0610" y="3503842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 M
268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3073" y="3503842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1000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7098" y="3503842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voxel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290" y="3503842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100 M
voxel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006" y="3503842"/>
            <a:ext cx="94297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assimilated
hyperparameters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8996" y="2474203"/>
            <a:ext cx="110299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5538AA"/>
                </a:solidFill>
                <a:latin typeface="Arial"/>
              </a:rPr>
              <a:t>regional models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63813" y="2474203"/>
            <a:ext cx="91154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22475"/>
                </a:solidFill>
                <a:latin typeface="Arial"/>
              </a:rPr>
              <a:t>voxel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0180" y="2474203"/>
            <a:ext cx="84582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4C4C4C"/>
                </a:solidFill>
                <a:latin typeface="Arial"/>
              </a:rPr>
              <a:t>benchmarks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5025" y="3256892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3 M
268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71904" y="3256892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268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03073" y="3256892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1000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7098" y="3256892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8267" y="3256892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290" y="3256892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100 M
voxel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20605" y="3256892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 B
voxel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68918" y="3272618"/>
            <a:ext cx="25717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4C4C"/>
                </a:solidFill>
                <a:latin typeface="Arial"/>
              </a:rPr>
              <a:t>SAR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7229" y="3272618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4C4C"/>
                </a:solidFill>
                <a:latin typeface="Arial"/>
              </a:rPr>
              <a:t>rWW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282505" y="2701443"/>
            <a:ext cx="1117282" cy="34960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Whole-brain FC
similarity (r)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9244" y="316578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9244" y="300069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244" y="283559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244" y="267050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244" y="250541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244" y="234032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9701" y="5262207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 M
268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89411" y="526220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1000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18267" y="526220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voxel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863121" y="5262207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100 M
voxel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0502" y="4267238"/>
            <a:ext cx="110299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5538AA"/>
                </a:solidFill>
                <a:latin typeface="Arial"/>
              </a:rPr>
              <a:t>regional models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12228" y="4267238"/>
            <a:ext cx="91154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22475"/>
                </a:solidFill>
                <a:latin typeface="Arial"/>
              </a:rPr>
              <a:t>voxel models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3090" y="4267238"/>
            <a:ext cx="84582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4C4C4C"/>
                </a:solidFill>
                <a:latin typeface="Arial"/>
              </a:rPr>
              <a:t>benchmarks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51701" y="5015257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3 M
268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3411" y="501525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268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89411" y="501525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1000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18267" y="501525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54267" y="501525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63121" y="5015257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100 M
voxel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26267" y="501525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 B
voxel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79412" y="5030984"/>
            <a:ext cx="25717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4C4C"/>
                </a:solidFill>
                <a:latin typeface="Arial"/>
              </a:rPr>
              <a:t>SAR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02553" y="5030984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4C4C4C"/>
                </a:solidFill>
                <a:latin typeface="Arial"/>
              </a:rPr>
              <a:t>rWW</a:t>
            </a:r>
          </a:p>
        </p:txBody>
      </p:sp>
      <p:sp>
        <p:nvSpPr>
          <p:cNvPr id="65" name="TextBox 64"/>
          <p:cNvSpPr txBox="1"/>
          <p:nvPr/>
        </p:nvSpPr>
        <p:spPr>
          <a:xfrm rot="16200000">
            <a:off x="277143" y="4460249"/>
            <a:ext cx="1128712" cy="34872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Simulation error
of NP (MSE)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9244" y="492415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9244" y="476459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9244" y="460503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9244" y="444548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9244" y="428592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9244" y="412637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80539" y="5239347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 M
268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30120" y="523934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1000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40992" y="5239347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100 M
voxel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994631" y="4224071"/>
            <a:ext cx="110299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5538AA"/>
                </a:solidFill>
                <a:latin typeface="Arial"/>
              </a:rPr>
              <a:t>regional models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58099" y="4224071"/>
            <a:ext cx="91154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22475"/>
                </a:solidFill>
                <a:latin typeface="Arial"/>
              </a:rPr>
              <a:t>voxel models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19249" y="4992397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3 M
268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07540" y="499239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268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30120" y="4992397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1000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45557" y="499239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40992" y="4992397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100 M
voxel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90719" y="4992397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 B
voxel</a:t>
            </a:r>
          </a:p>
        </p:txBody>
      </p:sp>
      <p:sp>
        <p:nvSpPr>
          <p:cNvPr id="83" name="TextBox 82"/>
          <p:cNvSpPr txBox="1"/>
          <p:nvPr/>
        </p:nvSpPr>
        <p:spPr>
          <a:xfrm rot="16200000">
            <a:off x="4158984" y="4438972"/>
            <a:ext cx="1071562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Run-to-run s.d.
of NP factor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41245" y="490129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1245" y="473653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41245" y="457177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41245" y="440701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41245" y="424225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41245" y="407750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95106" y="6700736"/>
            <a:ext cx="3923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E1D09A"/>
                </a:solidFill>
                <a:latin typeface="Arial"/>
              </a:rPr>
              <a:t>AMPA</a:t>
            </a:r>
          </a:p>
        </p:txBody>
      </p:sp>
      <p:sp>
        <p:nvSpPr>
          <p:cNvPr id="91" name="TextBox 90"/>
          <p:cNvSpPr txBox="1"/>
          <p:nvPr/>
        </p:nvSpPr>
        <p:spPr>
          <a:xfrm rot="16200000">
            <a:off x="1085033" y="7037142"/>
            <a:ext cx="4629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92" name="TextBox 91"/>
          <p:cNvSpPr txBox="1"/>
          <p:nvPr/>
        </p:nvSpPr>
        <p:spPr>
          <a:xfrm rot="16200000">
            <a:off x="1316552" y="697542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0.002</a:t>
            </a:r>
          </a:p>
        </p:txBody>
      </p:sp>
      <p:sp>
        <p:nvSpPr>
          <p:cNvPr id="93" name="TextBox 92"/>
          <p:cNvSpPr txBox="1"/>
          <p:nvPr/>
        </p:nvSpPr>
        <p:spPr>
          <a:xfrm rot="16200000">
            <a:off x="1484302" y="700285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0.0024</a:t>
            </a:r>
          </a:p>
        </p:txBody>
      </p:sp>
      <p:sp>
        <p:nvSpPr>
          <p:cNvPr id="94" name="TextBox 93"/>
          <p:cNvSpPr txBox="1"/>
          <p:nvPr/>
        </p:nvSpPr>
        <p:spPr>
          <a:xfrm rot="16200000">
            <a:off x="1686343" y="700285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0.0028</a:t>
            </a:r>
          </a:p>
        </p:txBody>
      </p:sp>
      <p:sp>
        <p:nvSpPr>
          <p:cNvPr id="95" name="TextBox 94"/>
          <p:cNvSpPr txBox="1"/>
          <p:nvPr/>
        </p:nvSpPr>
        <p:spPr>
          <a:xfrm rot="16200000">
            <a:off x="1888384" y="700285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0.0032</a:t>
            </a:r>
          </a:p>
        </p:txBody>
      </p:sp>
      <p:sp>
        <p:nvSpPr>
          <p:cNvPr id="96" name="TextBox 95"/>
          <p:cNvSpPr txBox="1"/>
          <p:nvPr/>
        </p:nvSpPr>
        <p:spPr>
          <a:xfrm rot="16200000">
            <a:off x="2090425" y="700285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0.0036</a:t>
            </a:r>
          </a:p>
        </p:txBody>
      </p:sp>
      <p:sp>
        <p:nvSpPr>
          <p:cNvPr id="97" name="TextBox 96"/>
          <p:cNvSpPr txBox="1"/>
          <p:nvPr/>
        </p:nvSpPr>
        <p:spPr>
          <a:xfrm rot="16200000">
            <a:off x="2326756" y="697542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</a:t>
            </a:r>
          </a:p>
        </p:txBody>
      </p:sp>
      <p:sp>
        <p:nvSpPr>
          <p:cNvPr id="98" name="TextBox 97"/>
          <p:cNvSpPr txBox="1"/>
          <p:nvPr/>
        </p:nvSpPr>
        <p:spPr>
          <a:xfrm rot="16200000">
            <a:off x="2494507" y="700285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0.0044</a:t>
            </a:r>
          </a:p>
        </p:txBody>
      </p:sp>
      <p:sp>
        <p:nvSpPr>
          <p:cNvPr id="99" name="TextBox 98"/>
          <p:cNvSpPr txBox="1"/>
          <p:nvPr/>
        </p:nvSpPr>
        <p:spPr>
          <a:xfrm rot="16200000">
            <a:off x="2696547" y="700285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0.0048</a:t>
            </a:r>
          </a:p>
        </p:txBody>
      </p:sp>
      <p:sp>
        <p:nvSpPr>
          <p:cNvPr id="100" name="TextBox 99"/>
          <p:cNvSpPr txBox="1"/>
          <p:nvPr/>
        </p:nvSpPr>
        <p:spPr>
          <a:xfrm rot="16200000">
            <a:off x="2898588" y="700285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0.0052</a:t>
            </a:r>
          </a:p>
        </p:txBody>
      </p:sp>
      <p:sp>
        <p:nvSpPr>
          <p:cNvPr id="101" name="TextBox 100"/>
          <p:cNvSpPr txBox="1"/>
          <p:nvPr/>
        </p:nvSpPr>
        <p:spPr>
          <a:xfrm rot="16200000">
            <a:off x="485831" y="6329707"/>
            <a:ext cx="708660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
NP factor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43251" y="679281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43251" y="662359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81827" y="645437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81827" y="628515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81827" y="611593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07643" y="5985473"/>
            <a:ext cx="20574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80273" y="5987012"/>
            <a:ext cx="32575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63489" y="5987012"/>
            <a:ext cx="30003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64711" y="7862077"/>
            <a:ext cx="5372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900" b="0" i="0">
                <a:solidFill>
                  <a:srgbClr val="96B9AD"/>
                </a:solidFill>
                <a:latin typeface="Arial"/>
              </a:rPr>
              <a:t>GABA-A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707941" y="8455125"/>
            <a:ext cx="940117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Conductance</a:t>
            </a:r>
          </a:p>
        </p:txBody>
      </p:sp>
      <p:sp>
        <p:nvSpPr>
          <p:cNvPr id="112" name="TextBox 111"/>
          <p:cNvSpPr txBox="1"/>
          <p:nvPr/>
        </p:nvSpPr>
        <p:spPr>
          <a:xfrm rot="16200000">
            <a:off x="1140768" y="8200022"/>
            <a:ext cx="4629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113" name="TextBox 112"/>
          <p:cNvSpPr txBox="1"/>
          <p:nvPr/>
        </p:nvSpPr>
        <p:spPr>
          <a:xfrm rot="16200000">
            <a:off x="1511626" y="813830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0.002</a:t>
            </a:r>
          </a:p>
        </p:txBody>
      </p:sp>
      <p:sp>
        <p:nvSpPr>
          <p:cNvPr id="114" name="TextBox 113"/>
          <p:cNvSpPr txBox="1"/>
          <p:nvPr/>
        </p:nvSpPr>
        <p:spPr>
          <a:xfrm rot="16200000">
            <a:off x="1818715" y="816573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0.0025</a:t>
            </a:r>
          </a:p>
        </p:txBody>
      </p:sp>
      <p:sp>
        <p:nvSpPr>
          <p:cNvPr id="115" name="TextBox 114"/>
          <p:cNvSpPr txBox="1"/>
          <p:nvPr/>
        </p:nvSpPr>
        <p:spPr>
          <a:xfrm rot="16200000">
            <a:off x="2194384" y="813830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0.003</a:t>
            </a:r>
          </a:p>
        </p:txBody>
      </p:sp>
      <p:sp>
        <p:nvSpPr>
          <p:cNvPr id="116" name="TextBox 115"/>
          <p:cNvSpPr txBox="1"/>
          <p:nvPr/>
        </p:nvSpPr>
        <p:spPr>
          <a:xfrm rot="16200000">
            <a:off x="2501473" y="8165732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0.0035</a:t>
            </a:r>
          </a:p>
        </p:txBody>
      </p:sp>
      <p:sp>
        <p:nvSpPr>
          <p:cNvPr id="117" name="TextBox 116"/>
          <p:cNvSpPr txBox="1"/>
          <p:nvPr/>
        </p:nvSpPr>
        <p:spPr>
          <a:xfrm rot="16200000">
            <a:off x="2877143" y="8138300"/>
            <a:ext cx="3086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0.004</a:t>
            </a:r>
          </a:p>
        </p:txBody>
      </p:sp>
      <p:sp>
        <p:nvSpPr>
          <p:cNvPr id="118" name="TextBox 117"/>
          <p:cNvSpPr txBox="1"/>
          <p:nvPr/>
        </p:nvSpPr>
        <p:spPr>
          <a:xfrm rot="16200000">
            <a:off x="485831" y="7492588"/>
            <a:ext cx="708660" cy="34714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
NP factor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3251" y="795569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43251" y="778647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81827" y="761725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81827" y="744803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81827" y="727881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338912" y="8293755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 M
268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43495" y="8293755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1000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362267" y="8293755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 M
voxel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186952" y="8293755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100 M
voxel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104671" y="6220985"/>
            <a:ext cx="1102994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5538AA"/>
                </a:solidFill>
                <a:latin typeface="Arial"/>
              </a:rPr>
              <a:t>regional models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91101" y="6220985"/>
            <a:ext cx="91154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322475"/>
                </a:solidFill>
                <a:latin typeface="Arial"/>
              </a:rPr>
              <a:t>voxel models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125954" y="8046805"/>
            <a:ext cx="20859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3 M
268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517580" y="8046805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268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943495" y="8046805"/>
            <a:ext cx="2771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538AA"/>
                </a:solidFill>
                <a:latin typeface="Arial"/>
              </a:rPr>
              <a:t>10 M
1000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362267" y="8046805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88182" y="8046805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 M
voxel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186952" y="8046805"/>
            <a:ext cx="34575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100 M
voxel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40013" y="8046805"/>
            <a:ext cx="2914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322475"/>
                </a:solidFill>
                <a:latin typeface="Arial"/>
              </a:rPr>
              <a:t>1 B
voxel</a:t>
            </a:r>
          </a:p>
        </p:txBody>
      </p:sp>
      <p:sp>
        <p:nvSpPr>
          <p:cNvPr id="137" name="TextBox 136"/>
          <p:cNvSpPr txBox="1"/>
          <p:nvPr/>
        </p:nvSpPr>
        <p:spPr>
          <a:xfrm rot="16200000">
            <a:off x="3122442" y="6909475"/>
            <a:ext cx="1148715" cy="35048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Δ NP (perturbed
- baseline)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851251" y="8227634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-4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51251" y="7782857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889828" y="733807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889828" y="6893302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889828" y="644852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889828" y="600374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028373" y="5987012"/>
            <a:ext cx="3923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670645" y="5985473"/>
            <a:ext cx="5372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52079" y="417923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49956" y="2249440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51518" y="4003234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405194" y="4003234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50813" y="5819159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410114" y="5817849"/>
            <a:ext cx="57150" cy="16533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40000" y="8688600"/>
            <a:ext cx="6480000" cy="187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Fig. 3 | Multiscale validation of the digital twin brain. </a:t>
            </a:r>
            <a:r>
              <a:rPr sz="800" b="0">
                <a:latin typeface="Arial"/>
              </a:rPr>
              <a:t>Seven DTB builds are compared throughout; they differ in the number of simulated neurons, the neuron count of the assimilated hyperparameter set and the spatial resolution of the simulation target, so every panel carries a second tick row naming the hyperparameter set, labelled once per set with a rule spanning the builds that share it. Colour encodes model family (regional versus voxel) only; benchmarks (SAR, rWW) are grey. </a:t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 Pearson correlation between simulated and measured BOLD within the assimilated regions (MID, 51 Shen labels; SST, 47), averaged over assimilated voxels; one subject × task session, 24 points per build, bar, group mean; two-sided paired t tests, n = 24, uncorrected. </a:t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 whole-brain FC similarity, mean ± s.d. across the 12 twins of the correlation between simulated and measured FC (23,436 edges among 217 nodes), per task condition (marker shape); n = 12 per point; descriptive. </a:t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 simulation error of the 12-edge NP profile against one empirical reference (FC recomputed from the simulated voxels); median, 25th–75th percentiles, 1.5 × IQR whiskers, all 12 twins overplotted; paired t tests, df = 11, uncorrected. Benchmarks are scored against the Shen-268 task FC their coupling was fitted to and are not on the DTB scale. </a:t>
            </a:r>
            <a:r>
              <a:rPr sz="800" b="1">
                <a:latin typeface="Arial"/>
              </a:rPr>
              <a:t>d,</a:t>
            </a:r>
            <a:r>
              <a:rPr sz="800" b="0">
                <a:latin typeface="Arial"/>
              </a:rPr>
              <a:t> run-to-run variability: mean across twins of the within-subject s.d. of the NP factor over 5 repeats; error bars, s.d. across twins; the single-run 10 M voxel own-hyperparameter build is omitted; descriptive. </a:t>
            </a:r>
            <a:r>
              <a:rPr sz="800" b="1">
                <a:latin typeface="Arial"/>
              </a:rPr>
              <a:t>e,</a:t>
            </a:r>
            <a:r>
              <a:rPr sz="800" b="0">
                <a:latin typeface="Arial"/>
              </a:rPr>
              <a:t> NP factor across the AMPA (upper; 9 settings, 0.0020–0.0052) and GABA-A (lower; 5 settings, 0.0020–0.0040) conductance sweeps in three twins (HC, MDD, AUD), stacked. The first column of each segment is that twin's own unperturbed baseline, the same value in both segments; the GABA-A settings themselves are applied on top of the AMPA perturbation, as in f. Colour marks the perturbation, marker and dash pattern the twin; vertical dashed line and bold tick, AMPA 0.0044 and GABA-A 0.0040; descriptive only, no test at n = 3. </a:t>
            </a:r>
            <a:r>
              <a:rPr sz="800" b="1">
                <a:latin typeface="Arial"/>
              </a:rPr>
              <a:t>f,</a:t>
            </a:r>
            <a:r>
              <a:rPr sz="800" b="0">
                <a:latin typeface="Arial"/>
              </a:rPr>
              <a:t> change in summed NP after AMPA and after GABA-A perturbation in all seven builds; points, twins; bar, group mean; n = 12 per build × perturbation; two-sided one-sample t tests against zero, df = 11, Benjamini–Hochberg FDR across the 14 tests. Only the two 268-region builds survive correction, and only under GABA-A; GABA-A is applied on top of AMPA.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