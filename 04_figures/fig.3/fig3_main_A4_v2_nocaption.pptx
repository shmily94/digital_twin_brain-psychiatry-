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main_A4_v2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7504" y="2132729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4532" y="213272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267" y="213272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879" y="2132729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272" y="2132729"/>
            <a:ext cx="94297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assimilated
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744" y="616754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9547" y="616754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7064" y="1885779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3653" y="188577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4532" y="188577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8267" y="188577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146" y="188577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879" y="1885779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0904" y="188577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85983" y="1139781"/>
            <a:ext cx="1311592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Assimilated-region
BOLD (r)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244" y="16769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244" y="14414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244" y="120602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244" y="97056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244" y="73511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3037" y="1665747"/>
            <a:ext cx="2628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3390" y="1664208"/>
            <a:ext cx="27717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0610" y="4269202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3073" y="426920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7098" y="426920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290" y="4269202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006" y="4269202"/>
            <a:ext cx="94297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assimilated
hyperparameters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8996" y="2875550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3813" y="2875550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0180" y="2875550"/>
            <a:ext cx="84582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4C4C4C"/>
                </a:solidFill>
                <a:latin typeface="Arial"/>
              </a:rPr>
              <a:t>benchmarks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5025" y="4022252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1904" y="402225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3073" y="402225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7098" y="402225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8267" y="402225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290" y="4022252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20605" y="402225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8918" y="4037978"/>
            <a:ext cx="2571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SAR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7229" y="4037978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rWW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282505" y="3275463"/>
            <a:ext cx="1117282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Whole-brain FC
similarity (r)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244" y="39311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244" y="367271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244" y="341428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244" y="31558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244" y="289742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244" y="263899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9701" y="641024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9411" y="641024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8267" y="641024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63121" y="641024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0502" y="5070866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2228" y="5070866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3090" y="5070866"/>
            <a:ext cx="84582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4C4C4C"/>
                </a:solidFill>
                <a:latin typeface="Arial"/>
              </a:rPr>
              <a:t>benchmarks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1701" y="616329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3411" y="616329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89411" y="616329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8267" y="616329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54267" y="616329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3121" y="616329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26267" y="616329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79412" y="6179024"/>
            <a:ext cx="2571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SAR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2553" y="617902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rWW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77143" y="5416949"/>
            <a:ext cx="1128712" cy="34872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Simulation error
of NP (MSE)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9244" y="607219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244" y="582242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9244" y="557266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9244" y="532290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244" y="50731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9244" y="482338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0539" y="638738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0120" y="638738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40992" y="638738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94631" y="5016219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8099" y="5016219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19249" y="614043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07540" y="614043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30120" y="614043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57" y="614043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40992" y="614043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90719" y="614043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83" name="TextBox 82"/>
          <p:cNvSpPr txBox="1"/>
          <p:nvPr/>
        </p:nvSpPr>
        <p:spPr>
          <a:xfrm rot="16200000">
            <a:off x="4158984" y="5395672"/>
            <a:ext cx="107156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Run-to-run s.d.
of NP factor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1245" y="604933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245" y="579142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1245" y="553351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1245" y="527561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41245" y="501770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41245" y="475980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95106" y="8219976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E1D09A"/>
                </a:solidFill>
                <a:latin typeface="Arial"/>
              </a:rPr>
              <a:t>AMPA</a:t>
            </a:r>
          </a:p>
        </p:txBody>
      </p:sp>
      <p:sp>
        <p:nvSpPr>
          <p:cNvPr id="91" name="TextBox 90"/>
          <p:cNvSpPr txBox="1"/>
          <p:nvPr/>
        </p:nvSpPr>
        <p:spPr>
          <a:xfrm rot="16200000">
            <a:off x="1085033" y="8567862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92" name="TextBox 91"/>
          <p:cNvSpPr txBox="1"/>
          <p:nvPr/>
        </p:nvSpPr>
        <p:spPr>
          <a:xfrm rot="16200000">
            <a:off x="1316552" y="850614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93" name="TextBox 92"/>
          <p:cNvSpPr txBox="1"/>
          <p:nvPr/>
        </p:nvSpPr>
        <p:spPr>
          <a:xfrm rot="16200000">
            <a:off x="1484302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0.0024</a:t>
            </a:r>
          </a:p>
        </p:txBody>
      </p:sp>
      <p:sp>
        <p:nvSpPr>
          <p:cNvPr id="94" name="TextBox 93"/>
          <p:cNvSpPr txBox="1"/>
          <p:nvPr/>
        </p:nvSpPr>
        <p:spPr>
          <a:xfrm rot="16200000">
            <a:off x="1686343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0.0028</a:t>
            </a:r>
          </a:p>
        </p:txBody>
      </p:sp>
      <p:sp>
        <p:nvSpPr>
          <p:cNvPr id="95" name="TextBox 94"/>
          <p:cNvSpPr txBox="1"/>
          <p:nvPr/>
        </p:nvSpPr>
        <p:spPr>
          <a:xfrm rot="16200000">
            <a:off x="1888384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0.0032</a:t>
            </a:r>
          </a:p>
        </p:txBody>
      </p:sp>
      <p:sp>
        <p:nvSpPr>
          <p:cNvPr id="96" name="TextBox 95"/>
          <p:cNvSpPr txBox="1"/>
          <p:nvPr/>
        </p:nvSpPr>
        <p:spPr>
          <a:xfrm rot="16200000">
            <a:off x="2090425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0.0036</a:t>
            </a:r>
          </a:p>
        </p:txBody>
      </p:sp>
      <p:sp>
        <p:nvSpPr>
          <p:cNvPr id="97" name="TextBox 96"/>
          <p:cNvSpPr txBox="1"/>
          <p:nvPr/>
        </p:nvSpPr>
        <p:spPr>
          <a:xfrm rot="16200000">
            <a:off x="2326756" y="850614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98" name="TextBox 97"/>
          <p:cNvSpPr txBox="1"/>
          <p:nvPr/>
        </p:nvSpPr>
        <p:spPr>
          <a:xfrm rot="16200000">
            <a:off x="2494507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0.0044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2696547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0.0048</a:t>
            </a:r>
          </a:p>
        </p:txBody>
      </p:sp>
      <p:sp>
        <p:nvSpPr>
          <p:cNvPr id="100" name="TextBox 99"/>
          <p:cNvSpPr txBox="1"/>
          <p:nvPr/>
        </p:nvSpPr>
        <p:spPr>
          <a:xfrm rot="16200000">
            <a:off x="2898588" y="853357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0.0052</a:t>
            </a:r>
          </a:p>
        </p:txBody>
      </p:sp>
      <p:sp>
        <p:nvSpPr>
          <p:cNvPr id="101" name="TextBox 100"/>
          <p:cNvSpPr txBox="1"/>
          <p:nvPr/>
        </p:nvSpPr>
        <p:spPr>
          <a:xfrm rot="16200000">
            <a:off x="485831" y="7669087"/>
            <a:ext cx="70866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
NP factor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3251" y="832353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3251" y="805864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1827" y="779375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1827" y="752886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1827" y="726397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07643" y="7133513"/>
            <a:ext cx="20574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80273" y="7135052"/>
            <a:ext cx="32575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63489" y="7135052"/>
            <a:ext cx="30003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64711" y="9763997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96B9AD"/>
                </a:solidFill>
                <a:latin typeface="Arial"/>
              </a:rPr>
              <a:t>GABA-A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07941" y="10368525"/>
            <a:ext cx="94011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Conductance</a:t>
            </a:r>
          </a:p>
        </p:txBody>
      </p:sp>
      <p:sp>
        <p:nvSpPr>
          <p:cNvPr id="112" name="TextBox 111"/>
          <p:cNvSpPr txBox="1"/>
          <p:nvPr/>
        </p:nvSpPr>
        <p:spPr>
          <a:xfrm rot="16200000">
            <a:off x="1140768" y="10113422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1511626" y="100517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1818715" y="1007913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0.0025</a:t>
            </a: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2194384" y="100517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</a:t>
            </a: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2501473" y="1007913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0.0035</a:t>
            </a:r>
          </a:p>
        </p:txBody>
      </p:sp>
      <p:sp>
        <p:nvSpPr>
          <p:cNvPr id="117" name="TextBox 116"/>
          <p:cNvSpPr txBox="1"/>
          <p:nvPr/>
        </p:nvSpPr>
        <p:spPr>
          <a:xfrm rot="16200000">
            <a:off x="2877143" y="100517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118" name="TextBox 117"/>
          <p:cNvSpPr txBox="1"/>
          <p:nvPr/>
        </p:nvSpPr>
        <p:spPr>
          <a:xfrm rot="16200000">
            <a:off x="485831" y="9214648"/>
            <a:ext cx="70866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
NP factor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3251" y="986909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3251" y="960420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1827" y="93393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1827" y="907442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1827" y="880953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38912" y="10207155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3495" y="1020715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62267" y="1020715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86952" y="10207155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04671" y="7432578"/>
            <a:ext cx="1102994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91101" y="7432578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25954" y="9960205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17580" y="996020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43495" y="996020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62267" y="99602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88182" y="99602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86952" y="9960205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40013" y="99602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137" name="TextBox 136"/>
          <p:cNvSpPr txBox="1"/>
          <p:nvPr/>
        </p:nvSpPr>
        <p:spPr>
          <a:xfrm rot="16200000">
            <a:off x="3122442" y="8440195"/>
            <a:ext cx="1148715" cy="3504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(perturbed
- baseline)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51251" y="1025416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51251" y="962435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89828" y="899454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89828" y="836473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89828" y="773492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89828" y="710511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8373" y="7135052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70645" y="7133513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52079" y="450269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49956" y="270906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1518" y="48816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05194" y="4849734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0813" y="696719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410114" y="6965889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