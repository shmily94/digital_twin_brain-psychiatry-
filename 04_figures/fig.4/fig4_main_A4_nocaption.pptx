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4_main_A4_nocaptio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15728" y="879368"/>
            <a:ext cx="54292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84561" y="688291"/>
            <a:ext cx="162877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***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8310" y="2361931"/>
            <a:ext cx="1828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HC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11682" y="2346205"/>
            <a:ext cx="508635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High-
symptom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19368" y="2361931"/>
            <a:ext cx="38576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Patient</a:t>
            </a:r>
          </a:p>
        </p:txBody>
      </p:sp>
      <p:sp>
        <p:nvSpPr>
          <p:cNvPr id="8" name="TextBox 7"/>
          <p:cNvSpPr txBox="1"/>
          <p:nvPr/>
        </p:nvSpPr>
        <p:spPr>
          <a:xfrm rot="16200000">
            <a:off x="200044" y="1401508"/>
            <a:ext cx="1423035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Measured NP factor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7251" y="2256121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7251" y="2032604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7251" y="1809087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5827" y="1585569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5827" y="1362052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5827" y="1138535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5827" y="915017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5827" y="691500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5827" y="467983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31707" y="879368"/>
            <a:ext cx="108585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**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4832" y="688291"/>
            <a:ext cx="108585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**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8309" y="2361931"/>
            <a:ext cx="1828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HC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31682" y="2346205"/>
            <a:ext cx="508635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High-
symptom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39368" y="2361931"/>
            <a:ext cx="38576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Patient</a:t>
            </a:r>
          </a:p>
        </p:txBody>
      </p:sp>
      <p:sp>
        <p:nvSpPr>
          <p:cNvPr id="23" name="TextBox 22"/>
          <p:cNvSpPr txBox="1"/>
          <p:nvPr/>
        </p:nvSpPr>
        <p:spPr>
          <a:xfrm rot="16200000">
            <a:off x="2404480" y="1401508"/>
            <a:ext cx="1320165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Baseline NP factor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27251" y="2437015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27251" y="2220832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27251" y="2004649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27251" y="1788465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65827" y="1572282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65827" y="1356099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65827" y="1139915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65827" y="923732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65827" y="707549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65827" y="491365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90271" y="704050"/>
            <a:ext cx="231457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n.s.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68309" y="2361931"/>
            <a:ext cx="1828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HC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51682" y="2346205"/>
            <a:ext cx="508635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High-
symptom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59368" y="2361931"/>
            <a:ext cx="38576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Patient</a:t>
            </a:r>
          </a:p>
        </p:txBody>
      </p:sp>
      <p:sp>
        <p:nvSpPr>
          <p:cNvPr id="38" name="TextBox 37"/>
          <p:cNvSpPr txBox="1"/>
          <p:nvPr/>
        </p:nvSpPr>
        <p:spPr>
          <a:xfrm rot="16200000">
            <a:off x="4572802" y="1401508"/>
            <a:ext cx="1436608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Perturbed AMPA NP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54668" y="2452650"/>
            <a:ext cx="2143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-1.5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54668" y="2243443"/>
            <a:ext cx="2143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-1.0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54668" y="2034235"/>
            <a:ext cx="2143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-0.5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93244" y="1825028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93244" y="1615821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93244" y="1406613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93244" y="1197406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1.5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93244" y="988199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2.0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93244" y="778991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2.5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93244" y="569784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3.0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750271" y="3117581"/>
            <a:ext cx="231457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n.s.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28310" y="4775462"/>
            <a:ext cx="1828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HC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11682" y="4759736"/>
            <a:ext cx="508635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High-
symptom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119368" y="4775462"/>
            <a:ext cx="38576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Patient</a:t>
            </a:r>
          </a:p>
        </p:txBody>
      </p:sp>
      <p:sp>
        <p:nvSpPr>
          <p:cNvPr id="53" name="TextBox 52"/>
          <p:cNvSpPr txBox="1"/>
          <p:nvPr/>
        </p:nvSpPr>
        <p:spPr>
          <a:xfrm rot="16200000">
            <a:off x="107898" y="3814247"/>
            <a:ext cx="1608593" cy="15056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Perturbed GABA-A NP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07251" y="4694339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45827" y="4475585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45827" y="425683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45827" y="4038077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45827" y="3819323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45827" y="3600568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84106" y="3381814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84106" y="3163060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84106" y="2944306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469061" y="3206015"/>
            <a:ext cx="162877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***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853207" y="3300673"/>
            <a:ext cx="108585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**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148771" y="3678464"/>
            <a:ext cx="231457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n.s.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05771" y="3818403"/>
            <a:ext cx="231457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n.s.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924229" y="3226256"/>
            <a:ext cx="1037540" cy="91819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595959"/>
                </a:solidFill>
                <a:latin typeface="Arial"/>
              </a:rPr>
              <a:t>group difference
not detectable</a:t>
            </a:r>
          </a:p>
        </p:txBody>
      </p:sp>
      <p:sp>
        <p:nvSpPr>
          <p:cNvPr id="68" name="TextBox 67"/>
          <p:cNvSpPr txBox="1"/>
          <p:nvPr/>
        </p:nvSpPr>
        <p:spPr>
          <a:xfrm rot="18900000">
            <a:off x="3082816" y="4918294"/>
            <a:ext cx="55435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Measured</a:t>
            </a:r>
          </a:p>
        </p:txBody>
      </p:sp>
      <p:sp>
        <p:nvSpPr>
          <p:cNvPr id="69" name="TextBox 68"/>
          <p:cNvSpPr txBox="1"/>
          <p:nvPr/>
        </p:nvSpPr>
        <p:spPr>
          <a:xfrm rot="18900000">
            <a:off x="3500214" y="4896472"/>
            <a:ext cx="47720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Baseline</a:t>
            </a:r>
          </a:p>
        </p:txBody>
      </p:sp>
      <p:sp>
        <p:nvSpPr>
          <p:cNvPr id="70" name="TextBox 69"/>
          <p:cNvSpPr txBox="1"/>
          <p:nvPr/>
        </p:nvSpPr>
        <p:spPr>
          <a:xfrm rot="18900000">
            <a:off x="3960779" y="4859053"/>
            <a:ext cx="344909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AMPA</a:t>
            </a:r>
          </a:p>
        </p:txBody>
      </p:sp>
      <p:sp>
        <p:nvSpPr>
          <p:cNvPr id="71" name="TextBox 70"/>
          <p:cNvSpPr txBox="1"/>
          <p:nvPr/>
        </p:nvSpPr>
        <p:spPr>
          <a:xfrm rot="18900000">
            <a:off x="4218688" y="4894855"/>
            <a:ext cx="47148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GABA-A</a:t>
            </a:r>
          </a:p>
        </p:txBody>
      </p:sp>
      <p:sp>
        <p:nvSpPr>
          <p:cNvPr id="72" name="TextBox 71"/>
          <p:cNvSpPr txBox="1"/>
          <p:nvPr/>
        </p:nvSpPr>
        <p:spPr>
          <a:xfrm rot="16200000">
            <a:off x="2187725" y="3810949"/>
            <a:ext cx="1760220" cy="15716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Cohen's d (HC − patient)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134668" y="4727108"/>
            <a:ext cx="2143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-0.4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134668" y="4514980"/>
            <a:ext cx="2143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-0.2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173244" y="4302851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173244" y="4090723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173244" y="3878594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0.4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173244" y="3666466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173244" y="3454338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0.8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173244" y="3242209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1.0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173244" y="3030081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1.2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173244" y="2817952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1.4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548021" y="4426721"/>
            <a:ext cx="640080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measured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550593" y="4562564"/>
            <a:ext cx="614362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simulated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001436" y="3293156"/>
            <a:ext cx="162877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***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224561" y="3107372"/>
            <a:ext cx="162877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***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621148" y="4775462"/>
            <a:ext cx="47720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Baseline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096397" y="4775462"/>
            <a:ext cx="419204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+AMPA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79358" y="4775462"/>
            <a:ext cx="54578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+GABA-A</a:t>
            </a:r>
          </a:p>
        </p:txBody>
      </p:sp>
      <p:sp>
        <p:nvSpPr>
          <p:cNvPr id="90" name="TextBox 89"/>
          <p:cNvSpPr txBox="1"/>
          <p:nvPr/>
        </p:nvSpPr>
        <p:spPr>
          <a:xfrm rot="16200000">
            <a:off x="4958207" y="3815039"/>
            <a:ext cx="665797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NP factor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447251" y="4827787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-4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447251" y="4576121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485827" y="4324456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485827" y="4072790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485827" y="3821125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485827" y="3569460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485827" y="3317794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8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424105" y="3066129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424105" y="2814463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263424" y="7559649"/>
            <a:ext cx="1205150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Δ NP after AMPA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58662" y="7441880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-4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107825" y="7441880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578420" y="7441880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027584" y="7441880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476748" y="7441880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925912" y="7441880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107" name="TextBox 106"/>
          <p:cNvSpPr txBox="1"/>
          <p:nvPr/>
        </p:nvSpPr>
        <p:spPr>
          <a:xfrm rot="16200000">
            <a:off x="223627" y="6480665"/>
            <a:ext cx="1377136" cy="15056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Δ NP after GABA-A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07251" y="7367090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45827" y="7116453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45827" y="6865816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045827" y="6615179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045827" y="6364542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045827" y="6113905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8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84106" y="5863268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84106" y="56126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311645" y="5550122"/>
            <a:ext cx="480060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both up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025162" y="5550122"/>
            <a:ext cx="614362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any down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004561" y="5771665"/>
            <a:ext cx="162877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***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548309" y="7441880"/>
            <a:ext cx="1828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HC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831682" y="7426154"/>
            <a:ext cx="508635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High-
symptom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339368" y="7441880"/>
            <a:ext cx="38576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Patient</a:t>
            </a:r>
          </a:p>
        </p:txBody>
      </p:sp>
      <p:sp>
        <p:nvSpPr>
          <p:cNvPr id="122" name="TextBox 121"/>
          <p:cNvSpPr txBox="1"/>
          <p:nvPr/>
        </p:nvSpPr>
        <p:spPr>
          <a:xfrm rot="16200000">
            <a:off x="2713180" y="6481457"/>
            <a:ext cx="702766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Twins (%)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265827" y="7335046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204105" y="663335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50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142384" y="5931656"/>
            <a:ext cx="20574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531644" y="5550122"/>
            <a:ext cx="480060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both up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245162" y="5550122"/>
            <a:ext cx="614362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any down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24561" y="5790570"/>
            <a:ext cx="162877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***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5454839" y="5550122"/>
            <a:ext cx="1371600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4C4C4C"/>
                </a:solidFill>
                <a:latin typeface="Arial"/>
              </a:rPr>
              <a:t>Baseline by response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5861439" y="7426154"/>
            <a:ext cx="240030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both
up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481955" y="7426154"/>
            <a:ext cx="297180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any
down</a:t>
            </a:r>
          </a:p>
        </p:txBody>
      </p:sp>
      <p:sp>
        <p:nvSpPr>
          <p:cNvPr id="132" name="TextBox 131"/>
          <p:cNvSpPr txBox="1"/>
          <p:nvPr/>
        </p:nvSpPr>
        <p:spPr>
          <a:xfrm rot="16200000">
            <a:off x="4485925" y="6480665"/>
            <a:ext cx="1611630" cy="15056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Simulated baseline NP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447251" y="7491070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-4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5447251" y="7257042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-3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5447251" y="7023014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-2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5447251" y="6788986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-1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5485827" y="6554958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5485827" y="6320929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5485827" y="608690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485827" y="5852873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5485827" y="5618845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701478" y="468106"/>
            <a:ext cx="97155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2853622" y="468106"/>
            <a:ext cx="105727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b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5081022" y="468106"/>
            <a:ext cx="97155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c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700621" y="2881637"/>
            <a:ext cx="105727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d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2854479" y="2862106"/>
            <a:ext cx="97155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e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5085023" y="2880327"/>
            <a:ext cx="57150" cy="165337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f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700621" y="5383279"/>
            <a:ext cx="105727" cy="164279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g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53622" y="5383637"/>
            <a:ext cx="105727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h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5085880" y="5383637"/>
            <a:ext cx="48577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