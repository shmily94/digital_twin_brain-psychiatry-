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4_main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615728" y="818143"/>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 name="TextBox 3"/>
          <p:cNvSpPr txBox="1"/>
          <p:nvPr/>
        </p:nvSpPr>
        <p:spPr>
          <a:xfrm>
            <a:off x="1784561" y="660297"/>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 name="TextBox 4"/>
          <p:cNvSpPr txBox="1"/>
          <p:nvPr/>
        </p:nvSpPr>
        <p:spPr>
          <a:xfrm>
            <a:off x="1328310" y="2073931"/>
            <a:ext cx="182880" cy="119186"/>
          </a:xfrm>
          <a:prstGeom prst="rect">
            <a:avLst/>
          </a:prstGeom>
          <a:noFill/>
        </p:spPr>
        <p:txBody>
          <a:bodyPr wrap="none" anchor="ctr" lIns="0" rIns="0" tIns="0" bIns="0">
            <a:noAutofit/>
          </a:bodyPr>
          <a:lstStyle/>
          <a:p>
            <a:pPr algn="ctr"/>
            <a:r>
              <a:rPr sz="800" b="0" i="0">
                <a:solidFill>
                  <a:srgbClr val="000000"/>
                </a:solidFill>
                <a:latin typeface="Arial"/>
              </a:rPr>
              <a:t>HC</a:t>
            </a:r>
          </a:p>
        </p:txBody>
      </p:sp>
      <p:sp>
        <p:nvSpPr>
          <p:cNvPr id="6" name="TextBox 5"/>
          <p:cNvSpPr txBox="1"/>
          <p:nvPr/>
        </p:nvSpPr>
        <p:spPr>
          <a:xfrm>
            <a:off x="1611682" y="2058205"/>
            <a:ext cx="508635" cy="276448"/>
          </a:xfrm>
          <a:prstGeom prst="rect">
            <a:avLst/>
          </a:prstGeom>
          <a:noFill/>
        </p:spPr>
        <p:txBody>
          <a:bodyPr wrap="none" anchor="ctr" lIns="0" rIns="0" tIns="0" bIns="0">
            <a:noAutofit/>
          </a:bodyPr>
          <a:lstStyle/>
          <a:p>
            <a:pPr algn="ctr"/>
            <a:r>
              <a:rPr sz="800" b="0" i="0">
                <a:solidFill>
                  <a:srgbClr val="000000"/>
                </a:solidFill>
                <a:latin typeface="Arial"/>
              </a:rPr>
              <a:t>High-
symptom</a:t>
            </a:r>
          </a:p>
        </p:txBody>
      </p:sp>
      <p:sp>
        <p:nvSpPr>
          <p:cNvPr id="7" name="TextBox 6"/>
          <p:cNvSpPr txBox="1"/>
          <p:nvPr/>
        </p:nvSpPr>
        <p:spPr>
          <a:xfrm>
            <a:off x="2119368" y="2073931"/>
            <a:ext cx="385762" cy="119186"/>
          </a:xfrm>
          <a:prstGeom prst="rect">
            <a:avLst/>
          </a:prstGeom>
          <a:noFill/>
        </p:spPr>
        <p:txBody>
          <a:bodyPr wrap="none" anchor="ctr" lIns="0" rIns="0" tIns="0" bIns="0">
            <a:noAutofit/>
          </a:bodyPr>
          <a:lstStyle/>
          <a:p>
            <a:pPr algn="ctr"/>
            <a:r>
              <a:rPr sz="800" b="0" i="0">
                <a:solidFill>
                  <a:srgbClr val="000000"/>
                </a:solidFill>
                <a:latin typeface="Arial"/>
              </a:rPr>
              <a:t>Patient</a:t>
            </a:r>
          </a:p>
        </p:txBody>
      </p:sp>
      <p:sp>
        <p:nvSpPr>
          <p:cNvPr id="8" name="TextBox 7"/>
          <p:cNvSpPr txBox="1"/>
          <p:nvPr/>
        </p:nvSpPr>
        <p:spPr>
          <a:xfrm rot="16200000">
            <a:off x="117748" y="1257508"/>
            <a:ext cx="1423034" cy="148983"/>
          </a:xfrm>
          <a:prstGeom prst="rect">
            <a:avLst/>
          </a:prstGeom>
          <a:noFill/>
        </p:spPr>
        <p:txBody>
          <a:bodyPr wrap="none" anchor="ctr" lIns="0" rIns="0" tIns="0" bIns="0">
            <a:noAutofit/>
          </a:bodyPr>
          <a:lstStyle/>
          <a:p>
            <a:pPr algn="ctr"/>
            <a:r>
              <a:rPr sz="1000" b="0" i="0">
                <a:solidFill>
                  <a:srgbClr val="000000"/>
                </a:solidFill>
                <a:latin typeface="Arial"/>
              </a:rPr>
              <a:t>Measured NP factor</a:t>
            </a:r>
          </a:p>
        </p:txBody>
      </p:sp>
      <p:sp>
        <p:nvSpPr>
          <p:cNvPr id="9" name="TextBox 8"/>
          <p:cNvSpPr txBox="1"/>
          <p:nvPr/>
        </p:nvSpPr>
        <p:spPr>
          <a:xfrm>
            <a:off x="1007251" y="2152588"/>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0" name="TextBox 9"/>
          <p:cNvSpPr txBox="1"/>
          <p:nvPr/>
        </p:nvSpPr>
        <p:spPr>
          <a:xfrm>
            <a:off x="1007251" y="1783298"/>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1" name="TextBox 10"/>
          <p:cNvSpPr txBox="1"/>
          <p:nvPr/>
        </p:nvSpPr>
        <p:spPr>
          <a:xfrm>
            <a:off x="1045827" y="1414009"/>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2" name="TextBox 11"/>
          <p:cNvSpPr txBox="1"/>
          <p:nvPr/>
        </p:nvSpPr>
        <p:spPr>
          <a:xfrm>
            <a:off x="1045827" y="1044719"/>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3" name="TextBox 12"/>
          <p:cNvSpPr txBox="1"/>
          <p:nvPr/>
        </p:nvSpPr>
        <p:spPr>
          <a:xfrm>
            <a:off x="1045827" y="675430"/>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4" name="TextBox 13"/>
          <p:cNvSpPr txBox="1"/>
          <p:nvPr/>
        </p:nvSpPr>
        <p:spPr>
          <a:xfrm>
            <a:off x="1045827" y="306141"/>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15" name="TextBox 14"/>
          <p:cNvSpPr txBox="1"/>
          <p:nvPr/>
        </p:nvSpPr>
        <p:spPr>
          <a:xfrm>
            <a:off x="4031707" y="818143"/>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6" name="TextBox 15"/>
          <p:cNvSpPr txBox="1"/>
          <p:nvPr/>
        </p:nvSpPr>
        <p:spPr>
          <a:xfrm>
            <a:off x="4254832" y="660297"/>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7" name="TextBox 16"/>
          <p:cNvSpPr txBox="1"/>
          <p:nvPr/>
        </p:nvSpPr>
        <p:spPr>
          <a:xfrm>
            <a:off x="3548309" y="2073931"/>
            <a:ext cx="182880" cy="119186"/>
          </a:xfrm>
          <a:prstGeom prst="rect">
            <a:avLst/>
          </a:prstGeom>
          <a:noFill/>
        </p:spPr>
        <p:txBody>
          <a:bodyPr wrap="none" anchor="ctr" lIns="0" rIns="0" tIns="0" bIns="0">
            <a:noAutofit/>
          </a:bodyPr>
          <a:lstStyle/>
          <a:p>
            <a:pPr algn="ctr"/>
            <a:r>
              <a:rPr sz="800" b="0" i="0">
                <a:solidFill>
                  <a:srgbClr val="000000"/>
                </a:solidFill>
                <a:latin typeface="Arial"/>
              </a:rPr>
              <a:t>HC</a:t>
            </a:r>
          </a:p>
        </p:txBody>
      </p:sp>
      <p:sp>
        <p:nvSpPr>
          <p:cNvPr id="18" name="TextBox 17"/>
          <p:cNvSpPr txBox="1"/>
          <p:nvPr/>
        </p:nvSpPr>
        <p:spPr>
          <a:xfrm>
            <a:off x="3831682" y="2058205"/>
            <a:ext cx="508635" cy="276448"/>
          </a:xfrm>
          <a:prstGeom prst="rect">
            <a:avLst/>
          </a:prstGeom>
          <a:noFill/>
        </p:spPr>
        <p:txBody>
          <a:bodyPr wrap="none" anchor="ctr" lIns="0" rIns="0" tIns="0" bIns="0">
            <a:noAutofit/>
          </a:bodyPr>
          <a:lstStyle/>
          <a:p>
            <a:pPr algn="ctr"/>
            <a:r>
              <a:rPr sz="800" b="0" i="0">
                <a:solidFill>
                  <a:srgbClr val="000000"/>
                </a:solidFill>
                <a:latin typeface="Arial"/>
              </a:rPr>
              <a:t>High-
symptom</a:t>
            </a:r>
          </a:p>
        </p:txBody>
      </p:sp>
      <p:sp>
        <p:nvSpPr>
          <p:cNvPr id="19" name="TextBox 18"/>
          <p:cNvSpPr txBox="1"/>
          <p:nvPr/>
        </p:nvSpPr>
        <p:spPr>
          <a:xfrm>
            <a:off x="4339368" y="2073931"/>
            <a:ext cx="385762" cy="119186"/>
          </a:xfrm>
          <a:prstGeom prst="rect">
            <a:avLst/>
          </a:prstGeom>
          <a:noFill/>
        </p:spPr>
        <p:txBody>
          <a:bodyPr wrap="none" anchor="ctr" lIns="0" rIns="0" tIns="0" bIns="0">
            <a:noAutofit/>
          </a:bodyPr>
          <a:lstStyle/>
          <a:p>
            <a:pPr algn="ctr"/>
            <a:r>
              <a:rPr sz="800" b="0" i="0">
                <a:solidFill>
                  <a:srgbClr val="000000"/>
                </a:solidFill>
                <a:latin typeface="Arial"/>
              </a:rPr>
              <a:t>Patient</a:t>
            </a:r>
          </a:p>
        </p:txBody>
      </p:sp>
      <p:sp>
        <p:nvSpPr>
          <p:cNvPr id="20" name="TextBox 19"/>
          <p:cNvSpPr txBox="1"/>
          <p:nvPr/>
        </p:nvSpPr>
        <p:spPr>
          <a:xfrm rot="16200000">
            <a:off x="2417882" y="1257508"/>
            <a:ext cx="1320165" cy="148983"/>
          </a:xfrm>
          <a:prstGeom prst="rect">
            <a:avLst/>
          </a:prstGeom>
          <a:noFill/>
        </p:spPr>
        <p:txBody>
          <a:bodyPr wrap="none" anchor="ctr" lIns="0" rIns="0" tIns="0" bIns="0">
            <a:noAutofit/>
          </a:bodyPr>
          <a:lstStyle/>
          <a:p>
            <a:pPr algn="ctr"/>
            <a:r>
              <a:rPr sz="1000" b="0" i="0">
                <a:solidFill>
                  <a:srgbClr val="000000"/>
                </a:solidFill>
                <a:latin typeface="Arial"/>
              </a:rPr>
              <a:t>Baseline NP factor</a:t>
            </a:r>
          </a:p>
        </p:txBody>
      </p:sp>
      <p:sp>
        <p:nvSpPr>
          <p:cNvPr id="21" name="TextBox 20"/>
          <p:cNvSpPr txBox="1"/>
          <p:nvPr/>
        </p:nvSpPr>
        <p:spPr>
          <a:xfrm>
            <a:off x="3227251" y="2117377"/>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22" name="TextBox 21"/>
          <p:cNvSpPr txBox="1"/>
          <p:nvPr/>
        </p:nvSpPr>
        <p:spPr>
          <a:xfrm>
            <a:off x="3227251" y="1760205"/>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3" name="TextBox 22"/>
          <p:cNvSpPr txBox="1"/>
          <p:nvPr/>
        </p:nvSpPr>
        <p:spPr>
          <a:xfrm>
            <a:off x="3265827" y="1403032"/>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24" name="TextBox 23"/>
          <p:cNvSpPr txBox="1"/>
          <p:nvPr/>
        </p:nvSpPr>
        <p:spPr>
          <a:xfrm>
            <a:off x="3265827" y="1045860"/>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5" name="TextBox 24"/>
          <p:cNvSpPr txBox="1"/>
          <p:nvPr/>
        </p:nvSpPr>
        <p:spPr>
          <a:xfrm>
            <a:off x="3265827" y="688687"/>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26" name="TextBox 25"/>
          <p:cNvSpPr txBox="1"/>
          <p:nvPr/>
        </p:nvSpPr>
        <p:spPr>
          <a:xfrm>
            <a:off x="3265827" y="331515"/>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27" name="TextBox 26"/>
          <p:cNvSpPr txBox="1"/>
          <p:nvPr/>
        </p:nvSpPr>
        <p:spPr>
          <a:xfrm>
            <a:off x="6190271" y="673315"/>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28" name="TextBox 27"/>
          <p:cNvSpPr txBox="1"/>
          <p:nvPr/>
        </p:nvSpPr>
        <p:spPr>
          <a:xfrm>
            <a:off x="5768309" y="2073931"/>
            <a:ext cx="182880" cy="119186"/>
          </a:xfrm>
          <a:prstGeom prst="rect">
            <a:avLst/>
          </a:prstGeom>
          <a:noFill/>
        </p:spPr>
        <p:txBody>
          <a:bodyPr wrap="none" anchor="ctr" lIns="0" rIns="0" tIns="0" bIns="0">
            <a:noAutofit/>
          </a:bodyPr>
          <a:lstStyle/>
          <a:p>
            <a:pPr algn="ctr"/>
            <a:r>
              <a:rPr sz="800" b="0" i="0">
                <a:solidFill>
                  <a:srgbClr val="000000"/>
                </a:solidFill>
                <a:latin typeface="Arial"/>
              </a:rPr>
              <a:t>HC</a:t>
            </a:r>
          </a:p>
        </p:txBody>
      </p:sp>
      <p:sp>
        <p:nvSpPr>
          <p:cNvPr id="29" name="TextBox 28"/>
          <p:cNvSpPr txBox="1"/>
          <p:nvPr/>
        </p:nvSpPr>
        <p:spPr>
          <a:xfrm>
            <a:off x="6051682" y="2058205"/>
            <a:ext cx="508635" cy="276448"/>
          </a:xfrm>
          <a:prstGeom prst="rect">
            <a:avLst/>
          </a:prstGeom>
          <a:noFill/>
        </p:spPr>
        <p:txBody>
          <a:bodyPr wrap="none" anchor="ctr" lIns="0" rIns="0" tIns="0" bIns="0">
            <a:noAutofit/>
          </a:bodyPr>
          <a:lstStyle/>
          <a:p>
            <a:pPr algn="ctr"/>
            <a:r>
              <a:rPr sz="800" b="0" i="0">
                <a:solidFill>
                  <a:srgbClr val="000000"/>
                </a:solidFill>
                <a:latin typeface="Arial"/>
              </a:rPr>
              <a:t>High-
symptom</a:t>
            </a:r>
          </a:p>
        </p:txBody>
      </p:sp>
      <p:sp>
        <p:nvSpPr>
          <p:cNvPr id="30" name="TextBox 29"/>
          <p:cNvSpPr txBox="1"/>
          <p:nvPr/>
        </p:nvSpPr>
        <p:spPr>
          <a:xfrm>
            <a:off x="6559368" y="2073931"/>
            <a:ext cx="385762" cy="119186"/>
          </a:xfrm>
          <a:prstGeom prst="rect">
            <a:avLst/>
          </a:prstGeom>
          <a:noFill/>
        </p:spPr>
        <p:txBody>
          <a:bodyPr wrap="none" anchor="ctr" lIns="0" rIns="0" tIns="0" bIns="0">
            <a:noAutofit/>
          </a:bodyPr>
          <a:lstStyle/>
          <a:p>
            <a:pPr algn="ctr"/>
            <a:r>
              <a:rPr sz="800" b="0" i="0">
                <a:solidFill>
                  <a:srgbClr val="000000"/>
                </a:solidFill>
                <a:latin typeface="Arial"/>
              </a:rPr>
              <a:t>Patient</a:t>
            </a:r>
          </a:p>
        </p:txBody>
      </p:sp>
      <p:sp>
        <p:nvSpPr>
          <p:cNvPr id="31" name="TextBox 30"/>
          <p:cNvSpPr txBox="1"/>
          <p:nvPr/>
        </p:nvSpPr>
        <p:spPr>
          <a:xfrm rot="16200000">
            <a:off x="4552228" y="1257508"/>
            <a:ext cx="1436608" cy="148983"/>
          </a:xfrm>
          <a:prstGeom prst="rect">
            <a:avLst/>
          </a:prstGeom>
          <a:noFill/>
        </p:spPr>
        <p:txBody>
          <a:bodyPr wrap="none" anchor="ctr" lIns="0" rIns="0" tIns="0" bIns="0">
            <a:noAutofit/>
          </a:bodyPr>
          <a:lstStyle/>
          <a:p>
            <a:pPr algn="ctr"/>
            <a:r>
              <a:rPr sz="1000" b="0" i="0">
                <a:solidFill>
                  <a:srgbClr val="000000"/>
                </a:solidFill>
                <a:latin typeface="Arial"/>
              </a:rPr>
              <a:t>Perturbed AMPA NP</a:t>
            </a:r>
          </a:p>
        </p:txBody>
      </p:sp>
      <p:sp>
        <p:nvSpPr>
          <p:cNvPr id="32" name="TextBox 31"/>
          <p:cNvSpPr txBox="1"/>
          <p:nvPr/>
        </p:nvSpPr>
        <p:spPr>
          <a:xfrm>
            <a:off x="5447251" y="2303117"/>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33" name="TextBox 32"/>
          <p:cNvSpPr txBox="1"/>
          <p:nvPr/>
        </p:nvSpPr>
        <p:spPr>
          <a:xfrm>
            <a:off x="5447251" y="1957470"/>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34" name="TextBox 33"/>
          <p:cNvSpPr txBox="1"/>
          <p:nvPr/>
        </p:nvSpPr>
        <p:spPr>
          <a:xfrm>
            <a:off x="5485827" y="1611823"/>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35" name="TextBox 34"/>
          <p:cNvSpPr txBox="1"/>
          <p:nvPr/>
        </p:nvSpPr>
        <p:spPr>
          <a:xfrm>
            <a:off x="5485827" y="1266176"/>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36" name="TextBox 35"/>
          <p:cNvSpPr txBox="1"/>
          <p:nvPr/>
        </p:nvSpPr>
        <p:spPr>
          <a:xfrm>
            <a:off x="5485827" y="920529"/>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37" name="TextBox 36"/>
          <p:cNvSpPr txBox="1"/>
          <p:nvPr/>
        </p:nvSpPr>
        <p:spPr>
          <a:xfrm>
            <a:off x="5485827" y="574882"/>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38" name="TextBox 37"/>
          <p:cNvSpPr txBox="1"/>
          <p:nvPr/>
        </p:nvSpPr>
        <p:spPr>
          <a:xfrm>
            <a:off x="1750271" y="2799403"/>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39" name="TextBox 38"/>
          <p:cNvSpPr txBox="1"/>
          <p:nvPr/>
        </p:nvSpPr>
        <p:spPr>
          <a:xfrm>
            <a:off x="1328310" y="4200019"/>
            <a:ext cx="182880" cy="119186"/>
          </a:xfrm>
          <a:prstGeom prst="rect">
            <a:avLst/>
          </a:prstGeom>
          <a:noFill/>
        </p:spPr>
        <p:txBody>
          <a:bodyPr wrap="none" anchor="ctr" lIns="0" rIns="0" tIns="0" bIns="0">
            <a:noAutofit/>
          </a:bodyPr>
          <a:lstStyle/>
          <a:p>
            <a:pPr algn="ctr"/>
            <a:r>
              <a:rPr sz="800" b="0" i="0">
                <a:solidFill>
                  <a:srgbClr val="000000"/>
                </a:solidFill>
                <a:latin typeface="Arial"/>
              </a:rPr>
              <a:t>HC</a:t>
            </a:r>
          </a:p>
        </p:txBody>
      </p:sp>
      <p:sp>
        <p:nvSpPr>
          <p:cNvPr id="40" name="TextBox 39"/>
          <p:cNvSpPr txBox="1"/>
          <p:nvPr/>
        </p:nvSpPr>
        <p:spPr>
          <a:xfrm>
            <a:off x="1611682" y="4184293"/>
            <a:ext cx="508635" cy="276448"/>
          </a:xfrm>
          <a:prstGeom prst="rect">
            <a:avLst/>
          </a:prstGeom>
          <a:noFill/>
        </p:spPr>
        <p:txBody>
          <a:bodyPr wrap="none" anchor="ctr" lIns="0" rIns="0" tIns="0" bIns="0">
            <a:noAutofit/>
          </a:bodyPr>
          <a:lstStyle/>
          <a:p>
            <a:pPr algn="ctr"/>
            <a:r>
              <a:rPr sz="800" b="0" i="0">
                <a:solidFill>
                  <a:srgbClr val="000000"/>
                </a:solidFill>
                <a:latin typeface="Arial"/>
              </a:rPr>
              <a:t>High-
symptom</a:t>
            </a:r>
          </a:p>
        </p:txBody>
      </p:sp>
      <p:sp>
        <p:nvSpPr>
          <p:cNvPr id="41" name="TextBox 40"/>
          <p:cNvSpPr txBox="1"/>
          <p:nvPr/>
        </p:nvSpPr>
        <p:spPr>
          <a:xfrm>
            <a:off x="2119368" y="4200019"/>
            <a:ext cx="385762" cy="119186"/>
          </a:xfrm>
          <a:prstGeom prst="rect">
            <a:avLst/>
          </a:prstGeom>
          <a:noFill/>
        </p:spPr>
        <p:txBody>
          <a:bodyPr wrap="none" anchor="ctr" lIns="0" rIns="0" tIns="0" bIns="0">
            <a:noAutofit/>
          </a:bodyPr>
          <a:lstStyle/>
          <a:p>
            <a:pPr algn="ctr"/>
            <a:r>
              <a:rPr sz="800" b="0" i="0">
                <a:solidFill>
                  <a:srgbClr val="000000"/>
                </a:solidFill>
                <a:latin typeface="Arial"/>
              </a:rPr>
              <a:t>Patient</a:t>
            </a:r>
          </a:p>
        </p:txBody>
      </p:sp>
      <p:sp>
        <p:nvSpPr>
          <p:cNvPr id="42" name="TextBox 41"/>
          <p:cNvSpPr txBox="1"/>
          <p:nvPr/>
        </p:nvSpPr>
        <p:spPr>
          <a:xfrm rot="16200000">
            <a:off x="25602" y="3382804"/>
            <a:ext cx="1608593" cy="150566"/>
          </a:xfrm>
          <a:prstGeom prst="rect">
            <a:avLst/>
          </a:prstGeom>
          <a:noFill/>
        </p:spPr>
        <p:txBody>
          <a:bodyPr wrap="none" anchor="ctr" lIns="0" rIns="0" tIns="0" bIns="0">
            <a:noAutofit/>
          </a:bodyPr>
          <a:lstStyle/>
          <a:p>
            <a:pPr algn="ctr"/>
            <a:r>
              <a:rPr sz="1000" b="0" i="0">
                <a:solidFill>
                  <a:srgbClr val="000000"/>
                </a:solidFill>
                <a:latin typeface="Arial"/>
              </a:rPr>
              <a:t>Perturbed GABA-A NP</a:t>
            </a:r>
          </a:p>
        </p:txBody>
      </p:sp>
      <p:sp>
        <p:nvSpPr>
          <p:cNvPr id="43" name="TextBox 42"/>
          <p:cNvSpPr txBox="1"/>
          <p:nvPr/>
        </p:nvSpPr>
        <p:spPr>
          <a:xfrm>
            <a:off x="1007251" y="4385490"/>
            <a:ext cx="111442" cy="119186"/>
          </a:xfrm>
          <a:prstGeom prst="rect">
            <a:avLst/>
          </a:prstGeom>
          <a:noFill/>
        </p:spPr>
        <p:txBody>
          <a:bodyPr wrap="none" anchor="ctr" lIns="0" rIns="0" tIns="0" bIns="0">
            <a:noAutofit/>
          </a:bodyPr>
          <a:lstStyle/>
          <a:p>
            <a:pPr algn="r"/>
            <a:r>
              <a:rPr sz="800" b="0" i="0">
                <a:solidFill>
                  <a:srgbClr val="000000"/>
                </a:solidFill>
                <a:latin typeface="Arial"/>
              </a:rPr>
              <a:t>-5</a:t>
            </a:r>
          </a:p>
        </p:txBody>
      </p:sp>
      <p:sp>
        <p:nvSpPr>
          <p:cNvPr id="44" name="TextBox 43"/>
          <p:cNvSpPr txBox="1"/>
          <p:nvPr/>
        </p:nvSpPr>
        <p:spPr>
          <a:xfrm>
            <a:off x="1045827" y="3933715"/>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45" name="TextBox 44"/>
          <p:cNvSpPr txBox="1"/>
          <p:nvPr/>
        </p:nvSpPr>
        <p:spPr>
          <a:xfrm>
            <a:off x="1045827" y="3481940"/>
            <a:ext cx="68580" cy="119186"/>
          </a:xfrm>
          <a:prstGeom prst="rect">
            <a:avLst/>
          </a:prstGeom>
          <a:noFill/>
        </p:spPr>
        <p:txBody>
          <a:bodyPr wrap="none" anchor="ctr" lIns="0" rIns="0" tIns="0" bIns="0">
            <a:noAutofit/>
          </a:bodyPr>
          <a:lstStyle/>
          <a:p>
            <a:pPr algn="r"/>
            <a:r>
              <a:rPr sz="800" b="0" i="0">
                <a:solidFill>
                  <a:srgbClr val="000000"/>
                </a:solidFill>
                <a:latin typeface="Arial"/>
              </a:rPr>
              <a:t>5</a:t>
            </a:r>
          </a:p>
        </p:txBody>
      </p:sp>
      <p:sp>
        <p:nvSpPr>
          <p:cNvPr id="46" name="TextBox 45"/>
          <p:cNvSpPr txBox="1"/>
          <p:nvPr/>
        </p:nvSpPr>
        <p:spPr>
          <a:xfrm>
            <a:off x="984106" y="3030165"/>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47" name="TextBox 46"/>
          <p:cNvSpPr txBox="1"/>
          <p:nvPr/>
        </p:nvSpPr>
        <p:spPr>
          <a:xfrm>
            <a:off x="984106" y="2578390"/>
            <a:ext cx="13716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48" name="TextBox 47"/>
          <p:cNvSpPr txBox="1"/>
          <p:nvPr/>
        </p:nvSpPr>
        <p:spPr>
          <a:xfrm>
            <a:off x="3469061" y="2872457"/>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9" name="TextBox 48"/>
          <p:cNvSpPr txBox="1"/>
          <p:nvPr/>
        </p:nvSpPr>
        <p:spPr>
          <a:xfrm>
            <a:off x="3853207" y="2950653"/>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0" name="TextBox 49"/>
          <p:cNvSpPr txBox="1"/>
          <p:nvPr/>
        </p:nvSpPr>
        <p:spPr>
          <a:xfrm>
            <a:off x="4148771" y="3262741"/>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51" name="TextBox 50"/>
          <p:cNvSpPr txBox="1"/>
          <p:nvPr/>
        </p:nvSpPr>
        <p:spPr>
          <a:xfrm>
            <a:off x="4505771" y="3378343"/>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52" name="TextBox 51"/>
          <p:cNvSpPr txBox="1"/>
          <p:nvPr/>
        </p:nvSpPr>
        <p:spPr>
          <a:xfrm>
            <a:off x="3924229" y="2861992"/>
            <a:ext cx="1037540" cy="807533"/>
          </a:xfrm>
          <a:prstGeom prst="rect">
            <a:avLst/>
          </a:prstGeom>
          <a:noFill/>
        </p:spPr>
        <p:txBody>
          <a:bodyPr wrap="none" anchor="ctr" lIns="0" rIns="0" tIns="0" bIns="0">
            <a:noAutofit/>
          </a:bodyPr>
          <a:lstStyle/>
          <a:p>
            <a:pPr algn="ctr"/>
            <a:r>
              <a:rPr sz="900" b="0" i="0">
                <a:solidFill>
                  <a:srgbClr val="595959"/>
                </a:solidFill>
                <a:latin typeface="Arial"/>
              </a:rPr>
              <a:t>group difference
not detectable</a:t>
            </a:r>
          </a:p>
        </p:txBody>
      </p:sp>
      <p:sp>
        <p:nvSpPr>
          <p:cNvPr id="53" name="TextBox 52"/>
          <p:cNvSpPr txBox="1"/>
          <p:nvPr/>
        </p:nvSpPr>
        <p:spPr>
          <a:xfrm rot="18900000">
            <a:off x="3082816" y="4342851"/>
            <a:ext cx="554355" cy="119186"/>
          </a:xfrm>
          <a:prstGeom prst="rect">
            <a:avLst/>
          </a:prstGeom>
          <a:noFill/>
        </p:spPr>
        <p:txBody>
          <a:bodyPr wrap="none" anchor="ctr" lIns="0" rIns="0" tIns="0" bIns="0">
            <a:noAutofit/>
          </a:bodyPr>
          <a:lstStyle/>
          <a:p>
            <a:pPr algn="r"/>
            <a:r>
              <a:rPr sz="800" b="0" i="0">
                <a:solidFill>
                  <a:srgbClr val="000000"/>
                </a:solidFill>
                <a:latin typeface="Arial"/>
              </a:rPr>
              <a:t>Measured</a:t>
            </a:r>
          </a:p>
        </p:txBody>
      </p:sp>
      <p:sp>
        <p:nvSpPr>
          <p:cNvPr id="54" name="TextBox 53"/>
          <p:cNvSpPr txBox="1"/>
          <p:nvPr/>
        </p:nvSpPr>
        <p:spPr>
          <a:xfrm rot="18900000">
            <a:off x="3500214" y="4321029"/>
            <a:ext cx="477202" cy="119186"/>
          </a:xfrm>
          <a:prstGeom prst="rect">
            <a:avLst/>
          </a:prstGeom>
          <a:noFill/>
        </p:spPr>
        <p:txBody>
          <a:bodyPr wrap="none" anchor="ctr" lIns="0" rIns="0" tIns="0" bIns="0">
            <a:noAutofit/>
          </a:bodyPr>
          <a:lstStyle/>
          <a:p>
            <a:pPr algn="r"/>
            <a:r>
              <a:rPr sz="800" b="0" i="0">
                <a:solidFill>
                  <a:srgbClr val="000000"/>
                </a:solidFill>
                <a:latin typeface="Arial"/>
              </a:rPr>
              <a:t>Baseline</a:t>
            </a:r>
          </a:p>
        </p:txBody>
      </p:sp>
      <p:sp>
        <p:nvSpPr>
          <p:cNvPr id="55" name="TextBox 54"/>
          <p:cNvSpPr txBox="1"/>
          <p:nvPr/>
        </p:nvSpPr>
        <p:spPr>
          <a:xfrm rot="18900000">
            <a:off x="3960779" y="4283610"/>
            <a:ext cx="344909" cy="119186"/>
          </a:xfrm>
          <a:prstGeom prst="rect">
            <a:avLst/>
          </a:prstGeom>
          <a:noFill/>
        </p:spPr>
        <p:txBody>
          <a:bodyPr wrap="none" anchor="ctr" lIns="0" rIns="0" tIns="0" bIns="0">
            <a:noAutofit/>
          </a:bodyPr>
          <a:lstStyle/>
          <a:p>
            <a:pPr algn="r"/>
            <a:r>
              <a:rPr sz="800" b="0" i="0">
                <a:solidFill>
                  <a:srgbClr val="000000"/>
                </a:solidFill>
                <a:latin typeface="Arial"/>
              </a:rPr>
              <a:t>AMPA</a:t>
            </a:r>
          </a:p>
        </p:txBody>
      </p:sp>
      <p:sp>
        <p:nvSpPr>
          <p:cNvPr id="56" name="TextBox 55"/>
          <p:cNvSpPr txBox="1"/>
          <p:nvPr/>
        </p:nvSpPr>
        <p:spPr>
          <a:xfrm rot="18900000">
            <a:off x="4218688" y="4319412"/>
            <a:ext cx="471487" cy="119186"/>
          </a:xfrm>
          <a:prstGeom prst="rect">
            <a:avLst/>
          </a:prstGeom>
          <a:noFill/>
        </p:spPr>
        <p:txBody>
          <a:bodyPr wrap="none" anchor="ctr" lIns="0" rIns="0" tIns="0" bIns="0">
            <a:noAutofit/>
          </a:bodyPr>
          <a:lstStyle/>
          <a:p>
            <a:pPr algn="r"/>
            <a:r>
              <a:rPr sz="800" b="0" i="0">
                <a:solidFill>
                  <a:srgbClr val="000000"/>
                </a:solidFill>
                <a:latin typeface="Arial"/>
              </a:rPr>
              <a:t>GABA-A</a:t>
            </a:r>
          </a:p>
        </p:txBody>
      </p:sp>
      <p:sp>
        <p:nvSpPr>
          <p:cNvPr id="57" name="TextBox 56"/>
          <p:cNvSpPr txBox="1"/>
          <p:nvPr/>
        </p:nvSpPr>
        <p:spPr>
          <a:xfrm rot="16200000">
            <a:off x="2201126" y="3379506"/>
            <a:ext cx="1760220" cy="157162"/>
          </a:xfrm>
          <a:prstGeom prst="rect">
            <a:avLst/>
          </a:prstGeom>
          <a:noFill/>
        </p:spPr>
        <p:txBody>
          <a:bodyPr wrap="none" anchor="ctr" lIns="0" rIns="0" tIns="0" bIns="0">
            <a:noAutofit/>
          </a:bodyPr>
          <a:lstStyle/>
          <a:p>
            <a:pPr algn="ctr"/>
            <a:r>
              <a:rPr sz="1000" b="0" i="0">
                <a:solidFill>
                  <a:srgbClr val="000000"/>
                </a:solidFill>
                <a:latin typeface="Arial"/>
              </a:rPr>
              <a:t>Cohen's d (HC − patient)</a:t>
            </a:r>
          </a:p>
        </p:txBody>
      </p:sp>
      <p:sp>
        <p:nvSpPr>
          <p:cNvPr id="58" name="TextBox 57"/>
          <p:cNvSpPr txBox="1"/>
          <p:nvPr/>
        </p:nvSpPr>
        <p:spPr>
          <a:xfrm>
            <a:off x="3134668" y="4229113"/>
            <a:ext cx="214312"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59" name="TextBox 58"/>
          <p:cNvSpPr txBox="1"/>
          <p:nvPr/>
        </p:nvSpPr>
        <p:spPr>
          <a:xfrm>
            <a:off x="3173244" y="3791022"/>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60" name="TextBox 59"/>
          <p:cNvSpPr txBox="1"/>
          <p:nvPr/>
        </p:nvSpPr>
        <p:spPr>
          <a:xfrm>
            <a:off x="3173244" y="3352930"/>
            <a:ext cx="171450" cy="119186"/>
          </a:xfrm>
          <a:prstGeom prst="rect">
            <a:avLst/>
          </a:prstGeom>
          <a:noFill/>
        </p:spPr>
        <p:txBody>
          <a:bodyPr wrap="none" anchor="ctr" lIns="0" rIns="0" tIns="0" bIns="0">
            <a:noAutofit/>
          </a:bodyPr>
          <a:lstStyle/>
          <a:p>
            <a:pPr algn="r"/>
            <a:r>
              <a:rPr sz="800" b="0" i="0">
                <a:solidFill>
                  <a:srgbClr val="000000"/>
                </a:solidFill>
                <a:latin typeface="Arial"/>
              </a:rPr>
              <a:t>0.5</a:t>
            </a:r>
          </a:p>
        </p:txBody>
      </p:sp>
      <p:sp>
        <p:nvSpPr>
          <p:cNvPr id="61" name="TextBox 60"/>
          <p:cNvSpPr txBox="1"/>
          <p:nvPr/>
        </p:nvSpPr>
        <p:spPr>
          <a:xfrm>
            <a:off x="3173244" y="2914839"/>
            <a:ext cx="17145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62" name="TextBox 61"/>
          <p:cNvSpPr txBox="1"/>
          <p:nvPr/>
        </p:nvSpPr>
        <p:spPr>
          <a:xfrm>
            <a:off x="3173244" y="2476748"/>
            <a:ext cx="171450" cy="119186"/>
          </a:xfrm>
          <a:prstGeom prst="rect">
            <a:avLst/>
          </a:prstGeom>
          <a:noFill/>
        </p:spPr>
        <p:txBody>
          <a:bodyPr wrap="none" anchor="ctr" lIns="0" rIns="0" tIns="0" bIns="0">
            <a:noAutofit/>
          </a:bodyPr>
          <a:lstStyle/>
          <a:p>
            <a:pPr algn="r"/>
            <a:r>
              <a:rPr sz="800" b="0" i="0">
                <a:solidFill>
                  <a:srgbClr val="000000"/>
                </a:solidFill>
                <a:latin typeface="Arial"/>
              </a:rPr>
              <a:t>1.5</a:t>
            </a:r>
          </a:p>
        </p:txBody>
      </p:sp>
      <p:sp>
        <p:nvSpPr>
          <p:cNvPr id="63" name="TextBox 62"/>
          <p:cNvSpPr txBox="1"/>
          <p:nvPr/>
        </p:nvSpPr>
        <p:spPr>
          <a:xfrm>
            <a:off x="3548021" y="3851278"/>
            <a:ext cx="640080" cy="134084"/>
          </a:xfrm>
          <a:prstGeom prst="rect">
            <a:avLst/>
          </a:prstGeom>
          <a:noFill/>
        </p:spPr>
        <p:txBody>
          <a:bodyPr wrap="none" anchor="ctr" lIns="0" rIns="0" tIns="0" bIns="0">
            <a:noAutofit/>
          </a:bodyPr>
          <a:lstStyle/>
          <a:p>
            <a:pPr algn="l"/>
            <a:r>
              <a:rPr sz="900" b="0" i="0">
                <a:solidFill>
                  <a:srgbClr val="000000"/>
                </a:solidFill>
                <a:latin typeface="Arial"/>
              </a:rPr>
              <a:t>measured</a:t>
            </a:r>
          </a:p>
        </p:txBody>
      </p:sp>
      <p:sp>
        <p:nvSpPr>
          <p:cNvPr id="64" name="TextBox 63"/>
          <p:cNvSpPr txBox="1"/>
          <p:nvPr/>
        </p:nvSpPr>
        <p:spPr>
          <a:xfrm>
            <a:off x="3550593" y="3987121"/>
            <a:ext cx="614362" cy="134084"/>
          </a:xfrm>
          <a:prstGeom prst="rect">
            <a:avLst/>
          </a:prstGeom>
          <a:noFill/>
        </p:spPr>
        <p:txBody>
          <a:bodyPr wrap="none" anchor="ctr" lIns="0" rIns="0" tIns="0" bIns="0">
            <a:noAutofit/>
          </a:bodyPr>
          <a:lstStyle/>
          <a:p>
            <a:pPr algn="l"/>
            <a:r>
              <a:rPr sz="900" b="0" i="0">
                <a:solidFill>
                  <a:srgbClr val="000000"/>
                </a:solidFill>
                <a:latin typeface="Arial"/>
              </a:rPr>
              <a:t>simulated</a:t>
            </a:r>
          </a:p>
        </p:txBody>
      </p:sp>
      <p:sp>
        <p:nvSpPr>
          <p:cNvPr id="65" name="TextBox 64"/>
          <p:cNvSpPr txBox="1"/>
          <p:nvPr/>
        </p:nvSpPr>
        <p:spPr>
          <a:xfrm>
            <a:off x="6001436" y="2944443"/>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66" name="TextBox 65"/>
          <p:cNvSpPr txBox="1"/>
          <p:nvPr/>
        </p:nvSpPr>
        <p:spPr>
          <a:xfrm>
            <a:off x="6224561" y="2790969"/>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67" name="TextBox 66"/>
          <p:cNvSpPr txBox="1"/>
          <p:nvPr/>
        </p:nvSpPr>
        <p:spPr>
          <a:xfrm>
            <a:off x="5621148" y="4200019"/>
            <a:ext cx="477202" cy="119186"/>
          </a:xfrm>
          <a:prstGeom prst="rect">
            <a:avLst/>
          </a:prstGeom>
          <a:noFill/>
        </p:spPr>
        <p:txBody>
          <a:bodyPr wrap="none" anchor="ctr" lIns="0" rIns="0" tIns="0" bIns="0">
            <a:noAutofit/>
          </a:bodyPr>
          <a:lstStyle/>
          <a:p>
            <a:pPr algn="ctr"/>
            <a:r>
              <a:rPr sz="800" b="0" i="0">
                <a:solidFill>
                  <a:srgbClr val="000000"/>
                </a:solidFill>
                <a:latin typeface="Arial"/>
              </a:rPr>
              <a:t>Baseline</a:t>
            </a:r>
          </a:p>
        </p:txBody>
      </p:sp>
      <p:sp>
        <p:nvSpPr>
          <p:cNvPr id="68" name="TextBox 67"/>
          <p:cNvSpPr txBox="1"/>
          <p:nvPr/>
        </p:nvSpPr>
        <p:spPr>
          <a:xfrm>
            <a:off x="6096397" y="4200019"/>
            <a:ext cx="419204" cy="119186"/>
          </a:xfrm>
          <a:prstGeom prst="rect">
            <a:avLst/>
          </a:prstGeom>
          <a:noFill/>
        </p:spPr>
        <p:txBody>
          <a:bodyPr wrap="none" anchor="ctr" lIns="0" rIns="0" tIns="0" bIns="0">
            <a:noAutofit/>
          </a:bodyPr>
          <a:lstStyle/>
          <a:p>
            <a:pPr algn="ctr"/>
            <a:r>
              <a:rPr sz="800" b="0" i="0">
                <a:solidFill>
                  <a:srgbClr val="000000"/>
                </a:solidFill>
                <a:latin typeface="Arial"/>
              </a:rPr>
              <a:t>+AMPA</a:t>
            </a:r>
          </a:p>
        </p:txBody>
      </p:sp>
      <p:sp>
        <p:nvSpPr>
          <p:cNvPr id="69" name="TextBox 68"/>
          <p:cNvSpPr txBox="1"/>
          <p:nvPr/>
        </p:nvSpPr>
        <p:spPr>
          <a:xfrm>
            <a:off x="6479358" y="4200019"/>
            <a:ext cx="545782" cy="119186"/>
          </a:xfrm>
          <a:prstGeom prst="rect">
            <a:avLst/>
          </a:prstGeom>
          <a:noFill/>
        </p:spPr>
        <p:txBody>
          <a:bodyPr wrap="none" anchor="ctr" lIns="0" rIns="0" tIns="0" bIns="0">
            <a:noAutofit/>
          </a:bodyPr>
          <a:lstStyle/>
          <a:p>
            <a:pPr algn="ctr"/>
            <a:r>
              <a:rPr sz="800" b="0" i="0">
                <a:solidFill>
                  <a:srgbClr val="000000"/>
                </a:solidFill>
                <a:latin typeface="Arial"/>
              </a:rPr>
              <a:t>+GABA-A</a:t>
            </a:r>
          </a:p>
        </p:txBody>
      </p:sp>
      <p:sp>
        <p:nvSpPr>
          <p:cNvPr id="70" name="TextBox 69"/>
          <p:cNvSpPr txBox="1"/>
          <p:nvPr/>
        </p:nvSpPr>
        <p:spPr>
          <a:xfrm rot="16200000">
            <a:off x="4937633" y="3383596"/>
            <a:ext cx="665797" cy="148983"/>
          </a:xfrm>
          <a:prstGeom prst="rect">
            <a:avLst/>
          </a:prstGeom>
          <a:noFill/>
        </p:spPr>
        <p:txBody>
          <a:bodyPr wrap="none" anchor="ctr" lIns="0" rIns="0" tIns="0" bIns="0">
            <a:noAutofit/>
          </a:bodyPr>
          <a:lstStyle/>
          <a:p>
            <a:pPr algn="ctr"/>
            <a:r>
              <a:rPr sz="1000" b="0" i="0">
                <a:solidFill>
                  <a:srgbClr val="000000"/>
                </a:solidFill>
                <a:latin typeface="Arial"/>
              </a:rPr>
              <a:t>NP factor</a:t>
            </a:r>
          </a:p>
        </p:txBody>
      </p:sp>
      <p:sp>
        <p:nvSpPr>
          <p:cNvPr id="71" name="TextBox 70"/>
          <p:cNvSpPr txBox="1"/>
          <p:nvPr/>
        </p:nvSpPr>
        <p:spPr>
          <a:xfrm>
            <a:off x="5354668" y="4328613"/>
            <a:ext cx="214312"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72" name="TextBox 71"/>
          <p:cNvSpPr txBox="1"/>
          <p:nvPr/>
        </p:nvSpPr>
        <p:spPr>
          <a:xfrm>
            <a:off x="5354668" y="4068741"/>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73" name="TextBox 72"/>
          <p:cNvSpPr txBox="1"/>
          <p:nvPr/>
        </p:nvSpPr>
        <p:spPr>
          <a:xfrm>
            <a:off x="5393244" y="3808869"/>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74" name="TextBox 73"/>
          <p:cNvSpPr txBox="1"/>
          <p:nvPr/>
        </p:nvSpPr>
        <p:spPr>
          <a:xfrm>
            <a:off x="5393244" y="3548997"/>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75" name="TextBox 74"/>
          <p:cNvSpPr txBox="1"/>
          <p:nvPr/>
        </p:nvSpPr>
        <p:spPr>
          <a:xfrm>
            <a:off x="5393244" y="3289125"/>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76" name="TextBox 75"/>
          <p:cNvSpPr txBox="1"/>
          <p:nvPr/>
        </p:nvSpPr>
        <p:spPr>
          <a:xfrm>
            <a:off x="5393244" y="3029253"/>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77" name="TextBox 76"/>
          <p:cNvSpPr txBox="1"/>
          <p:nvPr/>
        </p:nvSpPr>
        <p:spPr>
          <a:xfrm>
            <a:off x="5331522" y="2769381"/>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78" name="TextBox 77"/>
          <p:cNvSpPr txBox="1"/>
          <p:nvPr/>
        </p:nvSpPr>
        <p:spPr>
          <a:xfrm>
            <a:off x="5331522" y="2509509"/>
            <a:ext cx="240030" cy="119186"/>
          </a:xfrm>
          <a:prstGeom prst="rect">
            <a:avLst/>
          </a:prstGeom>
          <a:noFill/>
        </p:spPr>
        <p:txBody>
          <a:bodyPr wrap="none" anchor="ctr" lIns="0" rIns="0" tIns="0" bIns="0">
            <a:noAutofit/>
          </a:bodyPr>
          <a:lstStyle/>
          <a:p>
            <a:pPr algn="r"/>
            <a:r>
              <a:rPr sz="800" b="0" i="0">
                <a:solidFill>
                  <a:srgbClr val="000000"/>
                </a:solidFill>
                <a:latin typeface="Arial"/>
              </a:rPr>
              <a:t>12.5</a:t>
            </a:r>
          </a:p>
        </p:txBody>
      </p:sp>
      <p:sp>
        <p:nvSpPr>
          <p:cNvPr id="79" name="TextBox 78"/>
          <p:cNvSpPr txBox="1"/>
          <p:nvPr/>
        </p:nvSpPr>
        <p:spPr>
          <a:xfrm>
            <a:off x="1263424" y="6696206"/>
            <a:ext cx="1205150" cy="148983"/>
          </a:xfrm>
          <a:prstGeom prst="rect">
            <a:avLst/>
          </a:prstGeom>
          <a:noFill/>
        </p:spPr>
        <p:txBody>
          <a:bodyPr wrap="none" anchor="ctr" lIns="0" rIns="0" tIns="0" bIns="0">
            <a:noAutofit/>
          </a:bodyPr>
          <a:lstStyle/>
          <a:p>
            <a:pPr algn="ctr"/>
            <a:r>
              <a:rPr sz="1000" b="0" i="0">
                <a:solidFill>
                  <a:srgbClr val="000000"/>
                </a:solidFill>
                <a:latin typeface="Arial"/>
              </a:rPr>
              <a:t>Δ NP after AMPA</a:t>
            </a:r>
          </a:p>
        </p:txBody>
      </p:sp>
      <p:sp>
        <p:nvSpPr>
          <p:cNvPr id="80" name="TextBox 79"/>
          <p:cNvSpPr txBox="1"/>
          <p:nvPr/>
        </p:nvSpPr>
        <p:spPr>
          <a:xfrm>
            <a:off x="658662" y="6578437"/>
            <a:ext cx="111442" cy="119186"/>
          </a:xfrm>
          <a:prstGeom prst="rect">
            <a:avLst/>
          </a:prstGeom>
          <a:noFill/>
        </p:spPr>
        <p:txBody>
          <a:bodyPr wrap="none" anchor="ctr" lIns="0" rIns="0" tIns="0" bIns="0">
            <a:noAutofit/>
          </a:bodyPr>
          <a:lstStyle/>
          <a:p>
            <a:pPr algn="ctr"/>
            <a:r>
              <a:rPr sz="800" b="0" i="0">
                <a:solidFill>
                  <a:srgbClr val="000000"/>
                </a:solidFill>
                <a:latin typeface="Arial"/>
              </a:rPr>
              <a:t>-4</a:t>
            </a:r>
          </a:p>
        </p:txBody>
      </p:sp>
      <p:sp>
        <p:nvSpPr>
          <p:cNvPr id="81" name="TextBox 80"/>
          <p:cNvSpPr txBox="1"/>
          <p:nvPr/>
        </p:nvSpPr>
        <p:spPr>
          <a:xfrm>
            <a:off x="1107825" y="6578437"/>
            <a:ext cx="111442"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82" name="TextBox 81"/>
          <p:cNvSpPr txBox="1"/>
          <p:nvPr/>
        </p:nvSpPr>
        <p:spPr>
          <a:xfrm>
            <a:off x="1578420" y="6578437"/>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83" name="TextBox 82"/>
          <p:cNvSpPr txBox="1"/>
          <p:nvPr/>
        </p:nvSpPr>
        <p:spPr>
          <a:xfrm>
            <a:off x="2027584" y="6578437"/>
            <a:ext cx="68580"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84" name="TextBox 83"/>
          <p:cNvSpPr txBox="1"/>
          <p:nvPr/>
        </p:nvSpPr>
        <p:spPr>
          <a:xfrm>
            <a:off x="2476748" y="6578437"/>
            <a:ext cx="68580" cy="119186"/>
          </a:xfrm>
          <a:prstGeom prst="rect">
            <a:avLst/>
          </a:prstGeom>
          <a:noFill/>
        </p:spPr>
        <p:txBody>
          <a:bodyPr wrap="none" anchor="ctr" lIns="0" rIns="0" tIns="0" bIns="0">
            <a:noAutofit/>
          </a:bodyPr>
          <a:lstStyle/>
          <a:p>
            <a:pPr algn="ctr"/>
            <a:r>
              <a:rPr sz="800" b="0" i="0">
                <a:solidFill>
                  <a:srgbClr val="000000"/>
                </a:solidFill>
                <a:latin typeface="Arial"/>
              </a:rPr>
              <a:t>4</a:t>
            </a:r>
          </a:p>
        </p:txBody>
      </p:sp>
      <p:sp>
        <p:nvSpPr>
          <p:cNvPr id="85" name="TextBox 84"/>
          <p:cNvSpPr txBox="1"/>
          <p:nvPr/>
        </p:nvSpPr>
        <p:spPr>
          <a:xfrm>
            <a:off x="2925912" y="6578437"/>
            <a:ext cx="68580" cy="119186"/>
          </a:xfrm>
          <a:prstGeom prst="rect">
            <a:avLst/>
          </a:prstGeom>
          <a:noFill/>
        </p:spPr>
        <p:txBody>
          <a:bodyPr wrap="none" anchor="ctr" lIns="0" rIns="0" tIns="0" bIns="0">
            <a:noAutofit/>
          </a:bodyPr>
          <a:lstStyle/>
          <a:p>
            <a:pPr algn="ctr"/>
            <a:r>
              <a:rPr sz="800" b="0" i="0">
                <a:solidFill>
                  <a:srgbClr val="000000"/>
                </a:solidFill>
                <a:latin typeface="Arial"/>
              </a:rPr>
              <a:t>6</a:t>
            </a:r>
          </a:p>
        </p:txBody>
      </p:sp>
      <p:sp>
        <p:nvSpPr>
          <p:cNvPr id="86" name="TextBox 85"/>
          <p:cNvSpPr txBox="1"/>
          <p:nvPr/>
        </p:nvSpPr>
        <p:spPr>
          <a:xfrm rot="16200000">
            <a:off x="141331" y="5761222"/>
            <a:ext cx="1377136" cy="150566"/>
          </a:xfrm>
          <a:prstGeom prst="rect">
            <a:avLst/>
          </a:prstGeom>
          <a:noFill/>
        </p:spPr>
        <p:txBody>
          <a:bodyPr wrap="none" anchor="ctr" lIns="0" rIns="0" tIns="0" bIns="0">
            <a:noAutofit/>
          </a:bodyPr>
          <a:lstStyle/>
          <a:p>
            <a:pPr algn="ctr"/>
            <a:r>
              <a:rPr sz="1000" b="0" i="0">
                <a:solidFill>
                  <a:srgbClr val="000000"/>
                </a:solidFill>
                <a:latin typeface="Arial"/>
              </a:rPr>
              <a:t>Δ NP after GABA-A</a:t>
            </a:r>
          </a:p>
        </p:txBody>
      </p:sp>
      <p:sp>
        <p:nvSpPr>
          <p:cNvPr id="87" name="TextBox 86"/>
          <p:cNvSpPr txBox="1"/>
          <p:nvPr/>
        </p:nvSpPr>
        <p:spPr>
          <a:xfrm>
            <a:off x="914668" y="6549836"/>
            <a:ext cx="214312"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88" name="TextBox 87"/>
          <p:cNvSpPr txBox="1"/>
          <p:nvPr/>
        </p:nvSpPr>
        <p:spPr>
          <a:xfrm>
            <a:off x="953245" y="6291026"/>
            <a:ext cx="171450" cy="119186"/>
          </a:xfrm>
          <a:prstGeom prst="rect">
            <a:avLst/>
          </a:prstGeom>
          <a:noFill/>
        </p:spPr>
        <p:txBody>
          <a:bodyPr wrap="none" anchor="ctr" lIns="0" rIns="0" tIns="0" bIns="0">
            <a:noAutofit/>
          </a:bodyPr>
          <a:lstStyle/>
          <a:p>
            <a:pPr algn="r"/>
            <a:r>
              <a:rPr sz="800" b="0" i="0">
                <a:solidFill>
                  <a:srgbClr val="000000"/>
                </a:solidFill>
                <a:latin typeface="Arial"/>
              </a:rPr>
              <a:t>0.0</a:t>
            </a:r>
          </a:p>
        </p:txBody>
      </p:sp>
      <p:sp>
        <p:nvSpPr>
          <p:cNvPr id="89" name="TextBox 88"/>
          <p:cNvSpPr txBox="1"/>
          <p:nvPr/>
        </p:nvSpPr>
        <p:spPr>
          <a:xfrm>
            <a:off x="953245" y="6032216"/>
            <a:ext cx="171450" cy="119186"/>
          </a:xfrm>
          <a:prstGeom prst="rect">
            <a:avLst/>
          </a:prstGeom>
          <a:noFill/>
        </p:spPr>
        <p:txBody>
          <a:bodyPr wrap="none" anchor="ctr" lIns="0" rIns="0" tIns="0" bIns="0">
            <a:noAutofit/>
          </a:bodyPr>
          <a:lstStyle/>
          <a:p>
            <a:pPr algn="r"/>
            <a:r>
              <a:rPr sz="800" b="0" i="0">
                <a:solidFill>
                  <a:srgbClr val="000000"/>
                </a:solidFill>
                <a:latin typeface="Arial"/>
              </a:rPr>
              <a:t>2.5</a:t>
            </a:r>
          </a:p>
        </p:txBody>
      </p:sp>
      <p:sp>
        <p:nvSpPr>
          <p:cNvPr id="90" name="TextBox 89"/>
          <p:cNvSpPr txBox="1"/>
          <p:nvPr/>
        </p:nvSpPr>
        <p:spPr>
          <a:xfrm>
            <a:off x="953245" y="5773406"/>
            <a:ext cx="17145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91" name="TextBox 90"/>
          <p:cNvSpPr txBox="1"/>
          <p:nvPr/>
        </p:nvSpPr>
        <p:spPr>
          <a:xfrm>
            <a:off x="953245" y="5514596"/>
            <a:ext cx="171450" cy="119186"/>
          </a:xfrm>
          <a:prstGeom prst="rect">
            <a:avLst/>
          </a:prstGeom>
          <a:noFill/>
        </p:spPr>
        <p:txBody>
          <a:bodyPr wrap="none" anchor="ctr" lIns="0" rIns="0" tIns="0" bIns="0">
            <a:noAutofit/>
          </a:bodyPr>
          <a:lstStyle/>
          <a:p>
            <a:pPr algn="r"/>
            <a:r>
              <a:rPr sz="800" b="0" i="0">
                <a:solidFill>
                  <a:srgbClr val="000000"/>
                </a:solidFill>
                <a:latin typeface="Arial"/>
              </a:rPr>
              <a:t>7.5</a:t>
            </a:r>
          </a:p>
        </p:txBody>
      </p:sp>
      <p:sp>
        <p:nvSpPr>
          <p:cNvPr id="92" name="TextBox 91"/>
          <p:cNvSpPr txBox="1"/>
          <p:nvPr/>
        </p:nvSpPr>
        <p:spPr>
          <a:xfrm>
            <a:off x="891523" y="5255787"/>
            <a:ext cx="24003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93" name="TextBox 92"/>
          <p:cNvSpPr txBox="1"/>
          <p:nvPr/>
        </p:nvSpPr>
        <p:spPr>
          <a:xfrm>
            <a:off x="891523" y="4996977"/>
            <a:ext cx="240030" cy="119186"/>
          </a:xfrm>
          <a:prstGeom prst="rect">
            <a:avLst/>
          </a:prstGeom>
          <a:noFill/>
        </p:spPr>
        <p:txBody>
          <a:bodyPr wrap="none" anchor="ctr" lIns="0" rIns="0" tIns="0" bIns="0">
            <a:noAutofit/>
          </a:bodyPr>
          <a:lstStyle/>
          <a:p>
            <a:pPr algn="r"/>
            <a:r>
              <a:rPr sz="800" b="0" i="0">
                <a:solidFill>
                  <a:srgbClr val="000000"/>
                </a:solidFill>
                <a:latin typeface="Arial"/>
              </a:rPr>
              <a:t>12.5</a:t>
            </a:r>
          </a:p>
        </p:txBody>
      </p:sp>
      <p:sp>
        <p:nvSpPr>
          <p:cNvPr id="94" name="TextBox 93"/>
          <p:cNvSpPr txBox="1"/>
          <p:nvPr/>
        </p:nvSpPr>
        <p:spPr>
          <a:xfrm>
            <a:off x="1311645" y="4974679"/>
            <a:ext cx="480060" cy="134084"/>
          </a:xfrm>
          <a:prstGeom prst="rect">
            <a:avLst/>
          </a:prstGeom>
          <a:noFill/>
        </p:spPr>
        <p:txBody>
          <a:bodyPr wrap="none" anchor="ctr" lIns="0" rIns="0" tIns="0" bIns="0">
            <a:noAutofit/>
          </a:bodyPr>
          <a:lstStyle/>
          <a:p>
            <a:pPr algn="l"/>
            <a:r>
              <a:rPr sz="900" b="0" i="0">
                <a:solidFill>
                  <a:srgbClr val="000000"/>
                </a:solidFill>
                <a:latin typeface="Arial"/>
              </a:rPr>
              <a:t>both up</a:t>
            </a:r>
          </a:p>
        </p:txBody>
      </p:sp>
      <p:sp>
        <p:nvSpPr>
          <p:cNvPr id="95" name="TextBox 94"/>
          <p:cNvSpPr txBox="1"/>
          <p:nvPr/>
        </p:nvSpPr>
        <p:spPr>
          <a:xfrm>
            <a:off x="2025162" y="4974679"/>
            <a:ext cx="614362" cy="134084"/>
          </a:xfrm>
          <a:prstGeom prst="rect">
            <a:avLst/>
          </a:prstGeom>
          <a:noFill/>
        </p:spPr>
        <p:txBody>
          <a:bodyPr wrap="none" anchor="ctr" lIns="0" rIns="0" tIns="0" bIns="0">
            <a:noAutofit/>
          </a:bodyPr>
          <a:lstStyle/>
          <a:p>
            <a:pPr algn="l"/>
            <a:r>
              <a:rPr sz="900" b="0" i="0">
                <a:solidFill>
                  <a:srgbClr val="000000"/>
                </a:solidFill>
                <a:latin typeface="Arial"/>
              </a:rPr>
              <a:t>any down</a:t>
            </a:r>
          </a:p>
        </p:txBody>
      </p:sp>
      <p:sp>
        <p:nvSpPr>
          <p:cNvPr id="96" name="TextBox 95"/>
          <p:cNvSpPr txBox="1"/>
          <p:nvPr/>
        </p:nvSpPr>
        <p:spPr>
          <a:xfrm>
            <a:off x="4004561" y="5171816"/>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97" name="TextBox 96"/>
          <p:cNvSpPr txBox="1"/>
          <p:nvPr/>
        </p:nvSpPr>
        <p:spPr>
          <a:xfrm>
            <a:off x="3548309" y="6578437"/>
            <a:ext cx="182880" cy="119186"/>
          </a:xfrm>
          <a:prstGeom prst="rect">
            <a:avLst/>
          </a:prstGeom>
          <a:noFill/>
        </p:spPr>
        <p:txBody>
          <a:bodyPr wrap="none" anchor="ctr" lIns="0" rIns="0" tIns="0" bIns="0">
            <a:noAutofit/>
          </a:bodyPr>
          <a:lstStyle/>
          <a:p>
            <a:pPr algn="ctr"/>
            <a:r>
              <a:rPr sz="800" b="0" i="0">
                <a:solidFill>
                  <a:srgbClr val="000000"/>
                </a:solidFill>
                <a:latin typeface="Arial"/>
              </a:rPr>
              <a:t>HC</a:t>
            </a:r>
          </a:p>
        </p:txBody>
      </p:sp>
      <p:sp>
        <p:nvSpPr>
          <p:cNvPr id="98" name="TextBox 97"/>
          <p:cNvSpPr txBox="1"/>
          <p:nvPr/>
        </p:nvSpPr>
        <p:spPr>
          <a:xfrm>
            <a:off x="3831682" y="6562711"/>
            <a:ext cx="508635" cy="276448"/>
          </a:xfrm>
          <a:prstGeom prst="rect">
            <a:avLst/>
          </a:prstGeom>
          <a:noFill/>
        </p:spPr>
        <p:txBody>
          <a:bodyPr wrap="none" anchor="ctr" lIns="0" rIns="0" tIns="0" bIns="0">
            <a:noAutofit/>
          </a:bodyPr>
          <a:lstStyle/>
          <a:p>
            <a:pPr algn="ctr"/>
            <a:r>
              <a:rPr sz="800" b="0" i="0">
                <a:solidFill>
                  <a:srgbClr val="000000"/>
                </a:solidFill>
                <a:latin typeface="Arial"/>
              </a:rPr>
              <a:t>High-
symptom</a:t>
            </a:r>
          </a:p>
        </p:txBody>
      </p:sp>
      <p:sp>
        <p:nvSpPr>
          <p:cNvPr id="99" name="TextBox 98"/>
          <p:cNvSpPr txBox="1"/>
          <p:nvPr/>
        </p:nvSpPr>
        <p:spPr>
          <a:xfrm>
            <a:off x="4339368" y="6578437"/>
            <a:ext cx="385762" cy="119186"/>
          </a:xfrm>
          <a:prstGeom prst="rect">
            <a:avLst/>
          </a:prstGeom>
          <a:noFill/>
        </p:spPr>
        <p:txBody>
          <a:bodyPr wrap="none" anchor="ctr" lIns="0" rIns="0" tIns="0" bIns="0">
            <a:noAutofit/>
          </a:bodyPr>
          <a:lstStyle/>
          <a:p>
            <a:pPr algn="ctr"/>
            <a:r>
              <a:rPr sz="800" b="0" i="0">
                <a:solidFill>
                  <a:srgbClr val="000000"/>
                </a:solidFill>
                <a:latin typeface="Arial"/>
              </a:rPr>
              <a:t>Patient</a:t>
            </a:r>
          </a:p>
        </p:txBody>
      </p:sp>
      <p:sp>
        <p:nvSpPr>
          <p:cNvPr id="100" name="TextBox 99"/>
          <p:cNvSpPr txBox="1"/>
          <p:nvPr/>
        </p:nvSpPr>
        <p:spPr>
          <a:xfrm rot="16200000">
            <a:off x="2726581" y="5762014"/>
            <a:ext cx="702766" cy="148983"/>
          </a:xfrm>
          <a:prstGeom prst="rect">
            <a:avLst/>
          </a:prstGeom>
          <a:noFill/>
        </p:spPr>
        <p:txBody>
          <a:bodyPr wrap="none" anchor="ctr" lIns="0" rIns="0" tIns="0" bIns="0">
            <a:noAutofit/>
          </a:bodyPr>
          <a:lstStyle/>
          <a:p>
            <a:pPr algn="ctr"/>
            <a:r>
              <a:rPr sz="1000" b="0" i="0">
                <a:solidFill>
                  <a:srgbClr val="000000"/>
                </a:solidFill>
                <a:latin typeface="Arial"/>
              </a:rPr>
              <a:t>Twins (%)</a:t>
            </a:r>
          </a:p>
        </p:txBody>
      </p:sp>
      <p:sp>
        <p:nvSpPr>
          <p:cNvPr id="101" name="TextBox 100"/>
          <p:cNvSpPr txBox="1"/>
          <p:nvPr/>
        </p:nvSpPr>
        <p:spPr>
          <a:xfrm>
            <a:off x="3265827" y="6471603"/>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02" name="TextBox 101"/>
          <p:cNvSpPr txBox="1"/>
          <p:nvPr/>
        </p:nvSpPr>
        <p:spPr>
          <a:xfrm>
            <a:off x="3204105" y="5891942"/>
            <a:ext cx="137160" cy="119186"/>
          </a:xfrm>
          <a:prstGeom prst="rect">
            <a:avLst/>
          </a:prstGeom>
          <a:noFill/>
        </p:spPr>
        <p:txBody>
          <a:bodyPr wrap="none" anchor="ctr" lIns="0" rIns="0" tIns="0" bIns="0">
            <a:noAutofit/>
          </a:bodyPr>
          <a:lstStyle/>
          <a:p>
            <a:pPr algn="r"/>
            <a:r>
              <a:rPr sz="800" b="0" i="0">
                <a:solidFill>
                  <a:srgbClr val="000000"/>
                </a:solidFill>
                <a:latin typeface="Arial"/>
              </a:rPr>
              <a:t>50</a:t>
            </a:r>
          </a:p>
        </p:txBody>
      </p:sp>
      <p:sp>
        <p:nvSpPr>
          <p:cNvPr id="103" name="TextBox 102"/>
          <p:cNvSpPr txBox="1"/>
          <p:nvPr/>
        </p:nvSpPr>
        <p:spPr>
          <a:xfrm>
            <a:off x="3142384" y="5312281"/>
            <a:ext cx="205740" cy="119186"/>
          </a:xfrm>
          <a:prstGeom prst="rect">
            <a:avLst/>
          </a:prstGeom>
          <a:noFill/>
        </p:spPr>
        <p:txBody>
          <a:bodyPr wrap="none" anchor="ctr" lIns="0" rIns="0" tIns="0" bIns="0">
            <a:noAutofit/>
          </a:bodyPr>
          <a:lstStyle/>
          <a:p>
            <a:pPr algn="r"/>
            <a:r>
              <a:rPr sz="800" b="0" i="0">
                <a:solidFill>
                  <a:srgbClr val="000000"/>
                </a:solidFill>
                <a:latin typeface="Arial"/>
              </a:rPr>
              <a:t>100</a:t>
            </a:r>
          </a:p>
        </p:txBody>
      </p:sp>
      <p:sp>
        <p:nvSpPr>
          <p:cNvPr id="104" name="TextBox 103"/>
          <p:cNvSpPr txBox="1"/>
          <p:nvPr/>
        </p:nvSpPr>
        <p:spPr>
          <a:xfrm>
            <a:off x="3531644" y="4974679"/>
            <a:ext cx="480060" cy="134084"/>
          </a:xfrm>
          <a:prstGeom prst="rect">
            <a:avLst/>
          </a:prstGeom>
          <a:noFill/>
        </p:spPr>
        <p:txBody>
          <a:bodyPr wrap="none" anchor="ctr" lIns="0" rIns="0" tIns="0" bIns="0">
            <a:noAutofit/>
          </a:bodyPr>
          <a:lstStyle/>
          <a:p>
            <a:pPr algn="l"/>
            <a:r>
              <a:rPr sz="900" b="0" i="0">
                <a:solidFill>
                  <a:srgbClr val="000000"/>
                </a:solidFill>
                <a:latin typeface="Arial"/>
              </a:rPr>
              <a:t>both up</a:t>
            </a:r>
          </a:p>
        </p:txBody>
      </p:sp>
      <p:sp>
        <p:nvSpPr>
          <p:cNvPr id="105" name="TextBox 104"/>
          <p:cNvSpPr txBox="1"/>
          <p:nvPr/>
        </p:nvSpPr>
        <p:spPr>
          <a:xfrm>
            <a:off x="4245162" y="4974679"/>
            <a:ext cx="614362" cy="134084"/>
          </a:xfrm>
          <a:prstGeom prst="rect">
            <a:avLst/>
          </a:prstGeom>
          <a:noFill/>
        </p:spPr>
        <p:txBody>
          <a:bodyPr wrap="none" anchor="ctr" lIns="0" rIns="0" tIns="0" bIns="0">
            <a:noAutofit/>
          </a:bodyPr>
          <a:lstStyle/>
          <a:p>
            <a:pPr algn="l"/>
            <a:r>
              <a:rPr sz="900" b="0" i="0">
                <a:solidFill>
                  <a:srgbClr val="000000"/>
                </a:solidFill>
                <a:latin typeface="Arial"/>
              </a:rPr>
              <a:t>any down</a:t>
            </a:r>
          </a:p>
        </p:txBody>
      </p:sp>
      <p:sp>
        <p:nvSpPr>
          <p:cNvPr id="106" name="TextBox 105"/>
          <p:cNvSpPr txBox="1"/>
          <p:nvPr/>
        </p:nvSpPr>
        <p:spPr>
          <a:xfrm>
            <a:off x="6224561" y="5183249"/>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07" name="TextBox 106"/>
          <p:cNvSpPr txBox="1"/>
          <p:nvPr/>
        </p:nvSpPr>
        <p:spPr>
          <a:xfrm>
            <a:off x="5454839" y="4974679"/>
            <a:ext cx="1371600" cy="134084"/>
          </a:xfrm>
          <a:prstGeom prst="rect">
            <a:avLst/>
          </a:prstGeom>
          <a:noFill/>
        </p:spPr>
        <p:txBody>
          <a:bodyPr wrap="none" anchor="ctr" lIns="0" rIns="0" tIns="0" bIns="0">
            <a:noAutofit/>
          </a:bodyPr>
          <a:lstStyle/>
          <a:p>
            <a:pPr algn="l"/>
            <a:r>
              <a:rPr sz="900" b="0" i="0">
                <a:solidFill>
                  <a:srgbClr val="4C4C4C"/>
                </a:solidFill>
                <a:latin typeface="Arial"/>
              </a:rPr>
              <a:t>Baseline by response</a:t>
            </a:r>
          </a:p>
        </p:txBody>
      </p:sp>
      <p:sp>
        <p:nvSpPr>
          <p:cNvPr id="108" name="TextBox 107"/>
          <p:cNvSpPr txBox="1"/>
          <p:nvPr/>
        </p:nvSpPr>
        <p:spPr>
          <a:xfrm>
            <a:off x="5861439" y="6562711"/>
            <a:ext cx="240030" cy="276448"/>
          </a:xfrm>
          <a:prstGeom prst="rect">
            <a:avLst/>
          </a:prstGeom>
          <a:noFill/>
        </p:spPr>
        <p:txBody>
          <a:bodyPr wrap="none" anchor="ctr" lIns="0" rIns="0" tIns="0" bIns="0">
            <a:noAutofit/>
          </a:bodyPr>
          <a:lstStyle/>
          <a:p>
            <a:pPr algn="ctr"/>
            <a:r>
              <a:rPr sz="800" b="0" i="0">
                <a:solidFill>
                  <a:srgbClr val="000000"/>
                </a:solidFill>
                <a:latin typeface="Arial"/>
              </a:rPr>
              <a:t>both
up</a:t>
            </a:r>
          </a:p>
        </p:txBody>
      </p:sp>
      <p:sp>
        <p:nvSpPr>
          <p:cNvPr id="109" name="TextBox 108"/>
          <p:cNvSpPr txBox="1"/>
          <p:nvPr/>
        </p:nvSpPr>
        <p:spPr>
          <a:xfrm>
            <a:off x="6481955" y="6562711"/>
            <a:ext cx="297180" cy="276448"/>
          </a:xfrm>
          <a:prstGeom prst="rect">
            <a:avLst/>
          </a:prstGeom>
          <a:noFill/>
        </p:spPr>
        <p:txBody>
          <a:bodyPr wrap="none" anchor="ctr" lIns="0" rIns="0" tIns="0" bIns="0">
            <a:noAutofit/>
          </a:bodyPr>
          <a:lstStyle/>
          <a:p>
            <a:pPr algn="ctr"/>
            <a:r>
              <a:rPr sz="800" b="0" i="0">
                <a:solidFill>
                  <a:srgbClr val="000000"/>
                </a:solidFill>
                <a:latin typeface="Arial"/>
              </a:rPr>
              <a:t>any
down</a:t>
            </a:r>
          </a:p>
        </p:txBody>
      </p:sp>
      <p:sp>
        <p:nvSpPr>
          <p:cNvPr id="110" name="TextBox 109"/>
          <p:cNvSpPr txBox="1"/>
          <p:nvPr/>
        </p:nvSpPr>
        <p:spPr>
          <a:xfrm rot="16200000">
            <a:off x="4465351" y="5761222"/>
            <a:ext cx="1611630" cy="150566"/>
          </a:xfrm>
          <a:prstGeom prst="rect">
            <a:avLst/>
          </a:prstGeom>
          <a:noFill/>
        </p:spPr>
        <p:txBody>
          <a:bodyPr wrap="none" anchor="ctr" lIns="0" rIns="0" tIns="0" bIns="0">
            <a:noAutofit/>
          </a:bodyPr>
          <a:lstStyle/>
          <a:p>
            <a:pPr algn="ctr"/>
            <a:r>
              <a:rPr sz="1000" b="0" i="0">
                <a:solidFill>
                  <a:srgbClr val="000000"/>
                </a:solidFill>
                <a:latin typeface="Arial"/>
              </a:rPr>
              <a:t>Simulated baseline NP</a:t>
            </a:r>
          </a:p>
        </p:txBody>
      </p:sp>
      <p:sp>
        <p:nvSpPr>
          <p:cNvPr id="111" name="TextBox 110"/>
          <p:cNvSpPr txBox="1"/>
          <p:nvPr/>
        </p:nvSpPr>
        <p:spPr>
          <a:xfrm>
            <a:off x="5447251" y="6600493"/>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12" name="TextBox 111"/>
          <p:cNvSpPr txBox="1"/>
          <p:nvPr/>
        </p:nvSpPr>
        <p:spPr>
          <a:xfrm>
            <a:off x="5447251" y="6213837"/>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13" name="TextBox 112"/>
          <p:cNvSpPr txBox="1"/>
          <p:nvPr/>
        </p:nvSpPr>
        <p:spPr>
          <a:xfrm>
            <a:off x="5485827" y="5827182"/>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14" name="TextBox 113"/>
          <p:cNvSpPr txBox="1"/>
          <p:nvPr/>
        </p:nvSpPr>
        <p:spPr>
          <a:xfrm>
            <a:off x="5485827" y="5440527"/>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15" name="TextBox 114"/>
          <p:cNvSpPr txBox="1"/>
          <p:nvPr/>
        </p:nvSpPr>
        <p:spPr>
          <a:xfrm>
            <a:off x="5485827" y="5053871"/>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16" name="TextBox 115"/>
          <p:cNvSpPr txBox="1"/>
          <p:nvPr/>
        </p:nvSpPr>
        <p:spPr>
          <a:xfrm>
            <a:off x="619182" y="468106"/>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117" name="TextBox 116"/>
          <p:cNvSpPr txBox="1"/>
          <p:nvPr/>
        </p:nvSpPr>
        <p:spPr>
          <a:xfrm>
            <a:off x="2867023" y="468106"/>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118" name="TextBox 117"/>
          <p:cNvSpPr txBox="1"/>
          <p:nvPr/>
        </p:nvSpPr>
        <p:spPr>
          <a:xfrm>
            <a:off x="5060448" y="468106"/>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119" name="TextBox 118"/>
          <p:cNvSpPr txBox="1"/>
          <p:nvPr/>
        </p:nvSpPr>
        <p:spPr>
          <a:xfrm>
            <a:off x="618325" y="2594194"/>
            <a:ext cx="105727" cy="163881"/>
          </a:xfrm>
          <a:prstGeom prst="rect">
            <a:avLst/>
          </a:prstGeom>
          <a:noFill/>
        </p:spPr>
        <p:txBody>
          <a:bodyPr wrap="none" anchor="ctr" lIns="0" rIns="0" tIns="0" bIns="0">
            <a:noAutofit/>
          </a:bodyPr>
          <a:lstStyle/>
          <a:p>
            <a:pPr algn="l"/>
            <a:r>
              <a:rPr sz="1100" b="1" i="0">
                <a:solidFill>
                  <a:srgbClr val="000000"/>
                </a:solidFill>
                <a:latin typeface="Arial"/>
              </a:rPr>
              <a:t>d</a:t>
            </a:r>
          </a:p>
        </p:txBody>
      </p:sp>
      <p:sp>
        <p:nvSpPr>
          <p:cNvPr id="120" name="TextBox 119"/>
          <p:cNvSpPr txBox="1"/>
          <p:nvPr/>
        </p:nvSpPr>
        <p:spPr>
          <a:xfrm>
            <a:off x="2867880" y="2574106"/>
            <a:ext cx="97155" cy="163881"/>
          </a:xfrm>
          <a:prstGeom prst="rect">
            <a:avLst/>
          </a:prstGeom>
          <a:noFill/>
        </p:spPr>
        <p:txBody>
          <a:bodyPr wrap="none" anchor="ctr" lIns="0" rIns="0" tIns="0" bIns="0">
            <a:noAutofit/>
          </a:bodyPr>
          <a:lstStyle/>
          <a:p>
            <a:pPr algn="l"/>
            <a:r>
              <a:rPr sz="1100" b="1" i="0">
                <a:solidFill>
                  <a:srgbClr val="000000"/>
                </a:solidFill>
                <a:latin typeface="Arial"/>
              </a:rPr>
              <a:t>e</a:t>
            </a:r>
          </a:p>
        </p:txBody>
      </p:sp>
      <p:sp>
        <p:nvSpPr>
          <p:cNvPr id="121" name="TextBox 120"/>
          <p:cNvSpPr txBox="1"/>
          <p:nvPr/>
        </p:nvSpPr>
        <p:spPr>
          <a:xfrm>
            <a:off x="5064449" y="2592884"/>
            <a:ext cx="57150" cy="165337"/>
          </a:xfrm>
          <a:prstGeom prst="rect">
            <a:avLst/>
          </a:prstGeom>
          <a:noFill/>
        </p:spPr>
        <p:txBody>
          <a:bodyPr wrap="none" anchor="ctr" lIns="0" rIns="0" tIns="0" bIns="0">
            <a:noAutofit/>
          </a:bodyPr>
          <a:lstStyle/>
          <a:p>
            <a:pPr algn="l"/>
            <a:r>
              <a:rPr sz="1100" b="1" i="0">
                <a:solidFill>
                  <a:srgbClr val="000000"/>
                </a:solidFill>
                <a:latin typeface="Arial"/>
              </a:rPr>
              <a:t>f</a:t>
            </a:r>
          </a:p>
        </p:txBody>
      </p:sp>
      <p:sp>
        <p:nvSpPr>
          <p:cNvPr id="122" name="TextBox 121"/>
          <p:cNvSpPr txBox="1"/>
          <p:nvPr/>
        </p:nvSpPr>
        <p:spPr>
          <a:xfrm>
            <a:off x="618325" y="4807836"/>
            <a:ext cx="105727" cy="164279"/>
          </a:xfrm>
          <a:prstGeom prst="rect">
            <a:avLst/>
          </a:prstGeom>
          <a:noFill/>
        </p:spPr>
        <p:txBody>
          <a:bodyPr wrap="none" anchor="ctr" lIns="0" rIns="0" tIns="0" bIns="0">
            <a:noAutofit/>
          </a:bodyPr>
          <a:lstStyle/>
          <a:p>
            <a:pPr algn="l"/>
            <a:r>
              <a:rPr sz="1100" b="1" i="0">
                <a:solidFill>
                  <a:srgbClr val="000000"/>
                </a:solidFill>
                <a:latin typeface="Arial"/>
              </a:rPr>
              <a:t>g</a:t>
            </a:r>
          </a:p>
        </p:txBody>
      </p:sp>
      <p:sp>
        <p:nvSpPr>
          <p:cNvPr id="123" name="TextBox 122"/>
          <p:cNvSpPr txBox="1"/>
          <p:nvPr/>
        </p:nvSpPr>
        <p:spPr>
          <a:xfrm>
            <a:off x="2867023" y="4808194"/>
            <a:ext cx="105727" cy="163881"/>
          </a:xfrm>
          <a:prstGeom prst="rect">
            <a:avLst/>
          </a:prstGeom>
          <a:noFill/>
        </p:spPr>
        <p:txBody>
          <a:bodyPr wrap="none" anchor="ctr" lIns="0" rIns="0" tIns="0" bIns="0">
            <a:noAutofit/>
          </a:bodyPr>
          <a:lstStyle/>
          <a:p>
            <a:pPr algn="l"/>
            <a:r>
              <a:rPr sz="1100" b="1" i="0">
                <a:solidFill>
                  <a:srgbClr val="000000"/>
                </a:solidFill>
                <a:latin typeface="Arial"/>
              </a:rPr>
              <a:t>h</a:t>
            </a:r>
          </a:p>
        </p:txBody>
      </p:sp>
      <p:sp>
        <p:nvSpPr>
          <p:cNvPr id="124" name="TextBox 123"/>
          <p:cNvSpPr txBox="1"/>
          <p:nvPr/>
        </p:nvSpPr>
        <p:spPr>
          <a:xfrm>
            <a:off x="5065306" y="4808194"/>
            <a:ext cx="48577" cy="163881"/>
          </a:xfrm>
          <a:prstGeom prst="rect">
            <a:avLst/>
          </a:prstGeom>
          <a:noFill/>
        </p:spPr>
        <p:txBody>
          <a:bodyPr wrap="none" anchor="ctr" lIns="0" rIns="0" tIns="0" bIns="0">
            <a:noAutofit/>
          </a:bodyPr>
          <a:lstStyle/>
          <a:p>
            <a:pPr algn="l"/>
            <a:r>
              <a:rPr sz="1100" b="1" i="0">
                <a:solidFill>
                  <a:srgbClr val="000000"/>
                </a:solidFill>
                <a:latin typeface="Arial"/>
              </a:rPr>
              <a:t>i</a:t>
            </a:r>
          </a:p>
        </p:txBody>
      </p:sp>
      <p:sp>
        <p:nvSpPr>
          <p:cNvPr id="125" name="TextBox 124"/>
          <p:cNvSpPr txBox="1"/>
          <p:nvPr/>
        </p:nvSpPr>
        <p:spPr>
          <a:xfrm>
            <a:off x="540000" y="6916505"/>
            <a:ext cx="6480000" cy="2514599"/>
          </a:xfrm>
          <a:prstGeom prst="rect">
            <a:avLst/>
          </a:prstGeom>
          <a:noFill/>
        </p:spPr>
        <p:txBody>
          <a:bodyPr wrap="square" lIns="0" rIns="0" tIns="0" bIns="0">
            <a:spAutoFit/>
          </a:bodyPr>
          <a:lstStyle/>
          <a:p>
            <a:pPr algn="l"/>
            <a:r>
              <a:rPr sz="800" b="1">
                <a:latin typeface="Arial"/>
              </a:rPr>
              <a:t>Fig. 4 | Virtual perturbation stratifies individuals. </a:t>
            </a:r>
            <a:r>
              <a:rPr sz="800" b="0">
                <a:latin typeface="Arial"/>
              </a:rPr>
              <a:t>Cohort: n = 288 digital twins (HC 69, high-symptom 89, patients 130) after excluding two subjects with mean framewise displacement &gt; 0.5 mm. GABA-A perturbation is always applied on top of the AMPA perturbation. </a:t>
            </a:r>
            <a:r>
              <a:rPr sz="800" b="1">
                <a:latin typeface="Arial"/>
              </a:rPr>
              <a:t>a–d,</a:t>
            </a:r>
            <a:r>
              <a:rPr sz="800" b="0">
                <a:latin typeface="Arial"/>
              </a:rPr>
              <a:t> NP factor by group in four conditions — measured (a), simulated baseline (b), after AMPA (c), after AMPA + GABA-A (d); each panel is scaled to its own data, so the within-panel contrast is comparable, not the absolute level. NP is residualised on sex, site and mean head motion, refit on these 288. Box plots show the median, 25th–75th percentiles and 1.5 × IQR whiskers with all subjects overplotted; unit of observation, one subject. One-way ANOVA, F(2, 285): a F = 8.20, P = 0.00034; b F = 9.22, P = 0.00013; c F = 0.95, P = 0.39; d F = 0.85, P = 0.43. Brackets are pairwise two-sided Welch t tests corrected within each panel by Benjamini–Hochberg FDR. Asterisks: *q &lt; 0.05, **q &lt; 0.01, ***q &lt; 0.001 in a–d (P in e–i); n.s., not significant. q for HC vs high-symptom / HC vs patient / high-symptom vs patient: a 0.024 / 0.0002 / 0.15; b 0.94 / 0.0016 / 0.001; c and d all q ≥ 0.44, so both are marked n.s. </a:t>
            </a:r>
            <a:r>
              <a:rPr sz="800" b="1">
                <a:latin typeface="Arial"/>
              </a:rPr>
              <a:t>e,</a:t>
            </a:r>
            <a:r>
              <a:rPr sz="800" b="0">
                <a:latin typeface="Arial"/>
              </a:rPr>
              <a:t> HC − patient separation across the same four conditions (baseline = simulated baseline; AMPA / GABA-A = after that perturbation): Cohen's d with 95% CI, n = 69 HC versus 130 patients (the high-symptom group is excluded from this contrast by design); two-sided independent t tests, df = 197, uncorrected. The separation present in the measured data and reproduced by the twins is no longer detectable after either perturbation: d = 0.62 (95% CI 0.32 to 0.92), t = 4.11, P &lt; 0.0001 measured; 0.53 (0.23 to 0.83), t = 3.36, P = 0.001 at baseline; 0.18 (-0.11 to 0.47), t = 1.19, P = 0.23 after AMPA; 0.05 (-0.24 to 0.34), t = 0.33, P = 0.74 after GABA-A. </a:t>
            </a:r>
            <a:r>
              <a:rPr sz="800" b="1">
                <a:latin typeface="Arial"/>
              </a:rPr>
              <a:t>f,</a:t>
            </a:r>
            <a:r>
              <a:rPr sz="800" b="0">
                <a:latin typeface="Arial"/>
              </a:rPr>
              <a:t> within-subject effect of each perturbation on the simulated network: box plots (median, 25th–75th percentiles, 1.5 × IQR whiskers) of the 12-edge NP factor at baseline and after each perturbation; the axis is cropped to the whiskers and 7 of 864 values beyond them are not shown. Brackets are two-sided paired t tests against baseline (pairing on subject), n = 288, df = 287, uncorrected, with Cohen's dz and the share of twins that increase: AMPA +0.78 ± 0.93, t = 14.14, dz = 0.83, 234/288 up; GABA-A +2.74 ± 1.71, t = 27.11, dz = 1.60, 282/288 up; both P &lt; 0.0001. </a:t>
            </a:r>
            <a:r>
              <a:rPr sz="800" b="1">
                <a:latin typeface="Arial"/>
              </a:rPr>
              <a:t>g,</a:t>
            </a:r>
            <a:r>
              <a:rPr sz="800" b="0">
                <a:latin typeface="Arial"/>
              </a:rPr>
              <a:t> each twin's change in NP factor under AMPA against the change under GABA-A; 229 of 288 (79.5%) increase under both, 59 have at least one decrease (234/288 increase under AMPA, 282/288 under GABA-A). Descriptive classification; no test is applied to this split, because the grouping is defined by the sign of the plotted quantity. </a:t>
            </a:r>
            <a:r>
              <a:rPr sz="800" b="1">
                <a:latin typeface="Arial"/>
              </a:rPr>
              <a:t>h,</a:t>
            </a:r>
            <a:r>
              <a:rPr sz="800" b="0">
                <a:latin typeface="Arial"/>
              </a:rPr>
              <a:t> the response pattern by clinical group (χ²(2) = 14.2, P = 0.00084); both up / total: HC 51/69, high-symptom 62/89, patients 116/130, i.e. 89% of patients versus 74% of HC. </a:t>
            </a:r>
            <a:r>
              <a:rPr sz="800" b="1">
                <a:latin typeface="Arial"/>
              </a:rPr>
              <a:t>i,</a:t>
            </a:r>
            <a:r>
              <a:rPr sz="800" b="0">
                <a:latin typeface="Arial"/>
              </a:rPr>
              <a:t> simulated baseline NP in the two response groups (both up n = 229, any down n = 59): -0.57 versus 0.88, two-sided Welch t = -14.7, P &lt; 0.0001. The grouping is defined on the perturbation response and the plotted quantity is the unperturbed baseline, so this contrast is not circular.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