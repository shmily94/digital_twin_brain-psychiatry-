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S5_crossbuild_A4_nocap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06918" y="734565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1.00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99236" y="734565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0.89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1554" y="734565"/>
            <a:ext cx="240029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83872" y="734565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76190" y="734565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8508" y="734565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60826" y="734565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6918" y="1026883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0.89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99236" y="1026883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1.00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1554" y="1026883"/>
            <a:ext cx="240029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3872" y="1026883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76190" y="1026883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0.43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8508" y="1026883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0826" y="1026883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0.48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6918" y="1319201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99236" y="1319201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1554" y="1319201"/>
            <a:ext cx="240029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1.00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83872" y="1319201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76190" y="1319201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8508" y="1319201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0.44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60826" y="1319201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0.46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6918" y="1611519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99236" y="1611519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1554" y="1611519"/>
            <a:ext cx="240029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83872" y="1611519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1.00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76190" y="1611519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68508" y="1611519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60826" y="1611519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6918" y="1903837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0.48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99236" y="1903837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0.43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91554" y="1903837"/>
            <a:ext cx="240029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0.40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83872" y="1903837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76190" y="1903837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1.00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68508" y="1903837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0.87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60826" y="1903837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0.91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06918" y="2196154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0.47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99236" y="2196154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0.45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91554" y="2196154"/>
            <a:ext cx="240029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0.44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83872" y="2196154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76190" y="2196154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0.87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68508" y="2196154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1.00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60826" y="2196154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0.93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06918" y="2488472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0.52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99236" y="2488472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0.48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91554" y="2488472"/>
            <a:ext cx="240029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0.46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83872" y="2488472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76190" y="2488472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0.91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68508" y="2488472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0.93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60826" y="2488472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1.00</a:t>
            </a:r>
          </a:p>
        </p:txBody>
      </p:sp>
      <p:sp>
        <p:nvSpPr>
          <p:cNvPr id="52" name="TextBox 51"/>
          <p:cNvSpPr txBox="1"/>
          <p:nvPr/>
        </p:nvSpPr>
        <p:spPr>
          <a:xfrm rot="16200000">
            <a:off x="1449756" y="2847592"/>
            <a:ext cx="55435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8E7CC3"/>
                </a:solidFill>
                <a:latin typeface="Arial"/>
              </a:rPr>
              <a:t>3 M | 268
hyper 3 M</a:t>
            </a:r>
          </a:p>
        </p:txBody>
      </p:sp>
      <p:sp>
        <p:nvSpPr>
          <p:cNvPr id="53" name="TextBox 52"/>
          <p:cNvSpPr txBox="1"/>
          <p:nvPr/>
        </p:nvSpPr>
        <p:spPr>
          <a:xfrm rot="16200000">
            <a:off x="1727786" y="2859022"/>
            <a:ext cx="582930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8E7CC3"/>
                </a:solidFill>
                <a:latin typeface="Arial"/>
              </a:rPr>
              <a:t>10 M | 268
hyper 3 M</a:t>
            </a:r>
          </a:p>
        </p:txBody>
      </p:sp>
      <p:sp>
        <p:nvSpPr>
          <p:cNvPr id="54" name="TextBox 53"/>
          <p:cNvSpPr txBox="1"/>
          <p:nvPr/>
        </p:nvSpPr>
        <p:spPr>
          <a:xfrm rot="16200000">
            <a:off x="1845797" y="2998468"/>
            <a:ext cx="931544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8E7CC3"/>
                </a:solidFill>
                <a:latin typeface="Arial"/>
              </a:rPr>
              <a:t>10 M | 1000
hyper 10 M/1000</a:t>
            </a:r>
          </a:p>
        </p:txBody>
      </p:sp>
      <p:sp>
        <p:nvSpPr>
          <p:cNvPr id="55" name="TextBox 54"/>
          <p:cNvSpPr txBox="1"/>
          <p:nvPr/>
        </p:nvSpPr>
        <p:spPr>
          <a:xfrm rot="16200000">
            <a:off x="2178119" y="2966464"/>
            <a:ext cx="85153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4C3F8C"/>
                </a:solidFill>
                <a:latin typeface="Arial"/>
              </a:rPr>
              <a:t>10 M | voxel
hyper 10 M vox</a:t>
            </a:r>
          </a:p>
        </p:txBody>
      </p:sp>
      <p:sp>
        <p:nvSpPr>
          <p:cNvPr id="56" name="TextBox 55"/>
          <p:cNvSpPr txBox="1"/>
          <p:nvPr/>
        </p:nvSpPr>
        <p:spPr>
          <a:xfrm rot="16200000">
            <a:off x="2550447" y="2902456"/>
            <a:ext cx="69151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4C3F8C"/>
                </a:solidFill>
                <a:latin typeface="Arial"/>
              </a:rPr>
              <a:t>10 M | voxel
hyper 100 M</a:t>
            </a:r>
          </a:p>
        </p:txBody>
      </p:sp>
      <p:sp>
        <p:nvSpPr>
          <p:cNvPr id="57" name="TextBox 56"/>
          <p:cNvSpPr txBox="1"/>
          <p:nvPr/>
        </p:nvSpPr>
        <p:spPr>
          <a:xfrm rot="16200000">
            <a:off x="2819905" y="2920744"/>
            <a:ext cx="73723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4C3F8C"/>
                </a:solidFill>
                <a:latin typeface="Arial"/>
              </a:rPr>
              <a:t>100 M | voxel
hyper 100 M</a:t>
            </a:r>
          </a:p>
        </p:txBody>
      </p:sp>
      <p:sp>
        <p:nvSpPr>
          <p:cNvPr id="58" name="TextBox 57"/>
          <p:cNvSpPr txBox="1"/>
          <p:nvPr/>
        </p:nvSpPr>
        <p:spPr>
          <a:xfrm rot="16200000">
            <a:off x="3135083" y="2902456"/>
            <a:ext cx="69151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4C3F8C"/>
                </a:solidFill>
                <a:latin typeface="Arial"/>
              </a:rPr>
              <a:t>1 B | voxel
hyper 100 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7405" y="670433"/>
            <a:ext cx="55435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8E7CC3"/>
                </a:solidFill>
                <a:latin typeface="Arial"/>
              </a:rPr>
              <a:t>3 M | 268
hyper 3 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1687" y="962751"/>
            <a:ext cx="582930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8E7CC3"/>
                </a:solidFill>
                <a:latin typeface="Arial"/>
              </a:rPr>
              <a:t>10 M | 268
hyper 3 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7934" y="1255068"/>
            <a:ext cx="93154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8E7CC3"/>
                </a:solidFill>
                <a:latin typeface="Arial"/>
              </a:rPr>
              <a:t>10 M | 1000
hyper 10 M/1000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9943" y="1547386"/>
            <a:ext cx="85153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4C3F8C"/>
                </a:solidFill>
                <a:latin typeface="Arial"/>
              </a:rPr>
              <a:t>10 M | voxel
hyper 10 M vox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3961" y="1839704"/>
            <a:ext cx="69151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4C3F8C"/>
                </a:solidFill>
                <a:latin typeface="Arial"/>
              </a:rPr>
              <a:t>10 M | voxel
hyper 100 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2813" y="2132022"/>
            <a:ext cx="73723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4C3F8C"/>
                </a:solidFill>
                <a:latin typeface="Arial"/>
              </a:rPr>
              <a:t>100 M | voxel
hyper 100 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3961" y="2424340"/>
            <a:ext cx="69151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4C3F8C"/>
                </a:solidFill>
                <a:latin typeface="Arial"/>
              </a:rPr>
              <a:t>1 B | voxel
hyper 100 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999918" y="734565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1.00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92236" y="734565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0.94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84554" y="734565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0.81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876872" y="734565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0.13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69190" y="734565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0.50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61508" y="734565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0.28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753826" y="734565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0.32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999918" y="1026883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0.94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292236" y="1026883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1.00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584554" y="1026883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0.76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876872" y="1026883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0.12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169190" y="1026883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0.47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61508" y="1026883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0.32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753826" y="1026883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0.37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999918" y="1319201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0.81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292236" y="1319201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0.76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584554" y="1319201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1.00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876872" y="1319201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169190" y="1319201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0.54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61508" y="1319201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0.43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753826" y="1319201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0.45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999918" y="1611519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0.13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292236" y="1611519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0.12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584554" y="1611519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0.07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876872" y="1611519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1.00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169190" y="1611519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440076" y="1611519"/>
            <a:ext cx="28289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-0.02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732394" y="1611519"/>
            <a:ext cx="28289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-0.07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999918" y="1903837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0.50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292236" y="1903837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0.47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584554" y="1903837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0.54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876872" y="1903837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0.09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169190" y="1903837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1.00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461508" y="1903837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0.35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753826" y="1903837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0.44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999918" y="2196154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0.28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292236" y="2196154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0.32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584554" y="2196154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0.43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855441" y="2196154"/>
            <a:ext cx="28289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-0.02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169190" y="2196154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0.35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461508" y="2196154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1.00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753826" y="2196154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0.86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999918" y="2488472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0.32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292236" y="2488472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0.37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584554" y="2488472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0.45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855441" y="2488472"/>
            <a:ext cx="28289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-0.07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169190" y="2488472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0.44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461508" y="2488472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0.86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753826" y="2488472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1.00</a:t>
            </a:r>
          </a:p>
        </p:txBody>
      </p:sp>
      <p:sp>
        <p:nvSpPr>
          <p:cNvPr id="115" name="TextBox 114"/>
          <p:cNvSpPr txBox="1"/>
          <p:nvPr/>
        </p:nvSpPr>
        <p:spPr>
          <a:xfrm rot="16200000">
            <a:off x="4842756" y="2847592"/>
            <a:ext cx="55435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8E7CC3"/>
                </a:solidFill>
                <a:latin typeface="Arial"/>
              </a:rPr>
              <a:t>3 M | 268
hyper 3 M</a:t>
            </a:r>
          </a:p>
        </p:txBody>
      </p:sp>
      <p:sp>
        <p:nvSpPr>
          <p:cNvPr id="116" name="TextBox 115"/>
          <p:cNvSpPr txBox="1"/>
          <p:nvPr/>
        </p:nvSpPr>
        <p:spPr>
          <a:xfrm rot="16200000">
            <a:off x="5120786" y="2859022"/>
            <a:ext cx="582930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8E7CC3"/>
                </a:solidFill>
                <a:latin typeface="Arial"/>
              </a:rPr>
              <a:t>10 M | 268
hyper 3 M</a:t>
            </a:r>
          </a:p>
        </p:txBody>
      </p:sp>
      <p:sp>
        <p:nvSpPr>
          <p:cNvPr id="117" name="TextBox 116"/>
          <p:cNvSpPr txBox="1"/>
          <p:nvPr/>
        </p:nvSpPr>
        <p:spPr>
          <a:xfrm rot="16200000">
            <a:off x="5238797" y="2998468"/>
            <a:ext cx="93154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8E7CC3"/>
                </a:solidFill>
                <a:latin typeface="Arial"/>
              </a:rPr>
              <a:t>10 M | 1000
hyper 10 M/1000</a:t>
            </a:r>
          </a:p>
        </p:txBody>
      </p:sp>
      <p:sp>
        <p:nvSpPr>
          <p:cNvPr id="118" name="TextBox 117"/>
          <p:cNvSpPr txBox="1"/>
          <p:nvPr/>
        </p:nvSpPr>
        <p:spPr>
          <a:xfrm rot="16200000">
            <a:off x="5571119" y="2966464"/>
            <a:ext cx="85153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4C3F8C"/>
                </a:solidFill>
                <a:latin typeface="Arial"/>
              </a:rPr>
              <a:t>10 M | voxel
hyper 10 M vox</a:t>
            </a:r>
          </a:p>
        </p:txBody>
      </p:sp>
      <p:sp>
        <p:nvSpPr>
          <p:cNvPr id="119" name="TextBox 118"/>
          <p:cNvSpPr txBox="1"/>
          <p:nvPr/>
        </p:nvSpPr>
        <p:spPr>
          <a:xfrm rot="16200000">
            <a:off x="5943447" y="2902456"/>
            <a:ext cx="69151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4C3F8C"/>
                </a:solidFill>
                <a:latin typeface="Arial"/>
              </a:rPr>
              <a:t>10 M | voxel
hyper 100 M</a:t>
            </a:r>
          </a:p>
        </p:txBody>
      </p:sp>
      <p:sp>
        <p:nvSpPr>
          <p:cNvPr id="120" name="TextBox 119"/>
          <p:cNvSpPr txBox="1"/>
          <p:nvPr/>
        </p:nvSpPr>
        <p:spPr>
          <a:xfrm rot="16200000">
            <a:off x="6212905" y="2920744"/>
            <a:ext cx="73723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4C3F8C"/>
                </a:solidFill>
                <a:latin typeface="Arial"/>
              </a:rPr>
              <a:t>100 M | voxel
hyper 100 M</a:t>
            </a:r>
          </a:p>
        </p:txBody>
      </p:sp>
      <p:sp>
        <p:nvSpPr>
          <p:cNvPr id="121" name="TextBox 120"/>
          <p:cNvSpPr txBox="1"/>
          <p:nvPr/>
        </p:nvSpPr>
        <p:spPr>
          <a:xfrm rot="16200000">
            <a:off x="6528083" y="2902456"/>
            <a:ext cx="69151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4C3F8C"/>
                </a:solidFill>
                <a:latin typeface="Arial"/>
              </a:rPr>
              <a:t>1 B | voxel
hyper 100 M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430405" y="670433"/>
            <a:ext cx="55435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8E7CC3"/>
                </a:solidFill>
                <a:latin typeface="Arial"/>
              </a:rPr>
              <a:t>3 M | 268
hyper 3 M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404688" y="962751"/>
            <a:ext cx="582930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8E7CC3"/>
                </a:solidFill>
                <a:latin typeface="Arial"/>
              </a:rPr>
              <a:t>10 M | 268
hyper 3 M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090934" y="1255068"/>
            <a:ext cx="93154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8E7CC3"/>
                </a:solidFill>
                <a:latin typeface="Arial"/>
              </a:rPr>
              <a:t>10 M | 1000
hyper 10 M/1000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162943" y="1547386"/>
            <a:ext cx="85153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4C3F8C"/>
                </a:solidFill>
                <a:latin typeface="Arial"/>
              </a:rPr>
              <a:t>10 M | voxel
hyper 10 M vox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306961" y="1839704"/>
            <a:ext cx="69151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4C3F8C"/>
                </a:solidFill>
                <a:latin typeface="Arial"/>
              </a:rPr>
              <a:t>10 M | voxel
hyper 100 M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265813" y="2132022"/>
            <a:ext cx="73723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4C3F8C"/>
                </a:solidFill>
                <a:latin typeface="Arial"/>
              </a:rPr>
              <a:t>100 M | voxel
hyper 100 M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306961" y="2424340"/>
            <a:ext cx="69151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4C3F8C"/>
                </a:solidFill>
                <a:latin typeface="Arial"/>
              </a:rPr>
              <a:t>1 B | voxel
hyper 100 M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606918" y="4112790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1.00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899236" y="4112790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0.99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191554" y="4112790"/>
            <a:ext cx="240029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0.10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483872" y="4112790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0.07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776190" y="4112790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0.26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073218" y="4112790"/>
            <a:ext cx="230609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0.11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360826" y="4112790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0.18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606918" y="4405108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0.99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899236" y="4405108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1.00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191554" y="4405108"/>
            <a:ext cx="240029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0.10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483872" y="4405108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0.07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776190" y="4405108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0.26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073218" y="4405108"/>
            <a:ext cx="230609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0.11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360826" y="4405108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0.18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606918" y="4697426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0.10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899236" y="4697426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0.10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191554" y="4697426"/>
            <a:ext cx="240029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1.00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483872" y="4697426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0.00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2776190" y="4697426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0.39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068508" y="4697426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0.44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360826" y="4697426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0.30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606918" y="4989744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0.07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899236" y="4989744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0.07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2191554" y="4989744"/>
            <a:ext cx="240029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2483872" y="4989744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1.00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754759" y="4989744"/>
            <a:ext cx="28289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-0.15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3047076" y="4989744"/>
            <a:ext cx="28289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-0.19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3339394" y="4989744"/>
            <a:ext cx="28289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-0.19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606918" y="5282062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0.26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899236" y="5282062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0.26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2191554" y="5282062"/>
            <a:ext cx="240029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0.39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2462441" y="5282062"/>
            <a:ext cx="28289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-0.15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2776190" y="5282062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1.00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068508" y="5282062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0.72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3360826" y="5282062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0.70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611629" y="5574379"/>
            <a:ext cx="230609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0.11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903947" y="5574379"/>
            <a:ext cx="230609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0.11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2191554" y="5574379"/>
            <a:ext cx="240029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0.44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2462441" y="5574379"/>
            <a:ext cx="28289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-0.19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2776190" y="5574379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0.72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3068508" y="5574379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1.00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3360826" y="5574379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0.83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606918" y="5866697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0.18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899236" y="5866697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0.18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2191554" y="5866697"/>
            <a:ext cx="240029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0.30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2462441" y="5866697"/>
            <a:ext cx="28289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-0.19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2776190" y="5866697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0.70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3068508" y="5866697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0.83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3360826" y="5866697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1.00</a:t>
            </a:r>
          </a:p>
        </p:txBody>
      </p:sp>
      <p:sp>
        <p:nvSpPr>
          <p:cNvPr id="178" name="TextBox 177"/>
          <p:cNvSpPr txBox="1"/>
          <p:nvPr/>
        </p:nvSpPr>
        <p:spPr>
          <a:xfrm rot="16200000">
            <a:off x="1449756" y="6225817"/>
            <a:ext cx="55435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8E7CC3"/>
                </a:solidFill>
                <a:latin typeface="Arial"/>
              </a:rPr>
              <a:t>3 M | 268
hyper 3 M</a:t>
            </a:r>
          </a:p>
        </p:txBody>
      </p:sp>
      <p:sp>
        <p:nvSpPr>
          <p:cNvPr id="179" name="TextBox 178"/>
          <p:cNvSpPr txBox="1"/>
          <p:nvPr/>
        </p:nvSpPr>
        <p:spPr>
          <a:xfrm rot="16200000">
            <a:off x="1727786" y="6237247"/>
            <a:ext cx="582930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8E7CC3"/>
                </a:solidFill>
                <a:latin typeface="Arial"/>
              </a:rPr>
              <a:t>10 M | 268
hyper 3 M</a:t>
            </a:r>
          </a:p>
        </p:txBody>
      </p:sp>
      <p:sp>
        <p:nvSpPr>
          <p:cNvPr id="180" name="TextBox 179"/>
          <p:cNvSpPr txBox="1"/>
          <p:nvPr/>
        </p:nvSpPr>
        <p:spPr>
          <a:xfrm rot="16200000">
            <a:off x="1845797" y="6376693"/>
            <a:ext cx="931544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8E7CC3"/>
                </a:solidFill>
                <a:latin typeface="Arial"/>
              </a:rPr>
              <a:t>10 M | 1000
hyper 10 M/1000</a:t>
            </a:r>
          </a:p>
        </p:txBody>
      </p:sp>
      <p:sp>
        <p:nvSpPr>
          <p:cNvPr id="181" name="TextBox 180"/>
          <p:cNvSpPr txBox="1"/>
          <p:nvPr/>
        </p:nvSpPr>
        <p:spPr>
          <a:xfrm rot="16200000">
            <a:off x="2178119" y="6344689"/>
            <a:ext cx="85153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4C3F8C"/>
                </a:solidFill>
                <a:latin typeface="Arial"/>
              </a:rPr>
              <a:t>10 M | voxel
hyper 10 M vox</a:t>
            </a:r>
          </a:p>
        </p:txBody>
      </p:sp>
      <p:sp>
        <p:nvSpPr>
          <p:cNvPr id="182" name="TextBox 181"/>
          <p:cNvSpPr txBox="1"/>
          <p:nvPr/>
        </p:nvSpPr>
        <p:spPr>
          <a:xfrm rot="16200000">
            <a:off x="2550447" y="6280681"/>
            <a:ext cx="69151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4C3F8C"/>
                </a:solidFill>
                <a:latin typeface="Arial"/>
              </a:rPr>
              <a:t>10 M | voxel
hyper 100 M</a:t>
            </a:r>
          </a:p>
        </p:txBody>
      </p:sp>
      <p:sp>
        <p:nvSpPr>
          <p:cNvPr id="183" name="TextBox 182"/>
          <p:cNvSpPr txBox="1"/>
          <p:nvPr/>
        </p:nvSpPr>
        <p:spPr>
          <a:xfrm rot="16200000">
            <a:off x="2819905" y="6298969"/>
            <a:ext cx="73723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4C3F8C"/>
                </a:solidFill>
                <a:latin typeface="Arial"/>
              </a:rPr>
              <a:t>100 M | voxel
hyper 100 M</a:t>
            </a:r>
          </a:p>
        </p:txBody>
      </p:sp>
      <p:sp>
        <p:nvSpPr>
          <p:cNvPr id="184" name="TextBox 183"/>
          <p:cNvSpPr txBox="1"/>
          <p:nvPr/>
        </p:nvSpPr>
        <p:spPr>
          <a:xfrm rot="16200000">
            <a:off x="3135083" y="6280681"/>
            <a:ext cx="69151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4C3F8C"/>
                </a:solidFill>
                <a:latin typeface="Arial"/>
              </a:rPr>
              <a:t>1 B | voxel
hyper 100 M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1037405" y="4048658"/>
            <a:ext cx="55435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8E7CC3"/>
                </a:solidFill>
                <a:latin typeface="Arial"/>
              </a:rPr>
              <a:t>3 M | 268
hyper 3 M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011687" y="4340976"/>
            <a:ext cx="582930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8E7CC3"/>
                </a:solidFill>
                <a:latin typeface="Arial"/>
              </a:rPr>
              <a:t>10 M | 268
hyper 3 M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697934" y="4633293"/>
            <a:ext cx="93154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8E7CC3"/>
                </a:solidFill>
                <a:latin typeface="Arial"/>
              </a:rPr>
              <a:t>10 M | 1000
hyper 10 M/1000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769943" y="4925611"/>
            <a:ext cx="85153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4C3F8C"/>
                </a:solidFill>
                <a:latin typeface="Arial"/>
              </a:rPr>
              <a:t>10 M | voxel
hyper 10 M vox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913961" y="5217929"/>
            <a:ext cx="69151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4C3F8C"/>
                </a:solidFill>
                <a:latin typeface="Arial"/>
              </a:rPr>
              <a:t>10 M | voxel
hyper 100 M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872813" y="5510247"/>
            <a:ext cx="73723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4C3F8C"/>
                </a:solidFill>
                <a:latin typeface="Arial"/>
              </a:rPr>
              <a:t>100 M | voxel
hyper 100 M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913961" y="5802565"/>
            <a:ext cx="69151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4C3F8C"/>
                </a:solidFill>
                <a:latin typeface="Arial"/>
              </a:rPr>
              <a:t>1 B | voxel
hyper 100 M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4485311" y="4819372"/>
            <a:ext cx="2848927" cy="314079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Spearman ρ over the 12 subjects x 12 edges
(144 cells) of the raw NP profile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4866618" y="4718112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-0.2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5824050" y="4718112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6292050" y="4718112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0.5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6760049" y="4718112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640598" y="468106"/>
            <a:ext cx="97155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4032741" y="468106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640598" y="3846331"/>
            <a:ext cx="97155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