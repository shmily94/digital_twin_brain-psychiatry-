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gS5_crossbuild_A4_bg.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1606918" y="734565"/>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4" name="TextBox 3"/>
          <p:cNvSpPr txBox="1"/>
          <p:nvPr/>
        </p:nvSpPr>
        <p:spPr>
          <a:xfrm>
            <a:off x="1899236" y="734565"/>
            <a:ext cx="240030" cy="119186"/>
          </a:xfrm>
          <a:prstGeom prst="rect">
            <a:avLst/>
          </a:prstGeom>
          <a:noFill/>
        </p:spPr>
        <p:txBody>
          <a:bodyPr wrap="none" anchor="ctr" lIns="0" rIns="0" tIns="0" bIns="0">
            <a:noAutofit/>
          </a:bodyPr>
          <a:lstStyle/>
          <a:p>
            <a:pPr algn="ctr"/>
            <a:r>
              <a:rPr sz="800" b="0" i="0">
                <a:solidFill>
                  <a:srgbClr val="FFFFFF"/>
                </a:solidFill>
                <a:latin typeface="Arial"/>
              </a:rPr>
              <a:t>0.89</a:t>
            </a:r>
          </a:p>
        </p:txBody>
      </p:sp>
      <p:sp>
        <p:nvSpPr>
          <p:cNvPr id="5" name="TextBox 4"/>
          <p:cNvSpPr txBox="1"/>
          <p:nvPr/>
        </p:nvSpPr>
        <p:spPr>
          <a:xfrm>
            <a:off x="2191554" y="734565"/>
            <a:ext cx="240029" cy="119186"/>
          </a:xfrm>
          <a:prstGeom prst="rect">
            <a:avLst/>
          </a:prstGeom>
          <a:noFill/>
        </p:spPr>
        <p:txBody>
          <a:bodyPr wrap="none" anchor="ctr" lIns="0" rIns="0" tIns="0" bIns="0">
            <a:noAutofit/>
          </a:bodyPr>
          <a:lstStyle/>
          <a:p>
            <a:pPr algn="ctr"/>
            <a:r>
              <a:rPr sz="800" b="0" i="0">
                <a:solidFill>
                  <a:srgbClr val="000000"/>
                </a:solidFill>
                <a:latin typeface="Arial"/>
              </a:rPr>
              <a:t>0.35</a:t>
            </a:r>
          </a:p>
        </p:txBody>
      </p:sp>
      <p:sp>
        <p:nvSpPr>
          <p:cNvPr id="6" name="TextBox 5"/>
          <p:cNvSpPr txBox="1"/>
          <p:nvPr/>
        </p:nvSpPr>
        <p:spPr>
          <a:xfrm>
            <a:off x="2483872"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0.15</a:t>
            </a:r>
          </a:p>
        </p:txBody>
      </p:sp>
      <p:sp>
        <p:nvSpPr>
          <p:cNvPr id="7" name="TextBox 6"/>
          <p:cNvSpPr txBox="1"/>
          <p:nvPr/>
        </p:nvSpPr>
        <p:spPr>
          <a:xfrm>
            <a:off x="2776190"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0.48</a:t>
            </a:r>
          </a:p>
        </p:txBody>
      </p:sp>
      <p:sp>
        <p:nvSpPr>
          <p:cNvPr id="8" name="TextBox 7"/>
          <p:cNvSpPr txBox="1"/>
          <p:nvPr/>
        </p:nvSpPr>
        <p:spPr>
          <a:xfrm>
            <a:off x="3068508"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0.47</a:t>
            </a:r>
          </a:p>
        </p:txBody>
      </p:sp>
      <p:sp>
        <p:nvSpPr>
          <p:cNvPr id="9" name="TextBox 8"/>
          <p:cNvSpPr txBox="1"/>
          <p:nvPr/>
        </p:nvSpPr>
        <p:spPr>
          <a:xfrm>
            <a:off x="3360826"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0.52</a:t>
            </a:r>
          </a:p>
        </p:txBody>
      </p:sp>
      <p:sp>
        <p:nvSpPr>
          <p:cNvPr id="10" name="TextBox 9"/>
          <p:cNvSpPr txBox="1"/>
          <p:nvPr/>
        </p:nvSpPr>
        <p:spPr>
          <a:xfrm>
            <a:off x="1606918" y="1026883"/>
            <a:ext cx="240030" cy="119186"/>
          </a:xfrm>
          <a:prstGeom prst="rect">
            <a:avLst/>
          </a:prstGeom>
          <a:noFill/>
        </p:spPr>
        <p:txBody>
          <a:bodyPr wrap="none" anchor="ctr" lIns="0" rIns="0" tIns="0" bIns="0">
            <a:noAutofit/>
          </a:bodyPr>
          <a:lstStyle/>
          <a:p>
            <a:pPr algn="ctr"/>
            <a:r>
              <a:rPr sz="800" b="0" i="0">
                <a:solidFill>
                  <a:srgbClr val="FFFFFF"/>
                </a:solidFill>
                <a:latin typeface="Arial"/>
              </a:rPr>
              <a:t>0.89</a:t>
            </a:r>
          </a:p>
        </p:txBody>
      </p:sp>
      <p:sp>
        <p:nvSpPr>
          <p:cNvPr id="11" name="TextBox 10"/>
          <p:cNvSpPr txBox="1"/>
          <p:nvPr/>
        </p:nvSpPr>
        <p:spPr>
          <a:xfrm>
            <a:off x="1899236" y="1026883"/>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2" name="TextBox 11"/>
          <p:cNvSpPr txBox="1"/>
          <p:nvPr/>
        </p:nvSpPr>
        <p:spPr>
          <a:xfrm>
            <a:off x="2191554" y="1026883"/>
            <a:ext cx="240029" cy="119186"/>
          </a:xfrm>
          <a:prstGeom prst="rect">
            <a:avLst/>
          </a:prstGeom>
          <a:noFill/>
        </p:spPr>
        <p:txBody>
          <a:bodyPr wrap="none" anchor="ctr" lIns="0" rIns="0" tIns="0" bIns="0">
            <a:noAutofit/>
          </a:bodyPr>
          <a:lstStyle/>
          <a:p>
            <a:pPr algn="ctr"/>
            <a:r>
              <a:rPr sz="800" b="0" i="0">
                <a:solidFill>
                  <a:srgbClr val="000000"/>
                </a:solidFill>
                <a:latin typeface="Arial"/>
              </a:rPr>
              <a:t>0.26</a:t>
            </a:r>
          </a:p>
        </p:txBody>
      </p:sp>
      <p:sp>
        <p:nvSpPr>
          <p:cNvPr id="13" name="TextBox 12"/>
          <p:cNvSpPr txBox="1"/>
          <p:nvPr/>
        </p:nvSpPr>
        <p:spPr>
          <a:xfrm>
            <a:off x="2483872"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0.06</a:t>
            </a:r>
          </a:p>
        </p:txBody>
      </p:sp>
      <p:sp>
        <p:nvSpPr>
          <p:cNvPr id="14" name="TextBox 13"/>
          <p:cNvSpPr txBox="1"/>
          <p:nvPr/>
        </p:nvSpPr>
        <p:spPr>
          <a:xfrm>
            <a:off x="2776190"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0.43</a:t>
            </a:r>
          </a:p>
        </p:txBody>
      </p:sp>
      <p:sp>
        <p:nvSpPr>
          <p:cNvPr id="15" name="TextBox 14"/>
          <p:cNvSpPr txBox="1"/>
          <p:nvPr/>
        </p:nvSpPr>
        <p:spPr>
          <a:xfrm>
            <a:off x="3068508"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0.45</a:t>
            </a:r>
          </a:p>
        </p:txBody>
      </p:sp>
      <p:sp>
        <p:nvSpPr>
          <p:cNvPr id="16" name="TextBox 15"/>
          <p:cNvSpPr txBox="1"/>
          <p:nvPr/>
        </p:nvSpPr>
        <p:spPr>
          <a:xfrm>
            <a:off x="3360826"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0.48</a:t>
            </a:r>
          </a:p>
        </p:txBody>
      </p:sp>
      <p:sp>
        <p:nvSpPr>
          <p:cNvPr id="17" name="TextBox 16"/>
          <p:cNvSpPr txBox="1"/>
          <p:nvPr/>
        </p:nvSpPr>
        <p:spPr>
          <a:xfrm>
            <a:off x="1606918"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0.35</a:t>
            </a:r>
          </a:p>
        </p:txBody>
      </p:sp>
      <p:sp>
        <p:nvSpPr>
          <p:cNvPr id="18" name="TextBox 17"/>
          <p:cNvSpPr txBox="1"/>
          <p:nvPr/>
        </p:nvSpPr>
        <p:spPr>
          <a:xfrm>
            <a:off x="1899236"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0.26</a:t>
            </a:r>
          </a:p>
        </p:txBody>
      </p:sp>
      <p:sp>
        <p:nvSpPr>
          <p:cNvPr id="19" name="TextBox 18"/>
          <p:cNvSpPr txBox="1"/>
          <p:nvPr/>
        </p:nvSpPr>
        <p:spPr>
          <a:xfrm>
            <a:off x="2191554" y="1319201"/>
            <a:ext cx="240029"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20" name="TextBox 19"/>
          <p:cNvSpPr txBox="1"/>
          <p:nvPr/>
        </p:nvSpPr>
        <p:spPr>
          <a:xfrm>
            <a:off x="2483872"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0.12</a:t>
            </a:r>
          </a:p>
        </p:txBody>
      </p:sp>
      <p:sp>
        <p:nvSpPr>
          <p:cNvPr id="21" name="TextBox 20"/>
          <p:cNvSpPr txBox="1"/>
          <p:nvPr/>
        </p:nvSpPr>
        <p:spPr>
          <a:xfrm>
            <a:off x="2776190"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0.40</a:t>
            </a:r>
          </a:p>
        </p:txBody>
      </p:sp>
      <p:sp>
        <p:nvSpPr>
          <p:cNvPr id="22" name="TextBox 21"/>
          <p:cNvSpPr txBox="1"/>
          <p:nvPr/>
        </p:nvSpPr>
        <p:spPr>
          <a:xfrm>
            <a:off x="3068508"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0.44</a:t>
            </a:r>
          </a:p>
        </p:txBody>
      </p:sp>
      <p:sp>
        <p:nvSpPr>
          <p:cNvPr id="23" name="TextBox 22"/>
          <p:cNvSpPr txBox="1"/>
          <p:nvPr/>
        </p:nvSpPr>
        <p:spPr>
          <a:xfrm>
            <a:off x="3360826"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0.46</a:t>
            </a:r>
          </a:p>
        </p:txBody>
      </p:sp>
      <p:sp>
        <p:nvSpPr>
          <p:cNvPr id="24" name="TextBox 23"/>
          <p:cNvSpPr txBox="1"/>
          <p:nvPr/>
        </p:nvSpPr>
        <p:spPr>
          <a:xfrm>
            <a:off x="1606918"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0.15</a:t>
            </a:r>
          </a:p>
        </p:txBody>
      </p:sp>
      <p:sp>
        <p:nvSpPr>
          <p:cNvPr id="25" name="TextBox 24"/>
          <p:cNvSpPr txBox="1"/>
          <p:nvPr/>
        </p:nvSpPr>
        <p:spPr>
          <a:xfrm>
            <a:off x="1899236"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0.06</a:t>
            </a:r>
          </a:p>
        </p:txBody>
      </p:sp>
      <p:sp>
        <p:nvSpPr>
          <p:cNvPr id="26" name="TextBox 25"/>
          <p:cNvSpPr txBox="1"/>
          <p:nvPr/>
        </p:nvSpPr>
        <p:spPr>
          <a:xfrm>
            <a:off x="2191554" y="1611519"/>
            <a:ext cx="240029" cy="119186"/>
          </a:xfrm>
          <a:prstGeom prst="rect">
            <a:avLst/>
          </a:prstGeom>
          <a:noFill/>
        </p:spPr>
        <p:txBody>
          <a:bodyPr wrap="none" anchor="ctr" lIns="0" rIns="0" tIns="0" bIns="0">
            <a:noAutofit/>
          </a:bodyPr>
          <a:lstStyle/>
          <a:p>
            <a:pPr algn="ctr"/>
            <a:r>
              <a:rPr sz="800" b="0" i="0">
                <a:solidFill>
                  <a:srgbClr val="000000"/>
                </a:solidFill>
                <a:latin typeface="Arial"/>
              </a:rPr>
              <a:t>0.12</a:t>
            </a:r>
          </a:p>
        </p:txBody>
      </p:sp>
      <p:sp>
        <p:nvSpPr>
          <p:cNvPr id="27" name="TextBox 26"/>
          <p:cNvSpPr txBox="1"/>
          <p:nvPr/>
        </p:nvSpPr>
        <p:spPr>
          <a:xfrm>
            <a:off x="2483872" y="1611519"/>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28" name="TextBox 27"/>
          <p:cNvSpPr txBox="1"/>
          <p:nvPr/>
        </p:nvSpPr>
        <p:spPr>
          <a:xfrm>
            <a:off x="2776190"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29" name="TextBox 28"/>
          <p:cNvSpPr txBox="1"/>
          <p:nvPr/>
        </p:nvSpPr>
        <p:spPr>
          <a:xfrm>
            <a:off x="3068508"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0.10</a:t>
            </a:r>
          </a:p>
        </p:txBody>
      </p:sp>
      <p:sp>
        <p:nvSpPr>
          <p:cNvPr id="30" name="TextBox 29"/>
          <p:cNvSpPr txBox="1"/>
          <p:nvPr/>
        </p:nvSpPr>
        <p:spPr>
          <a:xfrm>
            <a:off x="3360826"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0.09</a:t>
            </a:r>
          </a:p>
        </p:txBody>
      </p:sp>
      <p:sp>
        <p:nvSpPr>
          <p:cNvPr id="31" name="TextBox 30"/>
          <p:cNvSpPr txBox="1"/>
          <p:nvPr/>
        </p:nvSpPr>
        <p:spPr>
          <a:xfrm>
            <a:off x="1606918"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0.48</a:t>
            </a:r>
          </a:p>
        </p:txBody>
      </p:sp>
      <p:sp>
        <p:nvSpPr>
          <p:cNvPr id="32" name="TextBox 31"/>
          <p:cNvSpPr txBox="1"/>
          <p:nvPr/>
        </p:nvSpPr>
        <p:spPr>
          <a:xfrm>
            <a:off x="1899236"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0.43</a:t>
            </a:r>
          </a:p>
        </p:txBody>
      </p:sp>
      <p:sp>
        <p:nvSpPr>
          <p:cNvPr id="33" name="TextBox 32"/>
          <p:cNvSpPr txBox="1"/>
          <p:nvPr/>
        </p:nvSpPr>
        <p:spPr>
          <a:xfrm>
            <a:off x="2191554" y="1903837"/>
            <a:ext cx="240029" cy="119186"/>
          </a:xfrm>
          <a:prstGeom prst="rect">
            <a:avLst/>
          </a:prstGeom>
          <a:noFill/>
        </p:spPr>
        <p:txBody>
          <a:bodyPr wrap="none" anchor="ctr" lIns="0" rIns="0" tIns="0" bIns="0">
            <a:noAutofit/>
          </a:bodyPr>
          <a:lstStyle/>
          <a:p>
            <a:pPr algn="ctr"/>
            <a:r>
              <a:rPr sz="800" b="0" i="0">
                <a:solidFill>
                  <a:srgbClr val="000000"/>
                </a:solidFill>
                <a:latin typeface="Arial"/>
              </a:rPr>
              <a:t>0.40</a:t>
            </a:r>
          </a:p>
        </p:txBody>
      </p:sp>
      <p:sp>
        <p:nvSpPr>
          <p:cNvPr id="34" name="TextBox 33"/>
          <p:cNvSpPr txBox="1"/>
          <p:nvPr/>
        </p:nvSpPr>
        <p:spPr>
          <a:xfrm>
            <a:off x="2483872"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35" name="TextBox 34"/>
          <p:cNvSpPr txBox="1"/>
          <p:nvPr/>
        </p:nvSpPr>
        <p:spPr>
          <a:xfrm>
            <a:off x="2776190" y="1903837"/>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36" name="TextBox 35"/>
          <p:cNvSpPr txBox="1"/>
          <p:nvPr/>
        </p:nvSpPr>
        <p:spPr>
          <a:xfrm>
            <a:off x="3068508" y="1903837"/>
            <a:ext cx="240030" cy="119186"/>
          </a:xfrm>
          <a:prstGeom prst="rect">
            <a:avLst/>
          </a:prstGeom>
          <a:noFill/>
        </p:spPr>
        <p:txBody>
          <a:bodyPr wrap="none" anchor="ctr" lIns="0" rIns="0" tIns="0" bIns="0">
            <a:noAutofit/>
          </a:bodyPr>
          <a:lstStyle/>
          <a:p>
            <a:pPr algn="ctr"/>
            <a:r>
              <a:rPr sz="800" b="0" i="0">
                <a:solidFill>
                  <a:srgbClr val="FFFFFF"/>
                </a:solidFill>
                <a:latin typeface="Arial"/>
              </a:rPr>
              <a:t>0.87</a:t>
            </a:r>
          </a:p>
        </p:txBody>
      </p:sp>
      <p:sp>
        <p:nvSpPr>
          <p:cNvPr id="37" name="TextBox 36"/>
          <p:cNvSpPr txBox="1"/>
          <p:nvPr/>
        </p:nvSpPr>
        <p:spPr>
          <a:xfrm>
            <a:off x="3360826" y="1903837"/>
            <a:ext cx="240030" cy="119186"/>
          </a:xfrm>
          <a:prstGeom prst="rect">
            <a:avLst/>
          </a:prstGeom>
          <a:noFill/>
        </p:spPr>
        <p:txBody>
          <a:bodyPr wrap="none" anchor="ctr" lIns="0" rIns="0" tIns="0" bIns="0">
            <a:noAutofit/>
          </a:bodyPr>
          <a:lstStyle/>
          <a:p>
            <a:pPr algn="ctr"/>
            <a:r>
              <a:rPr sz="800" b="0" i="0">
                <a:solidFill>
                  <a:srgbClr val="FFFFFF"/>
                </a:solidFill>
                <a:latin typeface="Arial"/>
              </a:rPr>
              <a:t>0.91</a:t>
            </a:r>
          </a:p>
        </p:txBody>
      </p:sp>
      <p:sp>
        <p:nvSpPr>
          <p:cNvPr id="38" name="TextBox 37"/>
          <p:cNvSpPr txBox="1"/>
          <p:nvPr/>
        </p:nvSpPr>
        <p:spPr>
          <a:xfrm>
            <a:off x="1606918" y="2196154"/>
            <a:ext cx="240030" cy="119186"/>
          </a:xfrm>
          <a:prstGeom prst="rect">
            <a:avLst/>
          </a:prstGeom>
          <a:noFill/>
        </p:spPr>
        <p:txBody>
          <a:bodyPr wrap="none" anchor="ctr" lIns="0" rIns="0" tIns="0" bIns="0">
            <a:noAutofit/>
          </a:bodyPr>
          <a:lstStyle/>
          <a:p>
            <a:pPr algn="ctr"/>
            <a:r>
              <a:rPr sz="800" b="0" i="0">
                <a:solidFill>
                  <a:srgbClr val="000000"/>
                </a:solidFill>
                <a:latin typeface="Arial"/>
              </a:rPr>
              <a:t>0.47</a:t>
            </a:r>
          </a:p>
        </p:txBody>
      </p:sp>
      <p:sp>
        <p:nvSpPr>
          <p:cNvPr id="39" name="TextBox 38"/>
          <p:cNvSpPr txBox="1"/>
          <p:nvPr/>
        </p:nvSpPr>
        <p:spPr>
          <a:xfrm>
            <a:off x="1899236" y="2196154"/>
            <a:ext cx="240030" cy="119186"/>
          </a:xfrm>
          <a:prstGeom prst="rect">
            <a:avLst/>
          </a:prstGeom>
          <a:noFill/>
        </p:spPr>
        <p:txBody>
          <a:bodyPr wrap="none" anchor="ctr" lIns="0" rIns="0" tIns="0" bIns="0">
            <a:noAutofit/>
          </a:bodyPr>
          <a:lstStyle/>
          <a:p>
            <a:pPr algn="ctr"/>
            <a:r>
              <a:rPr sz="800" b="0" i="0">
                <a:solidFill>
                  <a:srgbClr val="000000"/>
                </a:solidFill>
                <a:latin typeface="Arial"/>
              </a:rPr>
              <a:t>0.45</a:t>
            </a:r>
          </a:p>
        </p:txBody>
      </p:sp>
      <p:sp>
        <p:nvSpPr>
          <p:cNvPr id="40" name="TextBox 39"/>
          <p:cNvSpPr txBox="1"/>
          <p:nvPr/>
        </p:nvSpPr>
        <p:spPr>
          <a:xfrm>
            <a:off x="2191554" y="2196154"/>
            <a:ext cx="240029" cy="119186"/>
          </a:xfrm>
          <a:prstGeom prst="rect">
            <a:avLst/>
          </a:prstGeom>
          <a:noFill/>
        </p:spPr>
        <p:txBody>
          <a:bodyPr wrap="none" anchor="ctr" lIns="0" rIns="0" tIns="0" bIns="0">
            <a:noAutofit/>
          </a:bodyPr>
          <a:lstStyle/>
          <a:p>
            <a:pPr algn="ctr"/>
            <a:r>
              <a:rPr sz="800" b="0" i="0">
                <a:solidFill>
                  <a:srgbClr val="000000"/>
                </a:solidFill>
                <a:latin typeface="Arial"/>
              </a:rPr>
              <a:t>0.44</a:t>
            </a:r>
          </a:p>
        </p:txBody>
      </p:sp>
      <p:sp>
        <p:nvSpPr>
          <p:cNvPr id="41" name="TextBox 40"/>
          <p:cNvSpPr txBox="1"/>
          <p:nvPr/>
        </p:nvSpPr>
        <p:spPr>
          <a:xfrm>
            <a:off x="2483872" y="2196154"/>
            <a:ext cx="240030" cy="119186"/>
          </a:xfrm>
          <a:prstGeom prst="rect">
            <a:avLst/>
          </a:prstGeom>
          <a:noFill/>
        </p:spPr>
        <p:txBody>
          <a:bodyPr wrap="none" anchor="ctr" lIns="0" rIns="0" tIns="0" bIns="0">
            <a:noAutofit/>
          </a:bodyPr>
          <a:lstStyle/>
          <a:p>
            <a:pPr algn="ctr"/>
            <a:r>
              <a:rPr sz="800" b="0" i="0">
                <a:solidFill>
                  <a:srgbClr val="000000"/>
                </a:solidFill>
                <a:latin typeface="Arial"/>
              </a:rPr>
              <a:t>0.10</a:t>
            </a:r>
          </a:p>
        </p:txBody>
      </p:sp>
      <p:sp>
        <p:nvSpPr>
          <p:cNvPr id="42" name="TextBox 41"/>
          <p:cNvSpPr txBox="1"/>
          <p:nvPr/>
        </p:nvSpPr>
        <p:spPr>
          <a:xfrm>
            <a:off x="2776190" y="2196154"/>
            <a:ext cx="240030" cy="119186"/>
          </a:xfrm>
          <a:prstGeom prst="rect">
            <a:avLst/>
          </a:prstGeom>
          <a:noFill/>
        </p:spPr>
        <p:txBody>
          <a:bodyPr wrap="none" anchor="ctr" lIns="0" rIns="0" tIns="0" bIns="0">
            <a:noAutofit/>
          </a:bodyPr>
          <a:lstStyle/>
          <a:p>
            <a:pPr algn="ctr"/>
            <a:r>
              <a:rPr sz="800" b="0" i="0">
                <a:solidFill>
                  <a:srgbClr val="FFFFFF"/>
                </a:solidFill>
                <a:latin typeface="Arial"/>
              </a:rPr>
              <a:t>0.87</a:t>
            </a:r>
          </a:p>
        </p:txBody>
      </p:sp>
      <p:sp>
        <p:nvSpPr>
          <p:cNvPr id="43" name="TextBox 42"/>
          <p:cNvSpPr txBox="1"/>
          <p:nvPr/>
        </p:nvSpPr>
        <p:spPr>
          <a:xfrm>
            <a:off x="3068508" y="2196154"/>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44" name="TextBox 43"/>
          <p:cNvSpPr txBox="1"/>
          <p:nvPr/>
        </p:nvSpPr>
        <p:spPr>
          <a:xfrm>
            <a:off x="3360826" y="2196154"/>
            <a:ext cx="240030" cy="119186"/>
          </a:xfrm>
          <a:prstGeom prst="rect">
            <a:avLst/>
          </a:prstGeom>
          <a:noFill/>
        </p:spPr>
        <p:txBody>
          <a:bodyPr wrap="none" anchor="ctr" lIns="0" rIns="0" tIns="0" bIns="0">
            <a:noAutofit/>
          </a:bodyPr>
          <a:lstStyle/>
          <a:p>
            <a:pPr algn="ctr"/>
            <a:r>
              <a:rPr sz="800" b="0" i="0">
                <a:solidFill>
                  <a:srgbClr val="FFFFFF"/>
                </a:solidFill>
                <a:latin typeface="Arial"/>
              </a:rPr>
              <a:t>0.93</a:t>
            </a:r>
          </a:p>
        </p:txBody>
      </p:sp>
      <p:sp>
        <p:nvSpPr>
          <p:cNvPr id="45" name="TextBox 44"/>
          <p:cNvSpPr txBox="1"/>
          <p:nvPr/>
        </p:nvSpPr>
        <p:spPr>
          <a:xfrm>
            <a:off x="1606918" y="2488472"/>
            <a:ext cx="240030" cy="119186"/>
          </a:xfrm>
          <a:prstGeom prst="rect">
            <a:avLst/>
          </a:prstGeom>
          <a:noFill/>
        </p:spPr>
        <p:txBody>
          <a:bodyPr wrap="none" anchor="ctr" lIns="0" rIns="0" tIns="0" bIns="0">
            <a:noAutofit/>
          </a:bodyPr>
          <a:lstStyle/>
          <a:p>
            <a:pPr algn="ctr"/>
            <a:r>
              <a:rPr sz="800" b="0" i="0">
                <a:solidFill>
                  <a:srgbClr val="000000"/>
                </a:solidFill>
                <a:latin typeface="Arial"/>
              </a:rPr>
              <a:t>0.52</a:t>
            </a:r>
          </a:p>
        </p:txBody>
      </p:sp>
      <p:sp>
        <p:nvSpPr>
          <p:cNvPr id="46" name="TextBox 45"/>
          <p:cNvSpPr txBox="1"/>
          <p:nvPr/>
        </p:nvSpPr>
        <p:spPr>
          <a:xfrm>
            <a:off x="1899236" y="2488472"/>
            <a:ext cx="240030" cy="119186"/>
          </a:xfrm>
          <a:prstGeom prst="rect">
            <a:avLst/>
          </a:prstGeom>
          <a:noFill/>
        </p:spPr>
        <p:txBody>
          <a:bodyPr wrap="none" anchor="ctr" lIns="0" rIns="0" tIns="0" bIns="0">
            <a:noAutofit/>
          </a:bodyPr>
          <a:lstStyle/>
          <a:p>
            <a:pPr algn="ctr"/>
            <a:r>
              <a:rPr sz="800" b="0" i="0">
                <a:solidFill>
                  <a:srgbClr val="000000"/>
                </a:solidFill>
                <a:latin typeface="Arial"/>
              </a:rPr>
              <a:t>0.48</a:t>
            </a:r>
          </a:p>
        </p:txBody>
      </p:sp>
      <p:sp>
        <p:nvSpPr>
          <p:cNvPr id="47" name="TextBox 46"/>
          <p:cNvSpPr txBox="1"/>
          <p:nvPr/>
        </p:nvSpPr>
        <p:spPr>
          <a:xfrm>
            <a:off x="2191554" y="2488472"/>
            <a:ext cx="240029" cy="119186"/>
          </a:xfrm>
          <a:prstGeom prst="rect">
            <a:avLst/>
          </a:prstGeom>
          <a:noFill/>
        </p:spPr>
        <p:txBody>
          <a:bodyPr wrap="none" anchor="ctr" lIns="0" rIns="0" tIns="0" bIns="0">
            <a:noAutofit/>
          </a:bodyPr>
          <a:lstStyle/>
          <a:p>
            <a:pPr algn="ctr"/>
            <a:r>
              <a:rPr sz="800" b="0" i="0">
                <a:solidFill>
                  <a:srgbClr val="000000"/>
                </a:solidFill>
                <a:latin typeface="Arial"/>
              </a:rPr>
              <a:t>0.46</a:t>
            </a:r>
          </a:p>
        </p:txBody>
      </p:sp>
      <p:sp>
        <p:nvSpPr>
          <p:cNvPr id="48" name="TextBox 47"/>
          <p:cNvSpPr txBox="1"/>
          <p:nvPr/>
        </p:nvSpPr>
        <p:spPr>
          <a:xfrm>
            <a:off x="2483872" y="2488472"/>
            <a:ext cx="240030" cy="119186"/>
          </a:xfrm>
          <a:prstGeom prst="rect">
            <a:avLst/>
          </a:prstGeom>
          <a:noFill/>
        </p:spPr>
        <p:txBody>
          <a:bodyPr wrap="none" anchor="ctr" lIns="0" rIns="0" tIns="0" bIns="0">
            <a:noAutofit/>
          </a:bodyPr>
          <a:lstStyle/>
          <a:p>
            <a:pPr algn="ctr"/>
            <a:r>
              <a:rPr sz="800" b="0" i="0">
                <a:solidFill>
                  <a:srgbClr val="000000"/>
                </a:solidFill>
                <a:latin typeface="Arial"/>
              </a:rPr>
              <a:t>0.09</a:t>
            </a:r>
          </a:p>
        </p:txBody>
      </p:sp>
      <p:sp>
        <p:nvSpPr>
          <p:cNvPr id="49" name="TextBox 48"/>
          <p:cNvSpPr txBox="1"/>
          <p:nvPr/>
        </p:nvSpPr>
        <p:spPr>
          <a:xfrm>
            <a:off x="2776190" y="2488472"/>
            <a:ext cx="240030" cy="119186"/>
          </a:xfrm>
          <a:prstGeom prst="rect">
            <a:avLst/>
          </a:prstGeom>
          <a:noFill/>
        </p:spPr>
        <p:txBody>
          <a:bodyPr wrap="none" anchor="ctr" lIns="0" rIns="0" tIns="0" bIns="0">
            <a:noAutofit/>
          </a:bodyPr>
          <a:lstStyle/>
          <a:p>
            <a:pPr algn="ctr"/>
            <a:r>
              <a:rPr sz="800" b="0" i="0">
                <a:solidFill>
                  <a:srgbClr val="FFFFFF"/>
                </a:solidFill>
                <a:latin typeface="Arial"/>
              </a:rPr>
              <a:t>0.91</a:t>
            </a:r>
          </a:p>
        </p:txBody>
      </p:sp>
      <p:sp>
        <p:nvSpPr>
          <p:cNvPr id="50" name="TextBox 49"/>
          <p:cNvSpPr txBox="1"/>
          <p:nvPr/>
        </p:nvSpPr>
        <p:spPr>
          <a:xfrm>
            <a:off x="3068508" y="2488472"/>
            <a:ext cx="240030" cy="119186"/>
          </a:xfrm>
          <a:prstGeom prst="rect">
            <a:avLst/>
          </a:prstGeom>
          <a:noFill/>
        </p:spPr>
        <p:txBody>
          <a:bodyPr wrap="none" anchor="ctr" lIns="0" rIns="0" tIns="0" bIns="0">
            <a:noAutofit/>
          </a:bodyPr>
          <a:lstStyle/>
          <a:p>
            <a:pPr algn="ctr"/>
            <a:r>
              <a:rPr sz="800" b="0" i="0">
                <a:solidFill>
                  <a:srgbClr val="FFFFFF"/>
                </a:solidFill>
                <a:latin typeface="Arial"/>
              </a:rPr>
              <a:t>0.93</a:t>
            </a:r>
          </a:p>
        </p:txBody>
      </p:sp>
      <p:sp>
        <p:nvSpPr>
          <p:cNvPr id="51" name="TextBox 50"/>
          <p:cNvSpPr txBox="1"/>
          <p:nvPr/>
        </p:nvSpPr>
        <p:spPr>
          <a:xfrm>
            <a:off x="3360826" y="2488472"/>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52" name="TextBox 51"/>
          <p:cNvSpPr txBox="1"/>
          <p:nvPr/>
        </p:nvSpPr>
        <p:spPr>
          <a:xfrm rot="16200000">
            <a:off x="1449756" y="2847592"/>
            <a:ext cx="554355" cy="276448"/>
          </a:xfrm>
          <a:prstGeom prst="rect">
            <a:avLst/>
          </a:prstGeom>
          <a:noFill/>
        </p:spPr>
        <p:txBody>
          <a:bodyPr wrap="none" anchor="ctr" lIns="0" rIns="0" tIns="0" bIns="0">
            <a:noAutofit/>
          </a:bodyPr>
          <a:lstStyle/>
          <a:p>
            <a:pPr algn="ctr"/>
            <a:r>
              <a:rPr sz="800" b="0" i="0">
                <a:solidFill>
                  <a:srgbClr val="8E7CC3"/>
                </a:solidFill>
                <a:latin typeface="Arial"/>
              </a:rPr>
              <a:t>3 M | 268
hyper 3 M</a:t>
            </a:r>
          </a:p>
        </p:txBody>
      </p:sp>
      <p:sp>
        <p:nvSpPr>
          <p:cNvPr id="53" name="TextBox 52"/>
          <p:cNvSpPr txBox="1"/>
          <p:nvPr/>
        </p:nvSpPr>
        <p:spPr>
          <a:xfrm rot="16200000">
            <a:off x="1727786" y="2859022"/>
            <a:ext cx="582930" cy="276448"/>
          </a:xfrm>
          <a:prstGeom prst="rect">
            <a:avLst/>
          </a:prstGeom>
          <a:noFill/>
        </p:spPr>
        <p:txBody>
          <a:bodyPr wrap="none" anchor="ctr" lIns="0" rIns="0" tIns="0" bIns="0">
            <a:noAutofit/>
          </a:bodyPr>
          <a:lstStyle/>
          <a:p>
            <a:pPr algn="ctr"/>
            <a:r>
              <a:rPr sz="800" b="0" i="0">
                <a:solidFill>
                  <a:srgbClr val="8E7CC3"/>
                </a:solidFill>
                <a:latin typeface="Arial"/>
              </a:rPr>
              <a:t>10 M | 268
hyper 3 M</a:t>
            </a:r>
          </a:p>
        </p:txBody>
      </p:sp>
      <p:sp>
        <p:nvSpPr>
          <p:cNvPr id="54" name="TextBox 53"/>
          <p:cNvSpPr txBox="1"/>
          <p:nvPr/>
        </p:nvSpPr>
        <p:spPr>
          <a:xfrm rot="16200000">
            <a:off x="1845797" y="2998468"/>
            <a:ext cx="931544" cy="276448"/>
          </a:xfrm>
          <a:prstGeom prst="rect">
            <a:avLst/>
          </a:prstGeom>
          <a:noFill/>
        </p:spPr>
        <p:txBody>
          <a:bodyPr wrap="none" anchor="ctr" lIns="0" rIns="0" tIns="0" bIns="0">
            <a:noAutofit/>
          </a:bodyPr>
          <a:lstStyle/>
          <a:p>
            <a:pPr algn="ctr"/>
            <a:r>
              <a:rPr sz="800" b="0" i="0">
                <a:solidFill>
                  <a:srgbClr val="8E7CC3"/>
                </a:solidFill>
                <a:latin typeface="Arial"/>
              </a:rPr>
              <a:t>10 M | 1000
hyper 10 M/1000</a:t>
            </a:r>
          </a:p>
        </p:txBody>
      </p:sp>
      <p:sp>
        <p:nvSpPr>
          <p:cNvPr id="55" name="TextBox 54"/>
          <p:cNvSpPr txBox="1"/>
          <p:nvPr/>
        </p:nvSpPr>
        <p:spPr>
          <a:xfrm rot="16200000">
            <a:off x="2178119" y="2966464"/>
            <a:ext cx="851535" cy="276448"/>
          </a:xfrm>
          <a:prstGeom prst="rect">
            <a:avLst/>
          </a:prstGeom>
          <a:noFill/>
        </p:spPr>
        <p:txBody>
          <a:bodyPr wrap="none" anchor="ctr" lIns="0" rIns="0" tIns="0" bIns="0">
            <a:noAutofit/>
          </a:bodyPr>
          <a:lstStyle/>
          <a:p>
            <a:pPr algn="ctr"/>
            <a:r>
              <a:rPr sz="800" b="0" i="0">
                <a:solidFill>
                  <a:srgbClr val="4C3F8C"/>
                </a:solidFill>
                <a:latin typeface="Arial"/>
              </a:rPr>
              <a:t>10 M | voxel
hyper 10 M vox</a:t>
            </a:r>
          </a:p>
        </p:txBody>
      </p:sp>
      <p:sp>
        <p:nvSpPr>
          <p:cNvPr id="56" name="TextBox 55"/>
          <p:cNvSpPr txBox="1"/>
          <p:nvPr/>
        </p:nvSpPr>
        <p:spPr>
          <a:xfrm rot="16200000">
            <a:off x="2550447" y="2902456"/>
            <a:ext cx="691515" cy="276448"/>
          </a:xfrm>
          <a:prstGeom prst="rect">
            <a:avLst/>
          </a:prstGeom>
          <a:noFill/>
        </p:spPr>
        <p:txBody>
          <a:bodyPr wrap="none" anchor="ctr" lIns="0" rIns="0" tIns="0" bIns="0">
            <a:noAutofit/>
          </a:bodyPr>
          <a:lstStyle/>
          <a:p>
            <a:pPr algn="ctr"/>
            <a:r>
              <a:rPr sz="800" b="0" i="0">
                <a:solidFill>
                  <a:srgbClr val="4C3F8C"/>
                </a:solidFill>
                <a:latin typeface="Arial"/>
              </a:rPr>
              <a:t>10 M | voxel
hyper 100 M</a:t>
            </a:r>
          </a:p>
        </p:txBody>
      </p:sp>
      <p:sp>
        <p:nvSpPr>
          <p:cNvPr id="57" name="TextBox 56"/>
          <p:cNvSpPr txBox="1"/>
          <p:nvPr/>
        </p:nvSpPr>
        <p:spPr>
          <a:xfrm rot="16200000">
            <a:off x="2819905" y="2920744"/>
            <a:ext cx="737235" cy="276448"/>
          </a:xfrm>
          <a:prstGeom prst="rect">
            <a:avLst/>
          </a:prstGeom>
          <a:noFill/>
        </p:spPr>
        <p:txBody>
          <a:bodyPr wrap="none" anchor="ctr" lIns="0" rIns="0" tIns="0" bIns="0">
            <a:noAutofit/>
          </a:bodyPr>
          <a:lstStyle/>
          <a:p>
            <a:pPr algn="ctr"/>
            <a:r>
              <a:rPr sz="800" b="0" i="0">
                <a:solidFill>
                  <a:srgbClr val="4C3F8C"/>
                </a:solidFill>
                <a:latin typeface="Arial"/>
              </a:rPr>
              <a:t>100 M | voxel
hyper 100 M</a:t>
            </a:r>
          </a:p>
        </p:txBody>
      </p:sp>
      <p:sp>
        <p:nvSpPr>
          <p:cNvPr id="58" name="TextBox 57"/>
          <p:cNvSpPr txBox="1"/>
          <p:nvPr/>
        </p:nvSpPr>
        <p:spPr>
          <a:xfrm rot="16200000">
            <a:off x="3135083" y="2902456"/>
            <a:ext cx="691515" cy="276448"/>
          </a:xfrm>
          <a:prstGeom prst="rect">
            <a:avLst/>
          </a:prstGeom>
          <a:noFill/>
        </p:spPr>
        <p:txBody>
          <a:bodyPr wrap="none" anchor="ctr" lIns="0" rIns="0" tIns="0" bIns="0">
            <a:noAutofit/>
          </a:bodyPr>
          <a:lstStyle/>
          <a:p>
            <a:pPr algn="ctr"/>
            <a:r>
              <a:rPr sz="800" b="0" i="0">
                <a:solidFill>
                  <a:srgbClr val="4C3F8C"/>
                </a:solidFill>
                <a:latin typeface="Arial"/>
              </a:rPr>
              <a:t>1 B | voxel
hyper 100 M</a:t>
            </a:r>
          </a:p>
        </p:txBody>
      </p:sp>
      <p:sp>
        <p:nvSpPr>
          <p:cNvPr id="59" name="TextBox 58"/>
          <p:cNvSpPr txBox="1"/>
          <p:nvPr/>
        </p:nvSpPr>
        <p:spPr>
          <a:xfrm>
            <a:off x="1037405" y="670433"/>
            <a:ext cx="554355" cy="276448"/>
          </a:xfrm>
          <a:prstGeom prst="rect">
            <a:avLst/>
          </a:prstGeom>
          <a:noFill/>
        </p:spPr>
        <p:txBody>
          <a:bodyPr wrap="none" anchor="ctr" lIns="0" rIns="0" tIns="0" bIns="0">
            <a:noAutofit/>
          </a:bodyPr>
          <a:lstStyle/>
          <a:p>
            <a:pPr algn="r"/>
            <a:r>
              <a:rPr sz="800" b="0" i="0">
                <a:solidFill>
                  <a:srgbClr val="8E7CC3"/>
                </a:solidFill>
                <a:latin typeface="Arial"/>
              </a:rPr>
              <a:t>3 M | 268
hyper 3 M</a:t>
            </a:r>
          </a:p>
        </p:txBody>
      </p:sp>
      <p:sp>
        <p:nvSpPr>
          <p:cNvPr id="60" name="TextBox 59"/>
          <p:cNvSpPr txBox="1"/>
          <p:nvPr/>
        </p:nvSpPr>
        <p:spPr>
          <a:xfrm>
            <a:off x="1011687" y="962751"/>
            <a:ext cx="582930" cy="276448"/>
          </a:xfrm>
          <a:prstGeom prst="rect">
            <a:avLst/>
          </a:prstGeom>
          <a:noFill/>
        </p:spPr>
        <p:txBody>
          <a:bodyPr wrap="none" anchor="ctr" lIns="0" rIns="0" tIns="0" bIns="0">
            <a:noAutofit/>
          </a:bodyPr>
          <a:lstStyle/>
          <a:p>
            <a:pPr algn="r"/>
            <a:r>
              <a:rPr sz="800" b="0" i="0">
                <a:solidFill>
                  <a:srgbClr val="8E7CC3"/>
                </a:solidFill>
                <a:latin typeface="Arial"/>
              </a:rPr>
              <a:t>10 M | 268
hyper 3 M</a:t>
            </a:r>
          </a:p>
        </p:txBody>
      </p:sp>
      <p:sp>
        <p:nvSpPr>
          <p:cNvPr id="61" name="TextBox 60"/>
          <p:cNvSpPr txBox="1"/>
          <p:nvPr/>
        </p:nvSpPr>
        <p:spPr>
          <a:xfrm>
            <a:off x="697934" y="1255068"/>
            <a:ext cx="931545" cy="276448"/>
          </a:xfrm>
          <a:prstGeom prst="rect">
            <a:avLst/>
          </a:prstGeom>
          <a:noFill/>
        </p:spPr>
        <p:txBody>
          <a:bodyPr wrap="none" anchor="ctr" lIns="0" rIns="0" tIns="0" bIns="0">
            <a:noAutofit/>
          </a:bodyPr>
          <a:lstStyle/>
          <a:p>
            <a:pPr algn="r"/>
            <a:r>
              <a:rPr sz="800" b="0" i="0">
                <a:solidFill>
                  <a:srgbClr val="8E7CC3"/>
                </a:solidFill>
                <a:latin typeface="Arial"/>
              </a:rPr>
              <a:t>10 M | 1000
hyper 10 M/1000</a:t>
            </a:r>
          </a:p>
        </p:txBody>
      </p:sp>
      <p:sp>
        <p:nvSpPr>
          <p:cNvPr id="62" name="TextBox 61"/>
          <p:cNvSpPr txBox="1"/>
          <p:nvPr/>
        </p:nvSpPr>
        <p:spPr>
          <a:xfrm>
            <a:off x="769943" y="1547386"/>
            <a:ext cx="851535" cy="276448"/>
          </a:xfrm>
          <a:prstGeom prst="rect">
            <a:avLst/>
          </a:prstGeom>
          <a:noFill/>
        </p:spPr>
        <p:txBody>
          <a:bodyPr wrap="none" anchor="ctr" lIns="0" rIns="0" tIns="0" bIns="0">
            <a:noAutofit/>
          </a:bodyPr>
          <a:lstStyle/>
          <a:p>
            <a:pPr algn="r"/>
            <a:r>
              <a:rPr sz="800" b="0" i="0">
                <a:solidFill>
                  <a:srgbClr val="4C3F8C"/>
                </a:solidFill>
                <a:latin typeface="Arial"/>
              </a:rPr>
              <a:t>10 M | voxel
hyper 10 M vox</a:t>
            </a:r>
          </a:p>
        </p:txBody>
      </p:sp>
      <p:sp>
        <p:nvSpPr>
          <p:cNvPr id="63" name="TextBox 62"/>
          <p:cNvSpPr txBox="1"/>
          <p:nvPr/>
        </p:nvSpPr>
        <p:spPr>
          <a:xfrm>
            <a:off x="913961" y="1839704"/>
            <a:ext cx="691515" cy="276448"/>
          </a:xfrm>
          <a:prstGeom prst="rect">
            <a:avLst/>
          </a:prstGeom>
          <a:noFill/>
        </p:spPr>
        <p:txBody>
          <a:bodyPr wrap="none" anchor="ctr" lIns="0" rIns="0" tIns="0" bIns="0">
            <a:noAutofit/>
          </a:bodyPr>
          <a:lstStyle/>
          <a:p>
            <a:pPr algn="r"/>
            <a:r>
              <a:rPr sz="800" b="0" i="0">
                <a:solidFill>
                  <a:srgbClr val="4C3F8C"/>
                </a:solidFill>
                <a:latin typeface="Arial"/>
              </a:rPr>
              <a:t>10 M | voxel
hyper 100 M</a:t>
            </a:r>
          </a:p>
        </p:txBody>
      </p:sp>
      <p:sp>
        <p:nvSpPr>
          <p:cNvPr id="64" name="TextBox 63"/>
          <p:cNvSpPr txBox="1"/>
          <p:nvPr/>
        </p:nvSpPr>
        <p:spPr>
          <a:xfrm>
            <a:off x="872813" y="2132022"/>
            <a:ext cx="737235" cy="276448"/>
          </a:xfrm>
          <a:prstGeom prst="rect">
            <a:avLst/>
          </a:prstGeom>
          <a:noFill/>
        </p:spPr>
        <p:txBody>
          <a:bodyPr wrap="none" anchor="ctr" lIns="0" rIns="0" tIns="0" bIns="0">
            <a:noAutofit/>
          </a:bodyPr>
          <a:lstStyle/>
          <a:p>
            <a:pPr algn="r"/>
            <a:r>
              <a:rPr sz="800" b="0" i="0">
                <a:solidFill>
                  <a:srgbClr val="4C3F8C"/>
                </a:solidFill>
                <a:latin typeface="Arial"/>
              </a:rPr>
              <a:t>100 M | voxel
hyper 100 M</a:t>
            </a:r>
          </a:p>
        </p:txBody>
      </p:sp>
      <p:sp>
        <p:nvSpPr>
          <p:cNvPr id="65" name="TextBox 64"/>
          <p:cNvSpPr txBox="1"/>
          <p:nvPr/>
        </p:nvSpPr>
        <p:spPr>
          <a:xfrm>
            <a:off x="913961" y="2424340"/>
            <a:ext cx="691515" cy="276448"/>
          </a:xfrm>
          <a:prstGeom prst="rect">
            <a:avLst/>
          </a:prstGeom>
          <a:noFill/>
        </p:spPr>
        <p:txBody>
          <a:bodyPr wrap="none" anchor="ctr" lIns="0" rIns="0" tIns="0" bIns="0">
            <a:noAutofit/>
          </a:bodyPr>
          <a:lstStyle/>
          <a:p>
            <a:pPr algn="r"/>
            <a:r>
              <a:rPr sz="800" b="0" i="0">
                <a:solidFill>
                  <a:srgbClr val="4C3F8C"/>
                </a:solidFill>
                <a:latin typeface="Arial"/>
              </a:rPr>
              <a:t>1 B | voxel
hyper 100 M</a:t>
            </a:r>
          </a:p>
        </p:txBody>
      </p:sp>
      <p:sp>
        <p:nvSpPr>
          <p:cNvPr id="66" name="TextBox 65"/>
          <p:cNvSpPr txBox="1"/>
          <p:nvPr/>
        </p:nvSpPr>
        <p:spPr>
          <a:xfrm>
            <a:off x="4999918" y="734565"/>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67" name="TextBox 66"/>
          <p:cNvSpPr txBox="1"/>
          <p:nvPr/>
        </p:nvSpPr>
        <p:spPr>
          <a:xfrm>
            <a:off x="5292236" y="734565"/>
            <a:ext cx="240030" cy="119186"/>
          </a:xfrm>
          <a:prstGeom prst="rect">
            <a:avLst/>
          </a:prstGeom>
          <a:noFill/>
        </p:spPr>
        <p:txBody>
          <a:bodyPr wrap="none" anchor="ctr" lIns="0" rIns="0" tIns="0" bIns="0">
            <a:noAutofit/>
          </a:bodyPr>
          <a:lstStyle/>
          <a:p>
            <a:pPr algn="ctr"/>
            <a:r>
              <a:rPr sz="800" b="0" i="0">
                <a:solidFill>
                  <a:srgbClr val="FFFFFF"/>
                </a:solidFill>
                <a:latin typeface="Arial"/>
              </a:rPr>
              <a:t>0.94</a:t>
            </a:r>
          </a:p>
        </p:txBody>
      </p:sp>
      <p:sp>
        <p:nvSpPr>
          <p:cNvPr id="68" name="TextBox 67"/>
          <p:cNvSpPr txBox="1"/>
          <p:nvPr/>
        </p:nvSpPr>
        <p:spPr>
          <a:xfrm>
            <a:off x="5584554" y="734565"/>
            <a:ext cx="240030" cy="119186"/>
          </a:xfrm>
          <a:prstGeom prst="rect">
            <a:avLst/>
          </a:prstGeom>
          <a:noFill/>
        </p:spPr>
        <p:txBody>
          <a:bodyPr wrap="none" anchor="ctr" lIns="0" rIns="0" tIns="0" bIns="0">
            <a:noAutofit/>
          </a:bodyPr>
          <a:lstStyle/>
          <a:p>
            <a:pPr algn="ctr"/>
            <a:r>
              <a:rPr sz="800" b="0" i="0">
                <a:solidFill>
                  <a:srgbClr val="FFFFFF"/>
                </a:solidFill>
                <a:latin typeface="Arial"/>
              </a:rPr>
              <a:t>0.81</a:t>
            </a:r>
          </a:p>
        </p:txBody>
      </p:sp>
      <p:sp>
        <p:nvSpPr>
          <p:cNvPr id="69" name="TextBox 68"/>
          <p:cNvSpPr txBox="1"/>
          <p:nvPr/>
        </p:nvSpPr>
        <p:spPr>
          <a:xfrm>
            <a:off x="5876872"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0.13</a:t>
            </a:r>
          </a:p>
        </p:txBody>
      </p:sp>
      <p:sp>
        <p:nvSpPr>
          <p:cNvPr id="70" name="TextBox 69"/>
          <p:cNvSpPr txBox="1"/>
          <p:nvPr/>
        </p:nvSpPr>
        <p:spPr>
          <a:xfrm>
            <a:off x="6169190"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0.50</a:t>
            </a:r>
          </a:p>
        </p:txBody>
      </p:sp>
      <p:sp>
        <p:nvSpPr>
          <p:cNvPr id="71" name="TextBox 70"/>
          <p:cNvSpPr txBox="1"/>
          <p:nvPr/>
        </p:nvSpPr>
        <p:spPr>
          <a:xfrm>
            <a:off x="6461508"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0.28</a:t>
            </a:r>
          </a:p>
        </p:txBody>
      </p:sp>
      <p:sp>
        <p:nvSpPr>
          <p:cNvPr id="72" name="TextBox 71"/>
          <p:cNvSpPr txBox="1"/>
          <p:nvPr/>
        </p:nvSpPr>
        <p:spPr>
          <a:xfrm>
            <a:off x="6753826" y="734565"/>
            <a:ext cx="240030" cy="119186"/>
          </a:xfrm>
          <a:prstGeom prst="rect">
            <a:avLst/>
          </a:prstGeom>
          <a:noFill/>
        </p:spPr>
        <p:txBody>
          <a:bodyPr wrap="none" anchor="ctr" lIns="0" rIns="0" tIns="0" bIns="0">
            <a:noAutofit/>
          </a:bodyPr>
          <a:lstStyle/>
          <a:p>
            <a:pPr algn="ctr"/>
            <a:r>
              <a:rPr sz="800" b="0" i="0">
                <a:solidFill>
                  <a:srgbClr val="000000"/>
                </a:solidFill>
                <a:latin typeface="Arial"/>
              </a:rPr>
              <a:t>0.32</a:t>
            </a:r>
          </a:p>
        </p:txBody>
      </p:sp>
      <p:sp>
        <p:nvSpPr>
          <p:cNvPr id="73" name="TextBox 72"/>
          <p:cNvSpPr txBox="1"/>
          <p:nvPr/>
        </p:nvSpPr>
        <p:spPr>
          <a:xfrm>
            <a:off x="4999918" y="1026883"/>
            <a:ext cx="240030" cy="119186"/>
          </a:xfrm>
          <a:prstGeom prst="rect">
            <a:avLst/>
          </a:prstGeom>
          <a:noFill/>
        </p:spPr>
        <p:txBody>
          <a:bodyPr wrap="none" anchor="ctr" lIns="0" rIns="0" tIns="0" bIns="0">
            <a:noAutofit/>
          </a:bodyPr>
          <a:lstStyle/>
          <a:p>
            <a:pPr algn="ctr"/>
            <a:r>
              <a:rPr sz="800" b="0" i="0">
                <a:solidFill>
                  <a:srgbClr val="FFFFFF"/>
                </a:solidFill>
                <a:latin typeface="Arial"/>
              </a:rPr>
              <a:t>0.94</a:t>
            </a:r>
          </a:p>
        </p:txBody>
      </p:sp>
      <p:sp>
        <p:nvSpPr>
          <p:cNvPr id="74" name="TextBox 73"/>
          <p:cNvSpPr txBox="1"/>
          <p:nvPr/>
        </p:nvSpPr>
        <p:spPr>
          <a:xfrm>
            <a:off x="5292236" y="1026883"/>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75" name="TextBox 74"/>
          <p:cNvSpPr txBox="1"/>
          <p:nvPr/>
        </p:nvSpPr>
        <p:spPr>
          <a:xfrm>
            <a:off x="5584554" y="1026883"/>
            <a:ext cx="240030" cy="119186"/>
          </a:xfrm>
          <a:prstGeom prst="rect">
            <a:avLst/>
          </a:prstGeom>
          <a:noFill/>
        </p:spPr>
        <p:txBody>
          <a:bodyPr wrap="none" anchor="ctr" lIns="0" rIns="0" tIns="0" bIns="0">
            <a:noAutofit/>
          </a:bodyPr>
          <a:lstStyle/>
          <a:p>
            <a:pPr algn="ctr"/>
            <a:r>
              <a:rPr sz="800" b="0" i="0">
                <a:solidFill>
                  <a:srgbClr val="FFFFFF"/>
                </a:solidFill>
                <a:latin typeface="Arial"/>
              </a:rPr>
              <a:t>0.76</a:t>
            </a:r>
          </a:p>
        </p:txBody>
      </p:sp>
      <p:sp>
        <p:nvSpPr>
          <p:cNvPr id="76" name="TextBox 75"/>
          <p:cNvSpPr txBox="1"/>
          <p:nvPr/>
        </p:nvSpPr>
        <p:spPr>
          <a:xfrm>
            <a:off x="5876872"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0.12</a:t>
            </a:r>
          </a:p>
        </p:txBody>
      </p:sp>
      <p:sp>
        <p:nvSpPr>
          <p:cNvPr id="77" name="TextBox 76"/>
          <p:cNvSpPr txBox="1"/>
          <p:nvPr/>
        </p:nvSpPr>
        <p:spPr>
          <a:xfrm>
            <a:off x="6169190"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0.47</a:t>
            </a:r>
          </a:p>
        </p:txBody>
      </p:sp>
      <p:sp>
        <p:nvSpPr>
          <p:cNvPr id="78" name="TextBox 77"/>
          <p:cNvSpPr txBox="1"/>
          <p:nvPr/>
        </p:nvSpPr>
        <p:spPr>
          <a:xfrm>
            <a:off x="6461508"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0.32</a:t>
            </a:r>
          </a:p>
        </p:txBody>
      </p:sp>
      <p:sp>
        <p:nvSpPr>
          <p:cNvPr id="79" name="TextBox 78"/>
          <p:cNvSpPr txBox="1"/>
          <p:nvPr/>
        </p:nvSpPr>
        <p:spPr>
          <a:xfrm>
            <a:off x="6753826" y="1026883"/>
            <a:ext cx="240030" cy="119186"/>
          </a:xfrm>
          <a:prstGeom prst="rect">
            <a:avLst/>
          </a:prstGeom>
          <a:noFill/>
        </p:spPr>
        <p:txBody>
          <a:bodyPr wrap="none" anchor="ctr" lIns="0" rIns="0" tIns="0" bIns="0">
            <a:noAutofit/>
          </a:bodyPr>
          <a:lstStyle/>
          <a:p>
            <a:pPr algn="ctr"/>
            <a:r>
              <a:rPr sz="800" b="0" i="0">
                <a:solidFill>
                  <a:srgbClr val="000000"/>
                </a:solidFill>
                <a:latin typeface="Arial"/>
              </a:rPr>
              <a:t>0.37</a:t>
            </a:r>
          </a:p>
        </p:txBody>
      </p:sp>
      <p:sp>
        <p:nvSpPr>
          <p:cNvPr id="80" name="TextBox 79"/>
          <p:cNvSpPr txBox="1"/>
          <p:nvPr/>
        </p:nvSpPr>
        <p:spPr>
          <a:xfrm>
            <a:off x="4999918" y="1319201"/>
            <a:ext cx="240030" cy="119186"/>
          </a:xfrm>
          <a:prstGeom prst="rect">
            <a:avLst/>
          </a:prstGeom>
          <a:noFill/>
        </p:spPr>
        <p:txBody>
          <a:bodyPr wrap="none" anchor="ctr" lIns="0" rIns="0" tIns="0" bIns="0">
            <a:noAutofit/>
          </a:bodyPr>
          <a:lstStyle/>
          <a:p>
            <a:pPr algn="ctr"/>
            <a:r>
              <a:rPr sz="800" b="0" i="0">
                <a:solidFill>
                  <a:srgbClr val="FFFFFF"/>
                </a:solidFill>
                <a:latin typeface="Arial"/>
              </a:rPr>
              <a:t>0.81</a:t>
            </a:r>
          </a:p>
        </p:txBody>
      </p:sp>
      <p:sp>
        <p:nvSpPr>
          <p:cNvPr id="81" name="TextBox 80"/>
          <p:cNvSpPr txBox="1"/>
          <p:nvPr/>
        </p:nvSpPr>
        <p:spPr>
          <a:xfrm>
            <a:off x="5292236" y="1319201"/>
            <a:ext cx="240030" cy="119186"/>
          </a:xfrm>
          <a:prstGeom prst="rect">
            <a:avLst/>
          </a:prstGeom>
          <a:noFill/>
        </p:spPr>
        <p:txBody>
          <a:bodyPr wrap="none" anchor="ctr" lIns="0" rIns="0" tIns="0" bIns="0">
            <a:noAutofit/>
          </a:bodyPr>
          <a:lstStyle/>
          <a:p>
            <a:pPr algn="ctr"/>
            <a:r>
              <a:rPr sz="800" b="0" i="0">
                <a:solidFill>
                  <a:srgbClr val="FFFFFF"/>
                </a:solidFill>
                <a:latin typeface="Arial"/>
              </a:rPr>
              <a:t>0.76</a:t>
            </a:r>
          </a:p>
        </p:txBody>
      </p:sp>
      <p:sp>
        <p:nvSpPr>
          <p:cNvPr id="82" name="TextBox 81"/>
          <p:cNvSpPr txBox="1"/>
          <p:nvPr/>
        </p:nvSpPr>
        <p:spPr>
          <a:xfrm>
            <a:off x="5584554" y="1319201"/>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83" name="TextBox 82"/>
          <p:cNvSpPr txBox="1"/>
          <p:nvPr/>
        </p:nvSpPr>
        <p:spPr>
          <a:xfrm>
            <a:off x="5876872"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84" name="TextBox 83"/>
          <p:cNvSpPr txBox="1"/>
          <p:nvPr/>
        </p:nvSpPr>
        <p:spPr>
          <a:xfrm>
            <a:off x="6169190"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0.54</a:t>
            </a:r>
          </a:p>
        </p:txBody>
      </p:sp>
      <p:sp>
        <p:nvSpPr>
          <p:cNvPr id="85" name="TextBox 84"/>
          <p:cNvSpPr txBox="1"/>
          <p:nvPr/>
        </p:nvSpPr>
        <p:spPr>
          <a:xfrm>
            <a:off x="6461508"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0.43</a:t>
            </a:r>
          </a:p>
        </p:txBody>
      </p:sp>
      <p:sp>
        <p:nvSpPr>
          <p:cNvPr id="86" name="TextBox 85"/>
          <p:cNvSpPr txBox="1"/>
          <p:nvPr/>
        </p:nvSpPr>
        <p:spPr>
          <a:xfrm>
            <a:off x="6753826" y="1319201"/>
            <a:ext cx="240030" cy="119186"/>
          </a:xfrm>
          <a:prstGeom prst="rect">
            <a:avLst/>
          </a:prstGeom>
          <a:noFill/>
        </p:spPr>
        <p:txBody>
          <a:bodyPr wrap="none" anchor="ctr" lIns="0" rIns="0" tIns="0" bIns="0">
            <a:noAutofit/>
          </a:bodyPr>
          <a:lstStyle/>
          <a:p>
            <a:pPr algn="ctr"/>
            <a:r>
              <a:rPr sz="800" b="0" i="0">
                <a:solidFill>
                  <a:srgbClr val="000000"/>
                </a:solidFill>
                <a:latin typeface="Arial"/>
              </a:rPr>
              <a:t>0.45</a:t>
            </a:r>
          </a:p>
        </p:txBody>
      </p:sp>
      <p:sp>
        <p:nvSpPr>
          <p:cNvPr id="87" name="TextBox 86"/>
          <p:cNvSpPr txBox="1"/>
          <p:nvPr/>
        </p:nvSpPr>
        <p:spPr>
          <a:xfrm>
            <a:off x="4999918"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0.13</a:t>
            </a:r>
          </a:p>
        </p:txBody>
      </p:sp>
      <p:sp>
        <p:nvSpPr>
          <p:cNvPr id="88" name="TextBox 87"/>
          <p:cNvSpPr txBox="1"/>
          <p:nvPr/>
        </p:nvSpPr>
        <p:spPr>
          <a:xfrm>
            <a:off x="5292236"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0.12</a:t>
            </a:r>
          </a:p>
        </p:txBody>
      </p:sp>
      <p:sp>
        <p:nvSpPr>
          <p:cNvPr id="89" name="TextBox 88"/>
          <p:cNvSpPr txBox="1"/>
          <p:nvPr/>
        </p:nvSpPr>
        <p:spPr>
          <a:xfrm>
            <a:off x="5584554"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90" name="TextBox 89"/>
          <p:cNvSpPr txBox="1"/>
          <p:nvPr/>
        </p:nvSpPr>
        <p:spPr>
          <a:xfrm>
            <a:off x="5876872" y="1611519"/>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91" name="TextBox 90"/>
          <p:cNvSpPr txBox="1"/>
          <p:nvPr/>
        </p:nvSpPr>
        <p:spPr>
          <a:xfrm>
            <a:off x="6169190" y="1611519"/>
            <a:ext cx="240030" cy="119186"/>
          </a:xfrm>
          <a:prstGeom prst="rect">
            <a:avLst/>
          </a:prstGeom>
          <a:noFill/>
        </p:spPr>
        <p:txBody>
          <a:bodyPr wrap="none" anchor="ctr" lIns="0" rIns="0" tIns="0" bIns="0">
            <a:noAutofit/>
          </a:bodyPr>
          <a:lstStyle/>
          <a:p>
            <a:pPr algn="ctr"/>
            <a:r>
              <a:rPr sz="800" b="0" i="0">
                <a:solidFill>
                  <a:srgbClr val="000000"/>
                </a:solidFill>
                <a:latin typeface="Arial"/>
              </a:rPr>
              <a:t>0.09</a:t>
            </a:r>
          </a:p>
        </p:txBody>
      </p:sp>
      <p:sp>
        <p:nvSpPr>
          <p:cNvPr id="92" name="TextBox 91"/>
          <p:cNvSpPr txBox="1"/>
          <p:nvPr/>
        </p:nvSpPr>
        <p:spPr>
          <a:xfrm>
            <a:off x="6440076" y="1611519"/>
            <a:ext cx="282892" cy="119186"/>
          </a:xfrm>
          <a:prstGeom prst="rect">
            <a:avLst/>
          </a:prstGeom>
          <a:noFill/>
        </p:spPr>
        <p:txBody>
          <a:bodyPr wrap="none" anchor="ctr" lIns="0" rIns="0" tIns="0" bIns="0">
            <a:noAutofit/>
          </a:bodyPr>
          <a:lstStyle/>
          <a:p>
            <a:pPr algn="ctr"/>
            <a:r>
              <a:rPr sz="800" b="0" i="0">
                <a:solidFill>
                  <a:srgbClr val="000000"/>
                </a:solidFill>
                <a:latin typeface="Arial"/>
              </a:rPr>
              <a:t>-0.02</a:t>
            </a:r>
          </a:p>
        </p:txBody>
      </p:sp>
      <p:sp>
        <p:nvSpPr>
          <p:cNvPr id="93" name="TextBox 92"/>
          <p:cNvSpPr txBox="1"/>
          <p:nvPr/>
        </p:nvSpPr>
        <p:spPr>
          <a:xfrm>
            <a:off x="6732394" y="1611519"/>
            <a:ext cx="282892"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94" name="TextBox 93"/>
          <p:cNvSpPr txBox="1"/>
          <p:nvPr/>
        </p:nvSpPr>
        <p:spPr>
          <a:xfrm>
            <a:off x="4999918"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0.50</a:t>
            </a:r>
          </a:p>
        </p:txBody>
      </p:sp>
      <p:sp>
        <p:nvSpPr>
          <p:cNvPr id="95" name="TextBox 94"/>
          <p:cNvSpPr txBox="1"/>
          <p:nvPr/>
        </p:nvSpPr>
        <p:spPr>
          <a:xfrm>
            <a:off x="5292236"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0.47</a:t>
            </a:r>
          </a:p>
        </p:txBody>
      </p:sp>
      <p:sp>
        <p:nvSpPr>
          <p:cNvPr id="96" name="TextBox 95"/>
          <p:cNvSpPr txBox="1"/>
          <p:nvPr/>
        </p:nvSpPr>
        <p:spPr>
          <a:xfrm>
            <a:off x="5584554"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0.54</a:t>
            </a:r>
          </a:p>
        </p:txBody>
      </p:sp>
      <p:sp>
        <p:nvSpPr>
          <p:cNvPr id="97" name="TextBox 96"/>
          <p:cNvSpPr txBox="1"/>
          <p:nvPr/>
        </p:nvSpPr>
        <p:spPr>
          <a:xfrm>
            <a:off x="5876872"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0.09</a:t>
            </a:r>
          </a:p>
        </p:txBody>
      </p:sp>
      <p:sp>
        <p:nvSpPr>
          <p:cNvPr id="98" name="TextBox 97"/>
          <p:cNvSpPr txBox="1"/>
          <p:nvPr/>
        </p:nvSpPr>
        <p:spPr>
          <a:xfrm>
            <a:off x="6169190" y="1903837"/>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99" name="TextBox 98"/>
          <p:cNvSpPr txBox="1"/>
          <p:nvPr/>
        </p:nvSpPr>
        <p:spPr>
          <a:xfrm>
            <a:off x="6461508"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0.35</a:t>
            </a:r>
          </a:p>
        </p:txBody>
      </p:sp>
      <p:sp>
        <p:nvSpPr>
          <p:cNvPr id="100" name="TextBox 99"/>
          <p:cNvSpPr txBox="1"/>
          <p:nvPr/>
        </p:nvSpPr>
        <p:spPr>
          <a:xfrm>
            <a:off x="6753826" y="1903837"/>
            <a:ext cx="240030" cy="119186"/>
          </a:xfrm>
          <a:prstGeom prst="rect">
            <a:avLst/>
          </a:prstGeom>
          <a:noFill/>
        </p:spPr>
        <p:txBody>
          <a:bodyPr wrap="none" anchor="ctr" lIns="0" rIns="0" tIns="0" bIns="0">
            <a:noAutofit/>
          </a:bodyPr>
          <a:lstStyle/>
          <a:p>
            <a:pPr algn="ctr"/>
            <a:r>
              <a:rPr sz="800" b="0" i="0">
                <a:solidFill>
                  <a:srgbClr val="000000"/>
                </a:solidFill>
                <a:latin typeface="Arial"/>
              </a:rPr>
              <a:t>0.44</a:t>
            </a:r>
          </a:p>
        </p:txBody>
      </p:sp>
      <p:sp>
        <p:nvSpPr>
          <p:cNvPr id="101" name="TextBox 100"/>
          <p:cNvSpPr txBox="1"/>
          <p:nvPr/>
        </p:nvSpPr>
        <p:spPr>
          <a:xfrm>
            <a:off x="4999918" y="2196154"/>
            <a:ext cx="240030" cy="119186"/>
          </a:xfrm>
          <a:prstGeom prst="rect">
            <a:avLst/>
          </a:prstGeom>
          <a:noFill/>
        </p:spPr>
        <p:txBody>
          <a:bodyPr wrap="none" anchor="ctr" lIns="0" rIns="0" tIns="0" bIns="0">
            <a:noAutofit/>
          </a:bodyPr>
          <a:lstStyle/>
          <a:p>
            <a:pPr algn="ctr"/>
            <a:r>
              <a:rPr sz="800" b="0" i="0">
                <a:solidFill>
                  <a:srgbClr val="000000"/>
                </a:solidFill>
                <a:latin typeface="Arial"/>
              </a:rPr>
              <a:t>0.28</a:t>
            </a:r>
          </a:p>
        </p:txBody>
      </p:sp>
      <p:sp>
        <p:nvSpPr>
          <p:cNvPr id="102" name="TextBox 101"/>
          <p:cNvSpPr txBox="1"/>
          <p:nvPr/>
        </p:nvSpPr>
        <p:spPr>
          <a:xfrm>
            <a:off x="5292236" y="2196154"/>
            <a:ext cx="240030" cy="119186"/>
          </a:xfrm>
          <a:prstGeom prst="rect">
            <a:avLst/>
          </a:prstGeom>
          <a:noFill/>
        </p:spPr>
        <p:txBody>
          <a:bodyPr wrap="none" anchor="ctr" lIns="0" rIns="0" tIns="0" bIns="0">
            <a:noAutofit/>
          </a:bodyPr>
          <a:lstStyle/>
          <a:p>
            <a:pPr algn="ctr"/>
            <a:r>
              <a:rPr sz="800" b="0" i="0">
                <a:solidFill>
                  <a:srgbClr val="000000"/>
                </a:solidFill>
                <a:latin typeface="Arial"/>
              </a:rPr>
              <a:t>0.32</a:t>
            </a:r>
          </a:p>
        </p:txBody>
      </p:sp>
      <p:sp>
        <p:nvSpPr>
          <p:cNvPr id="103" name="TextBox 102"/>
          <p:cNvSpPr txBox="1"/>
          <p:nvPr/>
        </p:nvSpPr>
        <p:spPr>
          <a:xfrm>
            <a:off x="5584554" y="2196154"/>
            <a:ext cx="240030" cy="119186"/>
          </a:xfrm>
          <a:prstGeom prst="rect">
            <a:avLst/>
          </a:prstGeom>
          <a:noFill/>
        </p:spPr>
        <p:txBody>
          <a:bodyPr wrap="none" anchor="ctr" lIns="0" rIns="0" tIns="0" bIns="0">
            <a:noAutofit/>
          </a:bodyPr>
          <a:lstStyle/>
          <a:p>
            <a:pPr algn="ctr"/>
            <a:r>
              <a:rPr sz="800" b="0" i="0">
                <a:solidFill>
                  <a:srgbClr val="000000"/>
                </a:solidFill>
                <a:latin typeface="Arial"/>
              </a:rPr>
              <a:t>0.43</a:t>
            </a:r>
          </a:p>
        </p:txBody>
      </p:sp>
      <p:sp>
        <p:nvSpPr>
          <p:cNvPr id="104" name="TextBox 103"/>
          <p:cNvSpPr txBox="1"/>
          <p:nvPr/>
        </p:nvSpPr>
        <p:spPr>
          <a:xfrm>
            <a:off x="5855441" y="2196154"/>
            <a:ext cx="282892" cy="119186"/>
          </a:xfrm>
          <a:prstGeom prst="rect">
            <a:avLst/>
          </a:prstGeom>
          <a:noFill/>
        </p:spPr>
        <p:txBody>
          <a:bodyPr wrap="none" anchor="ctr" lIns="0" rIns="0" tIns="0" bIns="0">
            <a:noAutofit/>
          </a:bodyPr>
          <a:lstStyle/>
          <a:p>
            <a:pPr algn="ctr"/>
            <a:r>
              <a:rPr sz="800" b="0" i="0">
                <a:solidFill>
                  <a:srgbClr val="000000"/>
                </a:solidFill>
                <a:latin typeface="Arial"/>
              </a:rPr>
              <a:t>-0.02</a:t>
            </a:r>
          </a:p>
        </p:txBody>
      </p:sp>
      <p:sp>
        <p:nvSpPr>
          <p:cNvPr id="105" name="TextBox 104"/>
          <p:cNvSpPr txBox="1"/>
          <p:nvPr/>
        </p:nvSpPr>
        <p:spPr>
          <a:xfrm>
            <a:off x="6169190" y="2196154"/>
            <a:ext cx="240030" cy="119186"/>
          </a:xfrm>
          <a:prstGeom prst="rect">
            <a:avLst/>
          </a:prstGeom>
          <a:noFill/>
        </p:spPr>
        <p:txBody>
          <a:bodyPr wrap="none" anchor="ctr" lIns="0" rIns="0" tIns="0" bIns="0">
            <a:noAutofit/>
          </a:bodyPr>
          <a:lstStyle/>
          <a:p>
            <a:pPr algn="ctr"/>
            <a:r>
              <a:rPr sz="800" b="0" i="0">
                <a:solidFill>
                  <a:srgbClr val="000000"/>
                </a:solidFill>
                <a:latin typeface="Arial"/>
              </a:rPr>
              <a:t>0.35</a:t>
            </a:r>
          </a:p>
        </p:txBody>
      </p:sp>
      <p:sp>
        <p:nvSpPr>
          <p:cNvPr id="106" name="TextBox 105"/>
          <p:cNvSpPr txBox="1"/>
          <p:nvPr/>
        </p:nvSpPr>
        <p:spPr>
          <a:xfrm>
            <a:off x="6461508" y="2196154"/>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07" name="TextBox 106"/>
          <p:cNvSpPr txBox="1"/>
          <p:nvPr/>
        </p:nvSpPr>
        <p:spPr>
          <a:xfrm>
            <a:off x="6753826" y="2196154"/>
            <a:ext cx="240030" cy="119186"/>
          </a:xfrm>
          <a:prstGeom prst="rect">
            <a:avLst/>
          </a:prstGeom>
          <a:noFill/>
        </p:spPr>
        <p:txBody>
          <a:bodyPr wrap="none" anchor="ctr" lIns="0" rIns="0" tIns="0" bIns="0">
            <a:noAutofit/>
          </a:bodyPr>
          <a:lstStyle/>
          <a:p>
            <a:pPr algn="ctr"/>
            <a:r>
              <a:rPr sz="800" b="0" i="0">
                <a:solidFill>
                  <a:srgbClr val="FFFFFF"/>
                </a:solidFill>
                <a:latin typeface="Arial"/>
              </a:rPr>
              <a:t>0.86</a:t>
            </a:r>
          </a:p>
        </p:txBody>
      </p:sp>
      <p:sp>
        <p:nvSpPr>
          <p:cNvPr id="108" name="TextBox 107"/>
          <p:cNvSpPr txBox="1"/>
          <p:nvPr/>
        </p:nvSpPr>
        <p:spPr>
          <a:xfrm>
            <a:off x="4999918" y="2488472"/>
            <a:ext cx="240030" cy="119186"/>
          </a:xfrm>
          <a:prstGeom prst="rect">
            <a:avLst/>
          </a:prstGeom>
          <a:noFill/>
        </p:spPr>
        <p:txBody>
          <a:bodyPr wrap="none" anchor="ctr" lIns="0" rIns="0" tIns="0" bIns="0">
            <a:noAutofit/>
          </a:bodyPr>
          <a:lstStyle/>
          <a:p>
            <a:pPr algn="ctr"/>
            <a:r>
              <a:rPr sz="800" b="0" i="0">
                <a:solidFill>
                  <a:srgbClr val="000000"/>
                </a:solidFill>
                <a:latin typeface="Arial"/>
              </a:rPr>
              <a:t>0.32</a:t>
            </a:r>
          </a:p>
        </p:txBody>
      </p:sp>
      <p:sp>
        <p:nvSpPr>
          <p:cNvPr id="109" name="TextBox 108"/>
          <p:cNvSpPr txBox="1"/>
          <p:nvPr/>
        </p:nvSpPr>
        <p:spPr>
          <a:xfrm>
            <a:off x="5292236" y="2488472"/>
            <a:ext cx="240030" cy="119186"/>
          </a:xfrm>
          <a:prstGeom prst="rect">
            <a:avLst/>
          </a:prstGeom>
          <a:noFill/>
        </p:spPr>
        <p:txBody>
          <a:bodyPr wrap="none" anchor="ctr" lIns="0" rIns="0" tIns="0" bIns="0">
            <a:noAutofit/>
          </a:bodyPr>
          <a:lstStyle/>
          <a:p>
            <a:pPr algn="ctr"/>
            <a:r>
              <a:rPr sz="800" b="0" i="0">
                <a:solidFill>
                  <a:srgbClr val="000000"/>
                </a:solidFill>
                <a:latin typeface="Arial"/>
              </a:rPr>
              <a:t>0.37</a:t>
            </a:r>
          </a:p>
        </p:txBody>
      </p:sp>
      <p:sp>
        <p:nvSpPr>
          <p:cNvPr id="110" name="TextBox 109"/>
          <p:cNvSpPr txBox="1"/>
          <p:nvPr/>
        </p:nvSpPr>
        <p:spPr>
          <a:xfrm>
            <a:off x="5584554" y="2488472"/>
            <a:ext cx="240030" cy="119186"/>
          </a:xfrm>
          <a:prstGeom prst="rect">
            <a:avLst/>
          </a:prstGeom>
          <a:noFill/>
        </p:spPr>
        <p:txBody>
          <a:bodyPr wrap="none" anchor="ctr" lIns="0" rIns="0" tIns="0" bIns="0">
            <a:noAutofit/>
          </a:bodyPr>
          <a:lstStyle/>
          <a:p>
            <a:pPr algn="ctr"/>
            <a:r>
              <a:rPr sz="800" b="0" i="0">
                <a:solidFill>
                  <a:srgbClr val="000000"/>
                </a:solidFill>
                <a:latin typeface="Arial"/>
              </a:rPr>
              <a:t>0.45</a:t>
            </a:r>
          </a:p>
        </p:txBody>
      </p:sp>
      <p:sp>
        <p:nvSpPr>
          <p:cNvPr id="111" name="TextBox 110"/>
          <p:cNvSpPr txBox="1"/>
          <p:nvPr/>
        </p:nvSpPr>
        <p:spPr>
          <a:xfrm>
            <a:off x="5855441" y="2488472"/>
            <a:ext cx="282892"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112" name="TextBox 111"/>
          <p:cNvSpPr txBox="1"/>
          <p:nvPr/>
        </p:nvSpPr>
        <p:spPr>
          <a:xfrm>
            <a:off x="6169190" y="2488472"/>
            <a:ext cx="240030" cy="119186"/>
          </a:xfrm>
          <a:prstGeom prst="rect">
            <a:avLst/>
          </a:prstGeom>
          <a:noFill/>
        </p:spPr>
        <p:txBody>
          <a:bodyPr wrap="none" anchor="ctr" lIns="0" rIns="0" tIns="0" bIns="0">
            <a:noAutofit/>
          </a:bodyPr>
          <a:lstStyle/>
          <a:p>
            <a:pPr algn="ctr"/>
            <a:r>
              <a:rPr sz="800" b="0" i="0">
                <a:solidFill>
                  <a:srgbClr val="000000"/>
                </a:solidFill>
                <a:latin typeface="Arial"/>
              </a:rPr>
              <a:t>0.44</a:t>
            </a:r>
          </a:p>
        </p:txBody>
      </p:sp>
      <p:sp>
        <p:nvSpPr>
          <p:cNvPr id="113" name="TextBox 112"/>
          <p:cNvSpPr txBox="1"/>
          <p:nvPr/>
        </p:nvSpPr>
        <p:spPr>
          <a:xfrm>
            <a:off x="6461508" y="2488472"/>
            <a:ext cx="240030" cy="119186"/>
          </a:xfrm>
          <a:prstGeom prst="rect">
            <a:avLst/>
          </a:prstGeom>
          <a:noFill/>
        </p:spPr>
        <p:txBody>
          <a:bodyPr wrap="none" anchor="ctr" lIns="0" rIns="0" tIns="0" bIns="0">
            <a:noAutofit/>
          </a:bodyPr>
          <a:lstStyle/>
          <a:p>
            <a:pPr algn="ctr"/>
            <a:r>
              <a:rPr sz="800" b="0" i="0">
                <a:solidFill>
                  <a:srgbClr val="FFFFFF"/>
                </a:solidFill>
                <a:latin typeface="Arial"/>
              </a:rPr>
              <a:t>0.86</a:t>
            </a:r>
          </a:p>
        </p:txBody>
      </p:sp>
      <p:sp>
        <p:nvSpPr>
          <p:cNvPr id="114" name="TextBox 113"/>
          <p:cNvSpPr txBox="1"/>
          <p:nvPr/>
        </p:nvSpPr>
        <p:spPr>
          <a:xfrm>
            <a:off x="6753826" y="2488472"/>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15" name="TextBox 114"/>
          <p:cNvSpPr txBox="1"/>
          <p:nvPr/>
        </p:nvSpPr>
        <p:spPr>
          <a:xfrm rot="16200000">
            <a:off x="4842756" y="2847592"/>
            <a:ext cx="554355" cy="276448"/>
          </a:xfrm>
          <a:prstGeom prst="rect">
            <a:avLst/>
          </a:prstGeom>
          <a:noFill/>
        </p:spPr>
        <p:txBody>
          <a:bodyPr wrap="none" anchor="ctr" lIns="0" rIns="0" tIns="0" bIns="0">
            <a:noAutofit/>
          </a:bodyPr>
          <a:lstStyle/>
          <a:p>
            <a:pPr algn="ctr"/>
            <a:r>
              <a:rPr sz="800" b="0" i="0">
                <a:solidFill>
                  <a:srgbClr val="8E7CC3"/>
                </a:solidFill>
                <a:latin typeface="Arial"/>
              </a:rPr>
              <a:t>3 M | 268
hyper 3 M</a:t>
            </a:r>
          </a:p>
        </p:txBody>
      </p:sp>
      <p:sp>
        <p:nvSpPr>
          <p:cNvPr id="116" name="TextBox 115"/>
          <p:cNvSpPr txBox="1"/>
          <p:nvPr/>
        </p:nvSpPr>
        <p:spPr>
          <a:xfrm rot="16200000">
            <a:off x="5120786" y="2859022"/>
            <a:ext cx="582930" cy="276448"/>
          </a:xfrm>
          <a:prstGeom prst="rect">
            <a:avLst/>
          </a:prstGeom>
          <a:noFill/>
        </p:spPr>
        <p:txBody>
          <a:bodyPr wrap="none" anchor="ctr" lIns="0" rIns="0" tIns="0" bIns="0">
            <a:noAutofit/>
          </a:bodyPr>
          <a:lstStyle/>
          <a:p>
            <a:pPr algn="ctr"/>
            <a:r>
              <a:rPr sz="800" b="0" i="0">
                <a:solidFill>
                  <a:srgbClr val="8E7CC3"/>
                </a:solidFill>
                <a:latin typeface="Arial"/>
              </a:rPr>
              <a:t>10 M | 268
hyper 3 M</a:t>
            </a:r>
          </a:p>
        </p:txBody>
      </p:sp>
      <p:sp>
        <p:nvSpPr>
          <p:cNvPr id="117" name="TextBox 116"/>
          <p:cNvSpPr txBox="1"/>
          <p:nvPr/>
        </p:nvSpPr>
        <p:spPr>
          <a:xfrm rot="16200000">
            <a:off x="5238797" y="2998468"/>
            <a:ext cx="931545" cy="276448"/>
          </a:xfrm>
          <a:prstGeom prst="rect">
            <a:avLst/>
          </a:prstGeom>
          <a:noFill/>
        </p:spPr>
        <p:txBody>
          <a:bodyPr wrap="none" anchor="ctr" lIns="0" rIns="0" tIns="0" bIns="0">
            <a:noAutofit/>
          </a:bodyPr>
          <a:lstStyle/>
          <a:p>
            <a:pPr algn="ctr"/>
            <a:r>
              <a:rPr sz="800" b="0" i="0">
                <a:solidFill>
                  <a:srgbClr val="8E7CC3"/>
                </a:solidFill>
                <a:latin typeface="Arial"/>
              </a:rPr>
              <a:t>10 M | 1000
hyper 10 M/1000</a:t>
            </a:r>
          </a:p>
        </p:txBody>
      </p:sp>
      <p:sp>
        <p:nvSpPr>
          <p:cNvPr id="118" name="TextBox 117"/>
          <p:cNvSpPr txBox="1"/>
          <p:nvPr/>
        </p:nvSpPr>
        <p:spPr>
          <a:xfrm rot="16200000">
            <a:off x="5571119" y="2966464"/>
            <a:ext cx="851535" cy="276448"/>
          </a:xfrm>
          <a:prstGeom prst="rect">
            <a:avLst/>
          </a:prstGeom>
          <a:noFill/>
        </p:spPr>
        <p:txBody>
          <a:bodyPr wrap="none" anchor="ctr" lIns="0" rIns="0" tIns="0" bIns="0">
            <a:noAutofit/>
          </a:bodyPr>
          <a:lstStyle/>
          <a:p>
            <a:pPr algn="ctr"/>
            <a:r>
              <a:rPr sz="800" b="0" i="0">
                <a:solidFill>
                  <a:srgbClr val="4C3F8C"/>
                </a:solidFill>
                <a:latin typeface="Arial"/>
              </a:rPr>
              <a:t>10 M | voxel
hyper 10 M vox</a:t>
            </a:r>
          </a:p>
        </p:txBody>
      </p:sp>
      <p:sp>
        <p:nvSpPr>
          <p:cNvPr id="119" name="TextBox 118"/>
          <p:cNvSpPr txBox="1"/>
          <p:nvPr/>
        </p:nvSpPr>
        <p:spPr>
          <a:xfrm rot="16200000">
            <a:off x="5943447" y="2902456"/>
            <a:ext cx="691515" cy="276448"/>
          </a:xfrm>
          <a:prstGeom prst="rect">
            <a:avLst/>
          </a:prstGeom>
          <a:noFill/>
        </p:spPr>
        <p:txBody>
          <a:bodyPr wrap="none" anchor="ctr" lIns="0" rIns="0" tIns="0" bIns="0">
            <a:noAutofit/>
          </a:bodyPr>
          <a:lstStyle/>
          <a:p>
            <a:pPr algn="ctr"/>
            <a:r>
              <a:rPr sz="800" b="0" i="0">
                <a:solidFill>
                  <a:srgbClr val="4C3F8C"/>
                </a:solidFill>
                <a:latin typeface="Arial"/>
              </a:rPr>
              <a:t>10 M | voxel
hyper 100 M</a:t>
            </a:r>
          </a:p>
        </p:txBody>
      </p:sp>
      <p:sp>
        <p:nvSpPr>
          <p:cNvPr id="120" name="TextBox 119"/>
          <p:cNvSpPr txBox="1"/>
          <p:nvPr/>
        </p:nvSpPr>
        <p:spPr>
          <a:xfrm rot="16200000">
            <a:off x="6212905" y="2920744"/>
            <a:ext cx="737235" cy="276448"/>
          </a:xfrm>
          <a:prstGeom prst="rect">
            <a:avLst/>
          </a:prstGeom>
          <a:noFill/>
        </p:spPr>
        <p:txBody>
          <a:bodyPr wrap="none" anchor="ctr" lIns="0" rIns="0" tIns="0" bIns="0">
            <a:noAutofit/>
          </a:bodyPr>
          <a:lstStyle/>
          <a:p>
            <a:pPr algn="ctr"/>
            <a:r>
              <a:rPr sz="800" b="0" i="0">
                <a:solidFill>
                  <a:srgbClr val="4C3F8C"/>
                </a:solidFill>
                <a:latin typeface="Arial"/>
              </a:rPr>
              <a:t>100 M | voxel
hyper 100 M</a:t>
            </a:r>
          </a:p>
        </p:txBody>
      </p:sp>
      <p:sp>
        <p:nvSpPr>
          <p:cNvPr id="121" name="TextBox 120"/>
          <p:cNvSpPr txBox="1"/>
          <p:nvPr/>
        </p:nvSpPr>
        <p:spPr>
          <a:xfrm rot="16200000">
            <a:off x="6528083" y="2902456"/>
            <a:ext cx="691515" cy="276448"/>
          </a:xfrm>
          <a:prstGeom prst="rect">
            <a:avLst/>
          </a:prstGeom>
          <a:noFill/>
        </p:spPr>
        <p:txBody>
          <a:bodyPr wrap="none" anchor="ctr" lIns="0" rIns="0" tIns="0" bIns="0">
            <a:noAutofit/>
          </a:bodyPr>
          <a:lstStyle/>
          <a:p>
            <a:pPr algn="ctr"/>
            <a:r>
              <a:rPr sz="800" b="0" i="0">
                <a:solidFill>
                  <a:srgbClr val="4C3F8C"/>
                </a:solidFill>
                <a:latin typeface="Arial"/>
              </a:rPr>
              <a:t>1 B | voxel
hyper 100 M</a:t>
            </a:r>
          </a:p>
        </p:txBody>
      </p:sp>
      <p:sp>
        <p:nvSpPr>
          <p:cNvPr id="122" name="TextBox 121"/>
          <p:cNvSpPr txBox="1"/>
          <p:nvPr/>
        </p:nvSpPr>
        <p:spPr>
          <a:xfrm>
            <a:off x="4430405" y="670433"/>
            <a:ext cx="554355" cy="276448"/>
          </a:xfrm>
          <a:prstGeom prst="rect">
            <a:avLst/>
          </a:prstGeom>
          <a:noFill/>
        </p:spPr>
        <p:txBody>
          <a:bodyPr wrap="none" anchor="ctr" lIns="0" rIns="0" tIns="0" bIns="0">
            <a:noAutofit/>
          </a:bodyPr>
          <a:lstStyle/>
          <a:p>
            <a:pPr algn="r"/>
            <a:r>
              <a:rPr sz="800" b="0" i="0">
                <a:solidFill>
                  <a:srgbClr val="8E7CC3"/>
                </a:solidFill>
                <a:latin typeface="Arial"/>
              </a:rPr>
              <a:t>3 M | 268
hyper 3 M</a:t>
            </a:r>
          </a:p>
        </p:txBody>
      </p:sp>
      <p:sp>
        <p:nvSpPr>
          <p:cNvPr id="123" name="TextBox 122"/>
          <p:cNvSpPr txBox="1"/>
          <p:nvPr/>
        </p:nvSpPr>
        <p:spPr>
          <a:xfrm>
            <a:off x="4404688" y="962751"/>
            <a:ext cx="582930" cy="276448"/>
          </a:xfrm>
          <a:prstGeom prst="rect">
            <a:avLst/>
          </a:prstGeom>
          <a:noFill/>
        </p:spPr>
        <p:txBody>
          <a:bodyPr wrap="none" anchor="ctr" lIns="0" rIns="0" tIns="0" bIns="0">
            <a:noAutofit/>
          </a:bodyPr>
          <a:lstStyle/>
          <a:p>
            <a:pPr algn="r"/>
            <a:r>
              <a:rPr sz="800" b="0" i="0">
                <a:solidFill>
                  <a:srgbClr val="8E7CC3"/>
                </a:solidFill>
                <a:latin typeface="Arial"/>
              </a:rPr>
              <a:t>10 M | 268
hyper 3 M</a:t>
            </a:r>
          </a:p>
        </p:txBody>
      </p:sp>
      <p:sp>
        <p:nvSpPr>
          <p:cNvPr id="124" name="TextBox 123"/>
          <p:cNvSpPr txBox="1"/>
          <p:nvPr/>
        </p:nvSpPr>
        <p:spPr>
          <a:xfrm>
            <a:off x="4090934" y="1255068"/>
            <a:ext cx="931545" cy="276448"/>
          </a:xfrm>
          <a:prstGeom prst="rect">
            <a:avLst/>
          </a:prstGeom>
          <a:noFill/>
        </p:spPr>
        <p:txBody>
          <a:bodyPr wrap="none" anchor="ctr" lIns="0" rIns="0" tIns="0" bIns="0">
            <a:noAutofit/>
          </a:bodyPr>
          <a:lstStyle/>
          <a:p>
            <a:pPr algn="r"/>
            <a:r>
              <a:rPr sz="800" b="0" i="0">
                <a:solidFill>
                  <a:srgbClr val="8E7CC3"/>
                </a:solidFill>
                <a:latin typeface="Arial"/>
              </a:rPr>
              <a:t>10 M | 1000
hyper 10 M/1000</a:t>
            </a:r>
          </a:p>
        </p:txBody>
      </p:sp>
      <p:sp>
        <p:nvSpPr>
          <p:cNvPr id="125" name="TextBox 124"/>
          <p:cNvSpPr txBox="1"/>
          <p:nvPr/>
        </p:nvSpPr>
        <p:spPr>
          <a:xfrm>
            <a:off x="4162943" y="1547386"/>
            <a:ext cx="851535" cy="276448"/>
          </a:xfrm>
          <a:prstGeom prst="rect">
            <a:avLst/>
          </a:prstGeom>
          <a:noFill/>
        </p:spPr>
        <p:txBody>
          <a:bodyPr wrap="none" anchor="ctr" lIns="0" rIns="0" tIns="0" bIns="0">
            <a:noAutofit/>
          </a:bodyPr>
          <a:lstStyle/>
          <a:p>
            <a:pPr algn="r"/>
            <a:r>
              <a:rPr sz="800" b="0" i="0">
                <a:solidFill>
                  <a:srgbClr val="4C3F8C"/>
                </a:solidFill>
                <a:latin typeface="Arial"/>
              </a:rPr>
              <a:t>10 M | voxel
hyper 10 M vox</a:t>
            </a:r>
          </a:p>
        </p:txBody>
      </p:sp>
      <p:sp>
        <p:nvSpPr>
          <p:cNvPr id="126" name="TextBox 125"/>
          <p:cNvSpPr txBox="1"/>
          <p:nvPr/>
        </p:nvSpPr>
        <p:spPr>
          <a:xfrm>
            <a:off x="4306961" y="1839704"/>
            <a:ext cx="691515" cy="276448"/>
          </a:xfrm>
          <a:prstGeom prst="rect">
            <a:avLst/>
          </a:prstGeom>
          <a:noFill/>
        </p:spPr>
        <p:txBody>
          <a:bodyPr wrap="none" anchor="ctr" lIns="0" rIns="0" tIns="0" bIns="0">
            <a:noAutofit/>
          </a:bodyPr>
          <a:lstStyle/>
          <a:p>
            <a:pPr algn="r"/>
            <a:r>
              <a:rPr sz="800" b="0" i="0">
                <a:solidFill>
                  <a:srgbClr val="4C3F8C"/>
                </a:solidFill>
                <a:latin typeface="Arial"/>
              </a:rPr>
              <a:t>10 M | voxel
hyper 100 M</a:t>
            </a:r>
          </a:p>
        </p:txBody>
      </p:sp>
      <p:sp>
        <p:nvSpPr>
          <p:cNvPr id="127" name="TextBox 126"/>
          <p:cNvSpPr txBox="1"/>
          <p:nvPr/>
        </p:nvSpPr>
        <p:spPr>
          <a:xfrm>
            <a:off x="4265813" y="2132022"/>
            <a:ext cx="737235" cy="276448"/>
          </a:xfrm>
          <a:prstGeom prst="rect">
            <a:avLst/>
          </a:prstGeom>
          <a:noFill/>
        </p:spPr>
        <p:txBody>
          <a:bodyPr wrap="none" anchor="ctr" lIns="0" rIns="0" tIns="0" bIns="0">
            <a:noAutofit/>
          </a:bodyPr>
          <a:lstStyle/>
          <a:p>
            <a:pPr algn="r"/>
            <a:r>
              <a:rPr sz="800" b="0" i="0">
                <a:solidFill>
                  <a:srgbClr val="4C3F8C"/>
                </a:solidFill>
                <a:latin typeface="Arial"/>
              </a:rPr>
              <a:t>100 M | voxel
hyper 100 M</a:t>
            </a:r>
          </a:p>
        </p:txBody>
      </p:sp>
      <p:sp>
        <p:nvSpPr>
          <p:cNvPr id="128" name="TextBox 127"/>
          <p:cNvSpPr txBox="1"/>
          <p:nvPr/>
        </p:nvSpPr>
        <p:spPr>
          <a:xfrm>
            <a:off x="4306961" y="2424340"/>
            <a:ext cx="691515" cy="276448"/>
          </a:xfrm>
          <a:prstGeom prst="rect">
            <a:avLst/>
          </a:prstGeom>
          <a:noFill/>
        </p:spPr>
        <p:txBody>
          <a:bodyPr wrap="none" anchor="ctr" lIns="0" rIns="0" tIns="0" bIns="0">
            <a:noAutofit/>
          </a:bodyPr>
          <a:lstStyle/>
          <a:p>
            <a:pPr algn="r"/>
            <a:r>
              <a:rPr sz="800" b="0" i="0">
                <a:solidFill>
                  <a:srgbClr val="4C3F8C"/>
                </a:solidFill>
                <a:latin typeface="Arial"/>
              </a:rPr>
              <a:t>1 B | voxel
hyper 100 M</a:t>
            </a:r>
          </a:p>
        </p:txBody>
      </p:sp>
      <p:sp>
        <p:nvSpPr>
          <p:cNvPr id="129" name="TextBox 128"/>
          <p:cNvSpPr txBox="1"/>
          <p:nvPr/>
        </p:nvSpPr>
        <p:spPr>
          <a:xfrm>
            <a:off x="1606918" y="4112790"/>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30" name="TextBox 129"/>
          <p:cNvSpPr txBox="1"/>
          <p:nvPr/>
        </p:nvSpPr>
        <p:spPr>
          <a:xfrm>
            <a:off x="1899236" y="4112790"/>
            <a:ext cx="240030" cy="119186"/>
          </a:xfrm>
          <a:prstGeom prst="rect">
            <a:avLst/>
          </a:prstGeom>
          <a:noFill/>
        </p:spPr>
        <p:txBody>
          <a:bodyPr wrap="none" anchor="ctr" lIns="0" rIns="0" tIns="0" bIns="0">
            <a:noAutofit/>
          </a:bodyPr>
          <a:lstStyle/>
          <a:p>
            <a:pPr algn="ctr"/>
            <a:r>
              <a:rPr sz="800" b="0" i="0">
                <a:solidFill>
                  <a:srgbClr val="FFFFFF"/>
                </a:solidFill>
                <a:latin typeface="Arial"/>
              </a:rPr>
              <a:t>0.99</a:t>
            </a:r>
          </a:p>
        </p:txBody>
      </p:sp>
      <p:sp>
        <p:nvSpPr>
          <p:cNvPr id="131" name="TextBox 130"/>
          <p:cNvSpPr txBox="1"/>
          <p:nvPr/>
        </p:nvSpPr>
        <p:spPr>
          <a:xfrm>
            <a:off x="2191554" y="4112790"/>
            <a:ext cx="240029" cy="119186"/>
          </a:xfrm>
          <a:prstGeom prst="rect">
            <a:avLst/>
          </a:prstGeom>
          <a:noFill/>
        </p:spPr>
        <p:txBody>
          <a:bodyPr wrap="none" anchor="ctr" lIns="0" rIns="0" tIns="0" bIns="0">
            <a:noAutofit/>
          </a:bodyPr>
          <a:lstStyle/>
          <a:p>
            <a:pPr algn="ctr"/>
            <a:r>
              <a:rPr sz="800" b="0" i="0">
                <a:solidFill>
                  <a:srgbClr val="000000"/>
                </a:solidFill>
                <a:latin typeface="Arial"/>
              </a:rPr>
              <a:t>0.10</a:t>
            </a:r>
          </a:p>
        </p:txBody>
      </p:sp>
      <p:sp>
        <p:nvSpPr>
          <p:cNvPr id="132" name="TextBox 131"/>
          <p:cNvSpPr txBox="1"/>
          <p:nvPr/>
        </p:nvSpPr>
        <p:spPr>
          <a:xfrm>
            <a:off x="2483872" y="4112790"/>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133" name="TextBox 132"/>
          <p:cNvSpPr txBox="1"/>
          <p:nvPr/>
        </p:nvSpPr>
        <p:spPr>
          <a:xfrm>
            <a:off x="2776190" y="4112790"/>
            <a:ext cx="240030" cy="119186"/>
          </a:xfrm>
          <a:prstGeom prst="rect">
            <a:avLst/>
          </a:prstGeom>
          <a:noFill/>
        </p:spPr>
        <p:txBody>
          <a:bodyPr wrap="none" anchor="ctr" lIns="0" rIns="0" tIns="0" bIns="0">
            <a:noAutofit/>
          </a:bodyPr>
          <a:lstStyle/>
          <a:p>
            <a:pPr algn="ctr"/>
            <a:r>
              <a:rPr sz="800" b="0" i="0">
                <a:solidFill>
                  <a:srgbClr val="000000"/>
                </a:solidFill>
                <a:latin typeface="Arial"/>
              </a:rPr>
              <a:t>0.26</a:t>
            </a:r>
          </a:p>
        </p:txBody>
      </p:sp>
      <p:sp>
        <p:nvSpPr>
          <p:cNvPr id="134" name="TextBox 133"/>
          <p:cNvSpPr txBox="1"/>
          <p:nvPr/>
        </p:nvSpPr>
        <p:spPr>
          <a:xfrm>
            <a:off x="3073218" y="4112790"/>
            <a:ext cx="230609" cy="119186"/>
          </a:xfrm>
          <a:prstGeom prst="rect">
            <a:avLst/>
          </a:prstGeom>
          <a:noFill/>
        </p:spPr>
        <p:txBody>
          <a:bodyPr wrap="none" anchor="ctr" lIns="0" rIns="0" tIns="0" bIns="0">
            <a:noAutofit/>
          </a:bodyPr>
          <a:lstStyle/>
          <a:p>
            <a:pPr algn="ctr"/>
            <a:r>
              <a:rPr sz="800" b="0" i="0">
                <a:solidFill>
                  <a:srgbClr val="000000"/>
                </a:solidFill>
                <a:latin typeface="Arial"/>
              </a:rPr>
              <a:t>0.11</a:t>
            </a:r>
          </a:p>
        </p:txBody>
      </p:sp>
      <p:sp>
        <p:nvSpPr>
          <p:cNvPr id="135" name="TextBox 134"/>
          <p:cNvSpPr txBox="1"/>
          <p:nvPr/>
        </p:nvSpPr>
        <p:spPr>
          <a:xfrm>
            <a:off x="3360826" y="4112790"/>
            <a:ext cx="240030" cy="119186"/>
          </a:xfrm>
          <a:prstGeom prst="rect">
            <a:avLst/>
          </a:prstGeom>
          <a:noFill/>
        </p:spPr>
        <p:txBody>
          <a:bodyPr wrap="none" anchor="ctr" lIns="0" rIns="0" tIns="0" bIns="0">
            <a:noAutofit/>
          </a:bodyPr>
          <a:lstStyle/>
          <a:p>
            <a:pPr algn="ctr"/>
            <a:r>
              <a:rPr sz="800" b="0" i="0">
                <a:solidFill>
                  <a:srgbClr val="000000"/>
                </a:solidFill>
                <a:latin typeface="Arial"/>
              </a:rPr>
              <a:t>0.18</a:t>
            </a:r>
          </a:p>
        </p:txBody>
      </p:sp>
      <p:sp>
        <p:nvSpPr>
          <p:cNvPr id="136" name="TextBox 135"/>
          <p:cNvSpPr txBox="1"/>
          <p:nvPr/>
        </p:nvSpPr>
        <p:spPr>
          <a:xfrm>
            <a:off x="1606918" y="4405108"/>
            <a:ext cx="240030" cy="119186"/>
          </a:xfrm>
          <a:prstGeom prst="rect">
            <a:avLst/>
          </a:prstGeom>
          <a:noFill/>
        </p:spPr>
        <p:txBody>
          <a:bodyPr wrap="none" anchor="ctr" lIns="0" rIns="0" tIns="0" bIns="0">
            <a:noAutofit/>
          </a:bodyPr>
          <a:lstStyle/>
          <a:p>
            <a:pPr algn="ctr"/>
            <a:r>
              <a:rPr sz="800" b="0" i="0">
                <a:solidFill>
                  <a:srgbClr val="FFFFFF"/>
                </a:solidFill>
                <a:latin typeface="Arial"/>
              </a:rPr>
              <a:t>0.99</a:t>
            </a:r>
          </a:p>
        </p:txBody>
      </p:sp>
      <p:sp>
        <p:nvSpPr>
          <p:cNvPr id="137" name="TextBox 136"/>
          <p:cNvSpPr txBox="1"/>
          <p:nvPr/>
        </p:nvSpPr>
        <p:spPr>
          <a:xfrm>
            <a:off x="1899236" y="4405108"/>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38" name="TextBox 137"/>
          <p:cNvSpPr txBox="1"/>
          <p:nvPr/>
        </p:nvSpPr>
        <p:spPr>
          <a:xfrm>
            <a:off x="2191554" y="4405108"/>
            <a:ext cx="240029" cy="119186"/>
          </a:xfrm>
          <a:prstGeom prst="rect">
            <a:avLst/>
          </a:prstGeom>
          <a:noFill/>
        </p:spPr>
        <p:txBody>
          <a:bodyPr wrap="none" anchor="ctr" lIns="0" rIns="0" tIns="0" bIns="0">
            <a:noAutofit/>
          </a:bodyPr>
          <a:lstStyle/>
          <a:p>
            <a:pPr algn="ctr"/>
            <a:r>
              <a:rPr sz="800" b="0" i="0">
                <a:solidFill>
                  <a:srgbClr val="000000"/>
                </a:solidFill>
                <a:latin typeface="Arial"/>
              </a:rPr>
              <a:t>0.10</a:t>
            </a:r>
          </a:p>
        </p:txBody>
      </p:sp>
      <p:sp>
        <p:nvSpPr>
          <p:cNvPr id="139" name="TextBox 138"/>
          <p:cNvSpPr txBox="1"/>
          <p:nvPr/>
        </p:nvSpPr>
        <p:spPr>
          <a:xfrm>
            <a:off x="2483872" y="4405108"/>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140" name="TextBox 139"/>
          <p:cNvSpPr txBox="1"/>
          <p:nvPr/>
        </p:nvSpPr>
        <p:spPr>
          <a:xfrm>
            <a:off x="2776190" y="4405108"/>
            <a:ext cx="240030" cy="119186"/>
          </a:xfrm>
          <a:prstGeom prst="rect">
            <a:avLst/>
          </a:prstGeom>
          <a:noFill/>
        </p:spPr>
        <p:txBody>
          <a:bodyPr wrap="none" anchor="ctr" lIns="0" rIns="0" tIns="0" bIns="0">
            <a:noAutofit/>
          </a:bodyPr>
          <a:lstStyle/>
          <a:p>
            <a:pPr algn="ctr"/>
            <a:r>
              <a:rPr sz="800" b="0" i="0">
                <a:solidFill>
                  <a:srgbClr val="000000"/>
                </a:solidFill>
                <a:latin typeface="Arial"/>
              </a:rPr>
              <a:t>0.26</a:t>
            </a:r>
          </a:p>
        </p:txBody>
      </p:sp>
      <p:sp>
        <p:nvSpPr>
          <p:cNvPr id="141" name="TextBox 140"/>
          <p:cNvSpPr txBox="1"/>
          <p:nvPr/>
        </p:nvSpPr>
        <p:spPr>
          <a:xfrm>
            <a:off x="3073218" y="4405108"/>
            <a:ext cx="230609" cy="119186"/>
          </a:xfrm>
          <a:prstGeom prst="rect">
            <a:avLst/>
          </a:prstGeom>
          <a:noFill/>
        </p:spPr>
        <p:txBody>
          <a:bodyPr wrap="none" anchor="ctr" lIns="0" rIns="0" tIns="0" bIns="0">
            <a:noAutofit/>
          </a:bodyPr>
          <a:lstStyle/>
          <a:p>
            <a:pPr algn="ctr"/>
            <a:r>
              <a:rPr sz="800" b="0" i="0">
                <a:solidFill>
                  <a:srgbClr val="000000"/>
                </a:solidFill>
                <a:latin typeface="Arial"/>
              </a:rPr>
              <a:t>0.11</a:t>
            </a:r>
          </a:p>
        </p:txBody>
      </p:sp>
      <p:sp>
        <p:nvSpPr>
          <p:cNvPr id="142" name="TextBox 141"/>
          <p:cNvSpPr txBox="1"/>
          <p:nvPr/>
        </p:nvSpPr>
        <p:spPr>
          <a:xfrm>
            <a:off x="3360826" y="4405108"/>
            <a:ext cx="240030" cy="119186"/>
          </a:xfrm>
          <a:prstGeom prst="rect">
            <a:avLst/>
          </a:prstGeom>
          <a:noFill/>
        </p:spPr>
        <p:txBody>
          <a:bodyPr wrap="none" anchor="ctr" lIns="0" rIns="0" tIns="0" bIns="0">
            <a:noAutofit/>
          </a:bodyPr>
          <a:lstStyle/>
          <a:p>
            <a:pPr algn="ctr"/>
            <a:r>
              <a:rPr sz="800" b="0" i="0">
                <a:solidFill>
                  <a:srgbClr val="000000"/>
                </a:solidFill>
                <a:latin typeface="Arial"/>
              </a:rPr>
              <a:t>0.18</a:t>
            </a:r>
          </a:p>
        </p:txBody>
      </p:sp>
      <p:sp>
        <p:nvSpPr>
          <p:cNvPr id="143" name="TextBox 142"/>
          <p:cNvSpPr txBox="1"/>
          <p:nvPr/>
        </p:nvSpPr>
        <p:spPr>
          <a:xfrm>
            <a:off x="1606918" y="4697426"/>
            <a:ext cx="240030" cy="119186"/>
          </a:xfrm>
          <a:prstGeom prst="rect">
            <a:avLst/>
          </a:prstGeom>
          <a:noFill/>
        </p:spPr>
        <p:txBody>
          <a:bodyPr wrap="none" anchor="ctr" lIns="0" rIns="0" tIns="0" bIns="0">
            <a:noAutofit/>
          </a:bodyPr>
          <a:lstStyle/>
          <a:p>
            <a:pPr algn="ctr"/>
            <a:r>
              <a:rPr sz="800" b="0" i="0">
                <a:solidFill>
                  <a:srgbClr val="000000"/>
                </a:solidFill>
                <a:latin typeface="Arial"/>
              </a:rPr>
              <a:t>0.10</a:t>
            </a:r>
          </a:p>
        </p:txBody>
      </p:sp>
      <p:sp>
        <p:nvSpPr>
          <p:cNvPr id="144" name="TextBox 143"/>
          <p:cNvSpPr txBox="1"/>
          <p:nvPr/>
        </p:nvSpPr>
        <p:spPr>
          <a:xfrm>
            <a:off x="1899236" y="4697426"/>
            <a:ext cx="240030" cy="119186"/>
          </a:xfrm>
          <a:prstGeom prst="rect">
            <a:avLst/>
          </a:prstGeom>
          <a:noFill/>
        </p:spPr>
        <p:txBody>
          <a:bodyPr wrap="none" anchor="ctr" lIns="0" rIns="0" tIns="0" bIns="0">
            <a:noAutofit/>
          </a:bodyPr>
          <a:lstStyle/>
          <a:p>
            <a:pPr algn="ctr"/>
            <a:r>
              <a:rPr sz="800" b="0" i="0">
                <a:solidFill>
                  <a:srgbClr val="000000"/>
                </a:solidFill>
                <a:latin typeface="Arial"/>
              </a:rPr>
              <a:t>0.10</a:t>
            </a:r>
          </a:p>
        </p:txBody>
      </p:sp>
      <p:sp>
        <p:nvSpPr>
          <p:cNvPr id="145" name="TextBox 144"/>
          <p:cNvSpPr txBox="1"/>
          <p:nvPr/>
        </p:nvSpPr>
        <p:spPr>
          <a:xfrm>
            <a:off x="2191554" y="4697426"/>
            <a:ext cx="240029"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46" name="TextBox 145"/>
          <p:cNvSpPr txBox="1"/>
          <p:nvPr/>
        </p:nvSpPr>
        <p:spPr>
          <a:xfrm>
            <a:off x="2483872" y="4697426"/>
            <a:ext cx="240030" cy="119186"/>
          </a:xfrm>
          <a:prstGeom prst="rect">
            <a:avLst/>
          </a:prstGeom>
          <a:noFill/>
        </p:spPr>
        <p:txBody>
          <a:bodyPr wrap="none" anchor="ctr" lIns="0" rIns="0" tIns="0" bIns="0">
            <a:noAutofit/>
          </a:bodyPr>
          <a:lstStyle/>
          <a:p>
            <a:pPr algn="ctr"/>
            <a:r>
              <a:rPr sz="800" b="0" i="0">
                <a:solidFill>
                  <a:srgbClr val="000000"/>
                </a:solidFill>
                <a:latin typeface="Arial"/>
              </a:rPr>
              <a:t>0.00</a:t>
            </a:r>
          </a:p>
        </p:txBody>
      </p:sp>
      <p:sp>
        <p:nvSpPr>
          <p:cNvPr id="147" name="TextBox 146"/>
          <p:cNvSpPr txBox="1"/>
          <p:nvPr/>
        </p:nvSpPr>
        <p:spPr>
          <a:xfrm>
            <a:off x="2776190" y="4697426"/>
            <a:ext cx="240030" cy="119186"/>
          </a:xfrm>
          <a:prstGeom prst="rect">
            <a:avLst/>
          </a:prstGeom>
          <a:noFill/>
        </p:spPr>
        <p:txBody>
          <a:bodyPr wrap="none" anchor="ctr" lIns="0" rIns="0" tIns="0" bIns="0">
            <a:noAutofit/>
          </a:bodyPr>
          <a:lstStyle/>
          <a:p>
            <a:pPr algn="ctr"/>
            <a:r>
              <a:rPr sz="800" b="0" i="0">
                <a:solidFill>
                  <a:srgbClr val="000000"/>
                </a:solidFill>
                <a:latin typeface="Arial"/>
              </a:rPr>
              <a:t>0.39</a:t>
            </a:r>
          </a:p>
        </p:txBody>
      </p:sp>
      <p:sp>
        <p:nvSpPr>
          <p:cNvPr id="148" name="TextBox 147"/>
          <p:cNvSpPr txBox="1"/>
          <p:nvPr/>
        </p:nvSpPr>
        <p:spPr>
          <a:xfrm>
            <a:off x="3068508" y="4697426"/>
            <a:ext cx="240030" cy="119186"/>
          </a:xfrm>
          <a:prstGeom prst="rect">
            <a:avLst/>
          </a:prstGeom>
          <a:noFill/>
        </p:spPr>
        <p:txBody>
          <a:bodyPr wrap="none" anchor="ctr" lIns="0" rIns="0" tIns="0" bIns="0">
            <a:noAutofit/>
          </a:bodyPr>
          <a:lstStyle/>
          <a:p>
            <a:pPr algn="ctr"/>
            <a:r>
              <a:rPr sz="800" b="0" i="0">
                <a:solidFill>
                  <a:srgbClr val="000000"/>
                </a:solidFill>
                <a:latin typeface="Arial"/>
              </a:rPr>
              <a:t>0.44</a:t>
            </a:r>
          </a:p>
        </p:txBody>
      </p:sp>
      <p:sp>
        <p:nvSpPr>
          <p:cNvPr id="149" name="TextBox 148"/>
          <p:cNvSpPr txBox="1"/>
          <p:nvPr/>
        </p:nvSpPr>
        <p:spPr>
          <a:xfrm>
            <a:off x="3360826" y="4697426"/>
            <a:ext cx="240030" cy="119186"/>
          </a:xfrm>
          <a:prstGeom prst="rect">
            <a:avLst/>
          </a:prstGeom>
          <a:noFill/>
        </p:spPr>
        <p:txBody>
          <a:bodyPr wrap="none" anchor="ctr" lIns="0" rIns="0" tIns="0" bIns="0">
            <a:noAutofit/>
          </a:bodyPr>
          <a:lstStyle/>
          <a:p>
            <a:pPr algn="ctr"/>
            <a:r>
              <a:rPr sz="800" b="0" i="0">
                <a:solidFill>
                  <a:srgbClr val="000000"/>
                </a:solidFill>
                <a:latin typeface="Arial"/>
              </a:rPr>
              <a:t>0.30</a:t>
            </a:r>
          </a:p>
        </p:txBody>
      </p:sp>
      <p:sp>
        <p:nvSpPr>
          <p:cNvPr id="150" name="TextBox 149"/>
          <p:cNvSpPr txBox="1"/>
          <p:nvPr/>
        </p:nvSpPr>
        <p:spPr>
          <a:xfrm>
            <a:off x="1606918" y="4989744"/>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151" name="TextBox 150"/>
          <p:cNvSpPr txBox="1"/>
          <p:nvPr/>
        </p:nvSpPr>
        <p:spPr>
          <a:xfrm>
            <a:off x="1899236" y="4989744"/>
            <a:ext cx="240030" cy="119186"/>
          </a:xfrm>
          <a:prstGeom prst="rect">
            <a:avLst/>
          </a:prstGeom>
          <a:noFill/>
        </p:spPr>
        <p:txBody>
          <a:bodyPr wrap="none" anchor="ctr" lIns="0" rIns="0" tIns="0" bIns="0">
            <a:noAutofit/>
          </a:bodyPr>
          <a:lstStyle/>
          <a:p>
            <a:pPr algn="ctr"/>
            <a:r>
              <a:rPr sz="800" b="0" i="0">
                <a:solidFill>
                  <a:srgbClr val="000000"/>
                </a:solidFill>
                <a:latin typeface="Arial"/>
              </a:rPr>
              <a:t>0.07</a:t>
            </a:r>
          </a:p>
        </p:txBody>
      </p:sp>
      <p:sp>
        <p:nvSpPr>
          <p:cNvPr id="152" name="TextBox 151"/>
          <p:cNvSpPr txBox="1"/>
          <p:nvPr/>
        </p:nvSpPr>
        <p:spPr>
          <a:xfrm>
            <a:off x="2191554" y="4989744"/>
            <a:ext cx="240029" cy="119186"/>
          </a:xfrm>
          <a:prstGeom prst="rect">
            <a:avLst/>
          </a:prstGeom>
          <a:noFill/>
        </p:spPr>
        <p:txBody>
          <a:bodyPr wrap="none" anchor="ctr" lIns="0" rIns="0" tIns="0" bIns="0">
            <a:noAutofit/>
          </a:bodyPr>
          <a:lstStyle/>
          <a:p>
            <a:pPr algn="ctr"/>
            <a:r>
              <a:rPr sz="800" b="0" i="0">
                <a:solidFill>
                  <a:srgbClr val="000000"/>
                </a:solidFill>
                <a:latin typeface="Arial"/>
              </a:rPr>
              <a:t>0.00</a:t>
            </a:r>
          </a:p>
        </p:txBody>
      </p:sp>
      <p:sp>
        <p:nvSpPr>
          <p:cNvPr id="153" name="TextBox 152"/>
          <p:cNvSpPr txBox="1"/>
          <p:nvPr/>
        </p:nvSpPr>
        <p:spPr>
          <a:xfrm>
            <a:off x="2483872" y="4989744"/>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54" name="TextBox 153"/>
          <p:cNvSpPr txBox="1"/>
          <p:nvPr/>
        </p:nvSpPr>
        <p:spPr>
          <a:xfrm>
            <a:off x="2754759" y="4989744"/>
            <a:ext cx="282892" cy="119186"/>
          </a:xfrm>
          <a:prstGeom prst="rect">
            <a:avLst/>
          </a:prstGeom>
          <a:noFill/>
        </p:spPr>
        <p:txBody>
          <a:bodyPr wrap="none" anchor="ctr" lIns="0" rIns="0" tIns="0" bIns="0">
            <a:noAutofit/>
          </a:bodyPr>
          <a:lstStyle/>
          <a:p>
            <a:pPr algn="ctr"/>
            <a:r>
              <a:rPr sz="800" b="0" i="0">
                <a:solidFill>
                  <a:srgbClr val="000000"/>
                </a:solidFill>
                <a:latin typeface="Arial"/>
              </a:rPr>
              <a:t>-0.15</a:t>
            </a:r>
          </a:p>
        </p:txBody>
      </p:sp>
      <p:sp>
        <p:nvSpPr>
          <p:cNvPr id="155" name="TextBox 154"/>
          <p:cNvSpPr txBox="1"/>
          <p:nvPr/>
        </p:nvSpPr>
        <p:spPr>
          <a:xfrm>
            <a:off x="3047076" y="4989744"/>
            <a:ext cx="282892" cy="119186"/>
          </a:xfrm>
          <a:prstGeom prst="rect">
            <a:avLst/>
          </a:prstGeom>
          <a:noFill/>
        </p:spPr>
        <p:txBody>
          <a:bodyPr wrap="none" anchor="ctr" lIns="0" rIns="0" tIns="0" bIns="0">
            <a:noAutofit/>
          </a:bodyPr>
          <a:lstStyle/>
          <a:p>
            <a:pPr algn="ctr"/>
            <a:r>
              <a:rPr sz="800" b="0" i="0">
                <a:solidFill>
                  <a:srgbClr val="000000"/>
                </a:solidFill>
                <a:latin typeface="Arial"/>
              </a:rPr>
              <a:t>-0.19</a:t>
            </a:r>
          </a:p>
        </p:txBody>
      </p:sp>
      <p:sp>
        <p:nvSpPr>
          <p:cNvPr id="156" name="TextBox 155"/>
          <p:cNvSpPr txBox="1"/>
          <p:nvPr/>
        </p:nvSpPr>
        <p:spPr>
          <a:xfrm>
            <a:off x="3339394" y="4989744"/>
            <a:ext cx="282892" cy="119186"/>
          </a:xfrm>
          <a:prstGeom prst="rect">
            <a:avLst/>
          </a:prstGeom>
          <a:noFill/>
        </p:spPr>
        <p:txBody>
          <a:bodyPr wrap="none" anchor="ctr" lIns="0" rIns="0" tIns="0" bIns="0">
            <a:noAutofit/>
          </a:bodyPr>
          <a:lstStyle/>
          <a:p>
            <a:pPr algn="ctr"/>
            <a:r>
              <a:rPr sz="800" b="0" i="0">
                <a:solidFill>
                  <a:srgbClr val="000000"/>
                </a:solidFill>
                <a:latin typeface="Arial"/>
              </a:rPr>
              <a:t>-0.19</a:t>
            </a:r>
          </a:p>
        </p:txBody>
      </p:sp>
      <p:sp>
        <p:nvSpPr>
          <p:cNvPr id="157" name="TextBox 156"/>
          <p:cNvSpPr txBox="1"/>
          <p:nvPr/>
        </p:nvSpPr>
        <p:spPr>
          <a:xfrm>
            <a:off x="1606918" y="5282062"/>
            <a:ext cx="240030" cy="119186"/>
          </a:xfrm>
          <a:prstGeom prst="rect">
            <a:avLst/>
          </a:prstGeom>
          <a:noFill/>
        </p:spPr>
        <p:txBody>
          <a:bodyPr wrap="none" anchor="ctr" lIns="0" rIns="0" tIns="0" bIns="0">
            <a:noAutofit/>
          </a:bodyPr>
          <a:lstStyle/>
          <a:p>
            <a:pPr algn="ctr"/>
            <a:r>
              <a:rPr sz="800" b="0" i="0">
                <a:solidFill>
                  <a:srgbClr val="000000"/>
                </a:solidFill>
                <a:latin typeface="Arial"/>
              </a:rPr>
              <a:t>0.26</a:t>
            </a:r>
          </a:p>
        </p:txBody>
      </p:sp>
      <p:sp>
        <p:nvSpPr>
          <p:cNvPr id="158" name="TextBox 157"/>
          <p:cNvSpPr txBox="1"/>
          <p:nvPr/>
        </p:nvSpPr>
        <p:spPr>
          <a:xfrm>
            <a:off x="1899236" y="5282062"/>
            <a:ext cx="240030" cy="119186"/>
          </a:xfrm>
          <a:prstGeom prst="rect">
            <a:avLst/>
          </a:prstGeom>
          <a:noFill/>
        </p:spPr>
        <p:txBody>
          <a:bodyPr wrap="none" anchor="ctr" lIns="0" rIns="0" tIns="0" bIns="0">
            <a:noAutofit/>
          </a:bodyPr>
          <a:lstStyle/>
          <a:p>
            <a:pPr algn="ctr"/>
            <a:r>
              <a:rPr sz="800" b="0" i="0">
                <a:solidFill>
                  <a:srgbClr val="000000"/>
                </a:solidFill>
                <a:latin typeface="Arial"/>
              </a:rPr>
              <a:t>0.26</a:t>
            </a:r>
          </a:p>
        </p:txBody>
      </p:sp>
      <p:sp>
        <p:nvSpPr>
          <p:cNvPr id="159" name="TextBox 158"/>
          <p:cNvSpPr txBox="1"/>
          <p:nvPr/>
        </p:nvSpPr>
        <p:spPr>
          <a:xfrm>
            <a:off x="2191554" y="5282062"/>
            <a:ext cx="240029" cy="119186"/>
          </a:xfrm>
          <a:prstGeom prst="rect">
            <a:avLst/>
          </a:prstGeom>
          <a:noFill/>
        </p:spPr>
        <p:txBody>
          <a:bodyPr wrap="none" anchor="ctr" lIns="0" rIns="0" tIns="0" bIns="0">
            <a:noAutofit/>
          </a:bodyPr>
          <a:lstStyle/>
          <a:p>
            <a:pPr algn="ctr"/>
            <a:r>
              <a:rPr sz="800" b="0" i="0">
                <a:solidFill>
                  <a:srgbClr val="000000"/>
                </a:solidFill>
                <a:latin typeface="Arial"/>
              </a:rPr>
              <a:t>0.39</a:t>
            </a:r>
          </a:p>
        </p:txBody>
      </p:sp>
      <p:sp>
        <p:nvSpPr>
          <p:cNvPr id="160" name="TextBox 159"/>
          <p:cNvSpPr txBox="1"/>
          <p:nvPr/>
        </p:nvSpPr>
        <p:spPr>
          <a:xfrm>
            <a:off x="2462441" y="5282062"/>
            <a:ext cx="282892" cy="119186"/>
          </a:xfrm>
          <a:prstGeom prst="rect">
            <a:avLst/>
          </a:prstGeom>
          <a:noFill/>
        </p:spPr>
        <p:txBody>
          <a:bodyPr wrap="none" anchor="ctr" lIns="0" rIns="0" tIns="0" bIns="0">
            <a:noAutofit/>
          </a:bodyPr>
          <a:lstStyle/>
          <a:p>
            <a:pPr algn="ctr"/>
            <a:r>
              <a:rPr sz="800" b="0" i="0">
                <a:solidFill>
                  <a:srgbClr val="000000"/>
                </a:solidFill>
                <a:latin typeface="Arial"/>
              </a:rPr>
              <a:t>-0.15</a:t>
            </a:r>
          </a:p>
        </p:txBody>
      </p:sp>
      <p:sp>
        <p:nvSpPr>
          <p:cNvPr id="161" name="TextBox 160"/>
          <p:cNvSpPr txBox="1"/>
          <p:nvPr/>
        </p:nvSpPr>
        <p:spPr>
          <a:xfrm>
            <a:off x="2776190" y="5282062"/>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62" name="TextBox 161"/>
          <p:cNvSpPr txBox="1"/>
          <p:nvPr/>
        </p:nvSpPr>
        <p:spPr>
          <a:xfrm>
            <a:off x="3068508" y="5282062"/>
            <a:ext cx="240030" cy="119186"/>
          </a:xfrm>
          <a:prstGeom prst="rect">
            <a:avLst/>
          </a:prstGeom>
          <a:noFill/>
        </p:spPr>
        <p:txBody>
          <a:bodyPr wrap="none" anchor="ctr" lIns="0" rIns="0" tIns="0" bIns="0">
            <a:noAutofit/>
          </a:bodyPr>
          <a:lstStyle/>
          <a:p>
            <a:pPr algn="ctr"/>
            <a:r>
              <a:rPr sz="800" b="0" i="0">
                <a:solidFill>
                  <a:srgbClr val="FFFFFF"/>
                </a:solidFill>
                <a:latin typeface="Arial"/>
              </a:rPr>
              <a:t>0.72</a:t>
            </a:r>
          </a:p>
        </p:txBody>
      </p:sp>
      <p:sp>
        <p:nvSpPr>
          <p:cNvPr id="163" name="TextBox 162"/>
          <p:cNvSpPr txBox="1"/>
          <p:nvPr/>
        </p:nvSpPr>
        <p:spPr>
          <a:xfrm>
            <a:off x="3360826" y="5282062"/>
            <a:ext cx="240030" cy="119186"/>
          </a:xfrm>
          <a:prstGeom prst="rect">
            <a:avLst/>
          </a:prstGeom>
          <a:noFill/>
        </p:spPr>
        <p:txBody>
          <a:bodyPr wrap="none" anchor="ctr" lIns="0" rIns="0" tIns="0" bIns="0">
            <a:noAutofit/>
          </a:bodyPr>
          <a:lstStyle/>
          <a:p>
            <a:pPr algn="ctr"/>
            <a:r>
              <a:rPr sz="800" b="0" i="0">
                <a:solidFill>
                  <a:srgbClr val="FFFFFF"/>
                </a:solidFill>
                <a:latin typeface="Arial"/>
              </a:rPr>
              <a:t>0.70</a:t>
            </a:r>
          </a:p>
        </p:txBody>
      </p:sp>
      <p:sp>
        <p:nvSpPr>
          <p:cNvPr id="164" name="TextBox 163"/>
          <p:cNvSpPr txBox="1"/>
          <p:nvPr/>
        </p:nvSpPr>
        <p:spPr>
          <a:xfrm>
            <a:off x="1611629" y="5574379"/>
            <a:ext cx="230609" cy="119186"/>
          </a:xfrm>
          <a:prstGeom prst="rect">
            <a:avLst/>
          </a:prstGeom>
          <a:noFill/>
        </p:spPr>
        <p:txBody>
          <a:bodyPr wrap="none" anchor="ctr" lIns="0" rIns="0" tIns="0" bIns="0">
            <a:noAutofit/>
          </a:bodyPr>
          <a:lstStyle/>
          <a:p>
            <a:pPr algn="ctr"/>
            <a:r>
              <a:rPr sz="800" b="0" i="0">
                <a:solidFill>
                  <a:srgbClr val="000000"/>
                </a:solidFill>
                <a:latin typeface="Arial"/>
              </a:rPr>
              <a:t>0.11</a:t>
            </a:r>
          </a:p>
        </p:txBody>
      </p:sp>
      <p:sp>
        <p:nvSpPr>
          <p:cNvPr id="165" name="TextBox 164"/>
          <p:cNvSpPr txBox="1"/>
          <p:nvPr/>
        </p:nvSpPr>
        <p:spPr>
          <a:xfrm>
            <a:off x="1903947" y="5574379"/>
            <a:ext cx="230609" cy="119186"/>
          </a:xfrm>
          <a:prstGeom prst="rect">
            <a:avLst/>
          </a:prstGeom>
          <a:noFill/>
        </p:spPr>
        <p:txBody>
          <a:bodyPr wrap="none" anchor="ctr" lIns="0" rIns="0" tIns="0" bIns="0">
            <a:noAutofit/>
          </a:bodyPr>
          <a:lstStyle/>
          <a:p>
            <a:pPr algn="ctr"/>
            <a:r>
              <a:rPr sz="800" b="0" i="0">
                <a:solidFill>
                  <a:srgbClr val="000000"/>
                </a:solidFill>
                <a:latin typeface="Arial"/>
              </a:rPr>
              <a:t>0.11</a:t>
            </a:r>
          </a:p>
        </p:txBody>
      </p:sp>
      <p:sp>
        <p:nvSpPr>
          <p:cNvPr id="166" name="TextBox 165"/>
          <p:cNvSpPr txBox="1"/>
          <p:nvPr/>
        </p:nvSpPr>
        <p:spPr>
          <a:xfrm>
            <a:off x="2191554" y="5574379"/>
            <a:ext cx="240029" cy="119186"/>
          </a:xfrm>
          <a:prstGeom prst="rect">
            <a:avLst/>
          </a:prstGeom>
          <a:noFill/>
        </p:spPr>
        <p:txBody>
          <a:bodyPr wrap="none" anchor="ctr" lIns="0" rIns="0" tIns="0" bIns="0">
            <a:noAutofit/>
          </a:bodyPr>
          <a:lstStyle/>
          <a:p>
            <a:pPr algn="ctr"/>
            <a:r>
              <a:rPr sz="800" b="0" i="0">
                <a:solidFill>
                  <a:srgbClr val="000000"/>
                </a:solidFill>
                <a:latin typeface="Arial"/>
              </a:rPr>
              <a:t>0.44</a:t>
            </a:r>
          </a:p>
        </p:txBody>
      </p:sp>
      <p:sp>
        <p:nvSpPr>
          <p:cNvPr id="167" name="TextBox 166"/>
          <p:cNvSpPr txBox="1"/>
          <p:nvPr/>
        </p:nvSpPr>
        <p:spPr>
          <a:xfrm>
            <a:off x="2462441" y="5574379"/>
            <a:ext cx="282892" cy="119186"/>
          </a:xfrm>
          <a:prstGeom prst="rect">
            <a:avLst/>
          </a:prstGeom>
          <a:noFill/>
        </p:spPr>
        <p:txBody>
          <a:bodyPr wrap="none" anchor="ctr" lIns="0" rIns="0" tIns="0" bIns="0">
            <a:noAutofit/>
          </a:bodyPr>
          <a:lstStyle/>
          <a:p>
            <a:pPr algn="ctr"/>
            <a:r>
              <a:rPr sz="800" b="0" i="0">
                <a:solidFill>
                  <a:srgbClr val="000000"/>
                </a:solidFill>
                <a:latin typeface="Arial"/>
              </a:rPr>
              <a:t>-0.19</a:t>
            </a:r>
          </a:p>
        </p:txBody>
      </p:sp>
      <p:sp>
        <p:nvSpPr>
          <p:cNvPr id="168" name="TextBox 167"/>
          <p:cNvSpPr txBox="1"/>
          <p:nvPr/>
        </p:nvSpPr>
        <p:spPr>
          <a:xfrm>
            <a:off x="2776190" y="5574379"/>
            <a:ext cx="240030" cy="119186"/>
          </a:xfrm>
          <a:prstGeom prst="rect">
            <a:avLst/>
          </a:prstGeom>
          <a:noFill/>
        </p:spPr>
        <p:txBody>
          <a:bodyPr wrap="none" anchor="ctr" lIns="0" rIns="0" tIns="0" bIns="0">
            <a:noAutofit/>
          </a:bodyPr>
          <a:lstStyle/>
          <a:p>
            <a:pPr algn="ctr"/>
            <a:r>
              <a:rPr sz="800" b="0" i="0">
                <a:solidFill>
                  <a:srgbClr val="FFFFFF"/>
                </a:solidFill>
                <a:latin typeface="Arial"/>
              </a:rPr>
              <a:t>0.72</a:t>
            </a:r>
          </a:p>
        </p:txBody>
      </p:sp>
      <p:sp>
        <p:nvSpPr>
          <p:cNvPr id="169" name="TextBox 168"/>
          <p:cNvSpPr txBox="1"/>
          <p:nvPr/>
        </p:nvSpPr>
        <p:spPr>
          <a:xfrm>
            <a:off x="3068508" y="5574379"/>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70" name="TextBox 169"/>
          <p:cNvSpPr txBox="1"/>
          <p:nvPr/>
        </p:nvSpPr>
        <p:spPr>
          <a:xfrm>
            <a:off x="3360826" y="5574379"/>
            <a:ext cx="240030" cy="119186"/>
          </a:xfrm>
          <a:prstGeom prst="rect">
            <a:avLst/>
          </a:prstGeom>
          <a:noFill/>
        </p:spPr>
        <p:txBody>
          <a:bodyPr wrap="none" anchor="ctr" lIns="0" rIns="0" tIns="0" bIns="0">
            <a:noAutofit/>
          </a:bodyPr>
          <a:lstStyle/>
          <a:p>
            <a:pPr algn="ctr"/>
            <a:r>
              <a:rPr sz="800" b="0" i="0">
                <a:solidFill>
                  <a:srgbClr val="FFFFFF"/>
                </a:solidFill>
                <a:latin typeface="Arial"/>
              </a:rPr>
              <a:t>0.83</a:t>
            </a:r>
          </a:p>
        </p:txBody>
      </p:sp>
      <p:sp>
        <p:nvSpPr>
          <p:cNvPr id="171" name="TextBox 170"/>
          <p:cNvSpPr txBox="1"/>
          <p:nvPr/>
        </p:nvSpPr>
        <p:spPr>
          <a:xfrm>
            <a:off x="1606918" y="5866697"/>
            <a:ext cx="240030" cy="119186"/>
          </a:xfrm>
          <a:prstGeom prst="rect">
            <a:avLst/>
          </a:prstGeom>
          <a:noFill/>
        </p:spPr>
        <p:txBody>
          <a:bodyPr wrap="none" anchor="ctr" lIns="0" rIns="0" tIns="0" bIns="0">
            <a:noAutofit/>
          </a:bodyPr>
          <a:lstStyle/>
          <a:p>
            <a:pPr algn="ctr"/>
            <a:r>
              <a:rPr sz="800" b="0" i="0">
                <a:solidFill>
                  <a:srgbClr val="000000"/>
                </a:solidFill>
                <a:latin typeface="Arial"/>
              </a:rPr>
              <a:t>0.18</a:t>
            </a:r>
          </a:p>
        </p:txBody>
      </p:sp>
      <p:sp>
        <p:nvSpPr>
          <p:cNvPr id="172" name="TextBox 171"/>
          <p:cNvSpPr txBox="1"/>
          <p:nvPr/>
        </p:nvSpPr>
        <p:spPr>
          <a:xfrm>
            <a:off x="1899236" y="5866697"/>
            <a:ext cx="240030" cy="119186"/>
          </a:xfrm>
          <a:prstGeom prst="rect">
            <a:avLst/>
          </a:prstGeom>
          <a:noFill/>
        </p:spPr>
        <p:txBody>
          <a:bodyPr wrap="none" anchor="ctr" lIns="0" rIns="0" tIns="0" bIns="0">
            <a:noAutofit/>
          </a:bodyPr>
          <a:lstStyle/>
          <a:p>
            <a:pPr algn="ctr"/>
            <a:r>
              <a:rPr sz="800" b="0" i="0">
                <a:solidFill>
                  <a:srgbClr val="000000"/>
                </a:solidFill>
                <a:latin typeface="Arial"/>
              </a:rPr>
              <a:t>0.18</a:t>
            </a:r>
          </a:p>
        </p:txBody>
      </p:sp>
      <p:sp>
        <p:nvSpPr>
          <p:cNvPr id="173" name="TextBox 172"/>
          <p:cNvSpPr txBox="1"/>
          <p:nvPr/>
        </p:nvSpPr>
        <p:spPr>
          <a:xfrm>
            <a:off x="2191554" y="5866697"/>
            <a:ext cx="240029" cy="119186"/>
          </a:xfrm>
          <a:prstGeom prst="rect">
            <a:avLst/>
          </a:prstGeom>
          <a:noFill/>
        </p:spPr>
        <p:txBody>
          <a:bodyPr wrap="none" anchor="ctr" lIns="0" rIns="0" tIns="0" bIns="0">
            <a:noAutofit/>
          </a:bodyPr>
          <a:lstStyle/>
          <a:p>
            <a:pPr algn="ctr"/>
            <a:r>
              <a:rPr sz="800" b="0" i="0">
                <a:solidFill>
                  <a:srgbClr val="000000"/>
                </a:solidFill>
                <a:latin typeface="Arial"/>
              </a:rPr>
              <a:t>0.30</a:t>
            </a:r>
          </a:p>
        </p:txBody>
      </p:sp>
      <p:sp>
        <p:nvSpPr>
          <p:cNvPr id="174" name="TextBox 173"/>
          <p:cNvSpPr txBox="1"/>
          <p:nvPr/>
        </p:nvSpPr>
        <p:spPr>
          <a:xfrm>
            <a:off x="2462441" y="5866697"/>
            <a:ext cx="282892" cy="119186"/>
          </a:xfrm>
          <a:prstGeom prst="rect">
            <a:avLst/>
          </a:prstGeom>
          <a:noFill/>
        </p:spPr>
        <p:txBody>
          <a:bodyPr wrap="none" anchor="ctr" lIns="0" rIns="0" tIns="0" bIns="0">
            <a:noAutofit/>
          </a:bodyPr>
          <a:lstStyle/>
          <a:p>
            <a:pPr algn="ctr"/>
            <a:r>
              <a:rPr sz="800" b="0" i="0">
                <a:solidFill>
                  <a:srgbClr val="000000"/>
                </a:solidFill>
                <a:latin typeface="Arial"/>
              </a:rPr>
              <a:t>-0.19</a:t>
            </a:r>
          </a:p>
        </p:txBody>
      </p:sp>
      <p:sp>
        <p:nvSpPr>
          <p:cNvPr id="175" name="TextBox 174"/>
          <p:cNvSpPr txBox="1"/>
          <p:nvPr/>
        </p:nvSpPr>
        <p:spPr>
          <a:xfrm>
            <a:off x="2776190" y="5866697"/>
            <a:ext cx="240030" cy="119186"/>
          </a:xfrm>
          <a:prstGeom prst="rect">
            <a:avLst/>
          </a:prstGeom>
          <a:noFill/>
        </p:spPr>
        <p:txBody>
          <a:bodyPr wrap="none" anchor="ctr" lIns="0" rIns="0" tIns="0" bIns="0">
            <a:noAutofit/>
          </a:bodyPr>
          <a:lstStyle/>
          <a:p>
            <a:pPr algn="ctr"/>
            <a:r>
              <a:rPr sz="800" b="0" i="0">
                <a:solidFill>
                  <a:srgbClr val="FFFFFF"/>
                </a:solidFill>
                <a:latin typeface="Arial"/>
              </a:rPr>
              <a:t>0.70</a:t>
            </a:r>
          </a:p>
        </p:txBody>
      </p:sp>
      <p:sp>
        <p:nvSpPr>
          <p:cNvPr id="176" name="TextBox 175"/>
          <p:cNvSpPr txBox="1"/>
          <p:nvPr/>
        </p:nvSpPr>
        <p:spPr>
          <a:xfrm>
            <a:off x="3068508" y="5866697"/>
            <a:ext cx="240030" cy="119186"/>
          </a:xfrm>
          <a:prstGeom prst="rect">
            <a:avLst/>
          </a:prstGeom>
          <a:noFill/>
        </p:spPr>
        <p:txBody>
          <a:bodyPr wrap="none" anchor="ctr" lIns="0" rIns="0" tIns="0" bIns="0">
            <a:noAutofit/>
          </a:bodyPr>
          <a:lstStyle/>
          <a:p>
            <a:pPr algn="ctr"/>
            <a:r>
              <a:rPr sz="800" b="0" i="0">
                <a:solidFill>
                  <a:srgbClr val="FFFFFF"/>
                </a:solidFill>
                <a:latin typeface="Arial"/>
              </a:rPr>
              <a:t>0.83</a:t>
            </a:r>
          </a:p>
        </p:txBody>
      </p:sp>
      <p:sp>
        <p:nvSpPr>
          <p:cNvPr id="177" name="TextBox 176"/>
          <p:cNvSpPr txBox="1"/>
          <p:nvPr/>
        </p:nvSpPr>
        <p:spPr>
          <a:xfrm>
            <a:off x="3360826" y="5866697"/>
            <a:ext cx="240030" cy="119186"/>
          </a:xfrm>
          <a:prstGeom prst="rect">
            <a:avLst/>
          </a:prstGeom>
          <a:noFill/>
        </p:spPr>
        <p:txBody>
          <a:bodyPr wrap="none" anchor="ctr" lIns="0" rIns="0" tIns="0" bIns="0">
            <a:noAutofit/>
          </a:bodyPr>
          <a:lstStyle/>
          <a:p>
            <a:pPr algn="ctr"/>
            <a:r>
              <a:rPr sz="800" b="0" i="0">
                <a:solidFill>
                  <a:srgbClr val="FFFFFF"/>
                </a:solidFill>
                <a:latin typeface="Arial"/>
              </a:rPr>
              <a:t>1.00</a:t>
            </a:r>
          </a:p>
        </p:txBody>
      </p:sp>
      <p:sp>
        <p:nvSpPr>
          <p:cNvPr id="178" name="TextBox 177"/>
          <p:cNvSpPr txBox="1"/>
          <p:nvPr/>
        </p:nvSpPr>
        <p:spPr>
          <a:xfrm rot="16200000">
            <a:off x="1449756" y="6225817"/>
            <a:ext cx="554355" cy="276448"/>
          </a:xfrm>
          <a:prstGeom prst="rect">
            <a:avLst/>
          </a:prstGeom>
          <a:noFill/>
        </p:spPr>
        <p:txBody>
          <a:bodyPr wrap="none" anchor="ctr" lIns="0" rIns="0" tIns="0" bIns="0">
            <a:noAutofit/>
          </a:bodyPr>
          <a:lstStyle/>
          <a:p>
            <a:pPr algn="ctr"/>
            <a:r>
              <a:rPr sz="800" b="0" i="0">
                <a:solidFill>
                  <a:srgbClr val="8E7CC3"/>
                </a:solidFill>
                <a:latin typeface="Arial"/>
              </a:rPr>
              <a:t>3 M | 268
hyper 3 M</a:t>
            </a:r>
          </a:p>
        </p:txBody>
      </p:sp>
      <p:sp>
        <p:nvSpPr>
          <p:cNvPr id="179" name="TextBox 178"/>
          <p:cNvSpPr txBox="1"/>
          <p:nvPr/>
        </p:nvSpPr>
        <p:spPr>
          <a:xfrm rot="16200000">
            <a:off x="1727786" y="6237247"/>
            <a:ext cx="582930" cy="276448"/>
          </a:xfrm>
          <a:prstGeom prst="rect">
            <a:avLst/>
          </a:prstGeom>
          <a:noFill/>
        </p:spPr>
        <p:txBody>
          <a:bodyPr wrap="none" anchor="ctr" lIns="0" rIns="0" tIns="0" bIns="0">
            <a:noAutofit/>
          </a:bodyPr>
          <a:lstStyle/>
          <a:p>
            <a:pPr algn="ctr"/>
            <a:r>
              <a:rPr sz="800" b="0" i="0">
                <a:solidFill>
                  <a:srgbClr val="8E7CC3"/>
                </a:solidFill>
                <a:latin typeface="Arial"/>
              </a:rPr>
              <a:t>10 M | 268
hyper 3 M</a:t>
            </a:r>
          </a:p>
        </p:txBody>
      </p:sp>
      <p:sp>
        <p:nvSpPr>
          <p:cNvPr id="180" name="TextBox 179"/>
          <p:cNvSpPr txBox="1"/>
          <p:nvPr/>
        </p:nvSpPr>
        <p:spPr>
          <a:xfrm rot="16200000">
            <a:off x="1845797" y="6376693"/>
            <a:ext cx="931544" cy="276448"/>
          </a:xfrm>
          <a:prstGeom prst="rect">
            <a:avLst/>
          </a:prstGeom>
          <a:noFill/>
        </p:spPr>
        <p:txBody>
          <a:bodyPr wrap="none" anchor="ctr" lIns="0" rIns="0" tIns="0" bIns="0">
            <a:noAutofit/>
          </a:bodyPr>
          <a:lstStyle/>
          <a:p>
            <a:pPr algn="ctr"/>
            <a:r>
              <a:rPr sz="800" b="0" i="0">
                <a:solidFill>
                  <a:srgbClr val="8E7CC3"/>
                </a:solidFill>
                <a:latin typeface="Arial"/>
              </a:rPr>
              <a:t>10 M | 1000
hyper 10 M/1000</a:t>
            </a:r>
          </a:p>
        </p:txBody>
      </p:sp>
      <p:sp>
        <p:nvSpPr>
          <p:cNvPr id="181" name="TextBox 180"/>
          <p:cNvSpPr txBox="1"/>
          <p:nvPr/>
        </p:nvSpPr>
        <p:spPr>
          <a:xfrm rot="16200000">
            <a:off x="2178119" y="6344689"/>
            <a:ext cx="851535" cy="276448"/>
          </a:xfrm>
          <a:prstGeom prst="rect">
            <a:avLst/>
          </a:prstGeom>
          <a:noFill/>
        </p:spPr>
        <p:txBody>
          <a:bodyPr wrap="none" anchor="ctr" lIns="0" rIns="0" tIns="0" bIns="0">
            <a:noAutofit/>
          </a:bodyPr>
          <a:lstStyle/>
          <a:p>
            <a:pPr algn="ctr"/>
            <a:r>
              <a:rPr sz="800" b="0" i="0">
                <a:solidFill>
                  <a:srgbClr val="4C3F8C"/>
                </a:solidFill>
                <a:latin typeface="Arial"/>
              </a:rPr>
              <a:t>10 M | voxel
hyper 10 M vox</a:t>
            </a:r>
          </a:p>
        </p:txBody>
      </p:sp>
      <p:sp>
        <p:nvSpPr>
          <p:cNvPr id="182" name="TextBox 181"/>
          <p:cNvSpPr txBox="1"/>
          <p:nvPr/>
        </p:nvSpPr>
        <p:spPr>
          <a:xfrm rot="16200000">
            <a:off x="2550447" y="6280681"/>
            <a:ext cx="691515" cy="276448"/>
          </a:xfrm>
          <a:prstGeom prst="rect">
            <a:avLst/>
          </a:prstGeom>
          <a:noFill/>
        </p:spPr>
        <p:txBody>
          <a:bodyPr wrap="none" anchor="ctr" lIns="0" rIns="0" tIns="0" bIns="0">
            <a:noAutofit/>
          </a:bodyPr>
          <a:lstStyle/>
          <a:p>
            <a:pPr algn="ctr"/>
            <a:r>
              <a:rPr sz="800" b="0" i="0">
                <a:solidFill>
                  <a:srgbClr val="4C3F8C"/>
                </a:solidFill>
                <a:latin typeface="Arial"/>
              </a:rPr>
              <a:t>10 M | voxel
hyper 100 M</a:t>
            </a:r>
          </a:p>
        </p:txBody>
      </p:sp>
      <p:sp>
        <p:nvSpPr>
          <p:cNvPr id="183" name="TextBox 182"/>
          <p:cNvSpPr txBox="1"/>
          <p:nvPr/>
        </p:nvSpPr>
        <p:spPr>
          <a:xfrm rot="16200000">
            <a:off x="2819905" y="6298969"/>
            <a:ext cx="737235" cy="276448"/>
          </a:xfrm>
          <a:prstGeom prst="rect">
            <a:avLst/>
          </a:prstGeom>
          <a:noFill/>
        </p:spPr>
        <p:txBody>
          <a:bodyPr wrap="none" anchor="ctr" lIns="0" rIns="0" tIns="0" bIns="0">
            <a:noAutofit/>
          </a:bodyPr>
          <a:lstStyle/>
          <a:p>
            <a:pPr algn="ctr"/>
            <a:r>
              <a:rPr sz="800" b="0" i="0">
                <a:solidFill>
                  <a:srgbClr val="4C3F8C"/>
                </a:solidFill>
                <a:latin typeface="Arial"/>
              </a:rPr>
              <a:t>100 M | voxel
hyper 100 M</a:t>
            </a:r>
          </a:p>
        </p:txBody>
      </p:sp>
      <p:sp>
        <p:nvSpPr>
          <p:cNvPr id="184" name="TextBox 183"/>
          <p:cNvSpPr txBox="1"/>
          <p:nvPr/>
        </p:nvSpPr>
        <p:spPr>
          <a:xfrm rot="16200000">
            <a:off x="3135083" y="6280681"/>
            <a:ext cx="691515" cy="276448"/>
          </a:xfrm>
          <a:prstGeom prst="rect">
            <a:avLst/>
          </a:prstGeom>
          <a:noFill/>
        </p:spPr>
        <p:txBody>
          <a:bodyPr wrap="none" anchor="ctr" lIns="0" rIns="0" tIns="0" bIns="0">
            <a:noAutofit/>
          </a:bodyPr>
          <a:lstStyle/>
          <a:p>
            <a:pPr algn="ctr"/>
            <a:r>
              <a:rPr sz="800" b="0" i="0">
                <a:solidFill>
                  <a:srgbClr val="4C3F8C"/>
                </a:solidFill>
                <a:latin typeface="Arial"/>
              </a:rPr>
              <a:t>1 B | voxel
hyper 100 M</a:t>
            </a:r>
          </a:p>
        </p:txBody>
      </p:sp>
      <p:sp>
        <p:nvSpPr>
          <p:cNvPr id="185" name="TextBox 184"/>
          <p:cNvSpPr txBox="1"/>
          <p:nvPr/>
        </p:nvSpPr>
        <p:spPr>
          <a:xfrm>
            <a:off x="1037405" y="4048658"/>
            <a:ext cx="554355" cy="276448"/>
          </a:xfrm>
          <a:prstGeom prst="rect">
            <a:avLst/>
          </a:prstGeom>
          <a:noFill/>
        </p:spPr>
        <p:txBody>
          <a:bodyPr wrap="none" anchor="ctr" lIns="0" rIns="0" tIns="0" bIns="0">
            <a:noAutofit/>
          </a:bodyPr>
          <a:lstStyle/>
          <a:p>
            <a:pPr algn="r"/>
            <a:r>
              <a:rPr sz="800" b="0" i="0">
                <a:solidFill>
                  <a:srgbClr val="8E7CC3"/>
                </a:solidFill>
                <a:latin typeface="Arial"/>
              </a:rPr>
              <a:t>3 M | 268
hyper 3 M</a:t>
            </a:r>
          </a:p>
        </p:txBody>
      </p:sp>
      <p:sp>
        <p:nvSpPr>
          <p:cNvPr id="186" name="TextBox 185"/>
          <p:cNvSpPr txBox="1"/>
          <p:nvPr/>
        </p:nvSpPr>
        <p:spPr>
          <a:xfrm>
            <a:off x="1011687" y="4340976"/>
            <a:ext cx="582930" cy="276448"/>
          </a:xfrm>
          <a:prstGeom prst="rect">
            <a:avLst/>
          </a:prstGeom>
          <a:noFill/>
        </p:spPr>
        <p:txBody>
          <a:bodyPr wrap="none" anchor="ctr" lIns="0" rIns="0" tIns="0" bIns="0">
            <a:noAutofit/>
          </a:bodyPr>
          <a:lstStyle/>
          <a:p>
            <a:pPr algn="r"/>
            <a:r>
              <a:rPr sz="800" b="0" i="0">
                <a:solidFill>
                  <a:srgbClr val="8E7CC3"/>
                </a:solidFill>
                <a:latin typeface="Arial"/>
              </a:rPr>
              <a:t>10 M | 268
hyper 3 M</a:t>
            </a:r>
          </a:p>
        </p:txBody>
      </p:sp>
      <p:sp>
        <p:nvSpPr>
          <p:cNvPr id="187" name="TextBox 186"/>
          <p:cNvSpPr txBox="1"/>
          <p:nvPr/>
        </p:nvSpPr>
        <p:spPr>
          <a:xfrm>
            <a:off x="697934" y="4633293"/>
            <a:ext cx="931545" cy="276448"/>
          </a:xfrm>
          <a:prstGeom prst="rect">
            <a:avLst/>
          </a:prstGeom>
          <a:noFill/>
        </p:spPr>
        <p:txBody>
          <a:bodyPr wrap="none" anchor="ctr" lIns="0" rIns="0" tIns="0" bIns="0">
            <a:noAutofit/>
          </a:bodyPr>
          <a:lstStyle/>
          <a:p>
            <a:pPr algn="r"/>
            <a:r>
              <a:rPr sz="800" b="0" i="0">
                <a:solidFill>
                  <a:srgbClr val="8E7CC3"/>
                </a:solidFill>
                <a:latin typeface="Arial"/>
              </a:rPr>
              <a:t>10 M | 1000
hyper 10 M/1000</a:t>
            </a:r>
          </a:p>
        </p:txBody>
      </p:sp>
      <p:sp>
        <p:nvSpPr>
          <p:cNvPr id="188" name="TextBox 187"/>
          <p:cNvSpPr txBox="1"/>
          <p:nvPr/>
        </p:nvSpPr>
        <p:spPr>
          <a:xfrm>
            <a:off x="769943" y="4925611"/>
            <a:ext cx="851535" cy="276448"/>
          </a:xfrm>
          <a:prstGeom prst="rect">
            <a:avLst/>
          </a:prstGeom>
          <a:noFill/>
        </p:spPr>
        <p:txBody>
          <a:bodyPr wrap="none" anchor="ctr" lIns="0" rIns="0" tIns="0" bIns="0">
            <a:noAutofit/>
          </a:bodyPr>
          <a:lstStyle/>
          <a:p>
            <a:pPr algn="r"/>
            <a:r>
              <a:rPr sz="800" b="0" i="0">
                <a:solidFill>
                  <a:srgbClr val="4C3F8C"/>
                </a:solidFill>
                <a:latin typeface="Arial"/>
              </a:rPr>
              <a:t>10 M | voxel
hyper 10 M vox</a:t>
            </a:r>
          </a:p>
        </p:txBody>
      </p:sp>
      <p:sp>
        <p:nvSpPr>
          <p:cNvPr id="189" name="TextBox 188"/>
          <p:cNvSpPr txBox="1"/>
          <p:nvPr/>
        </p:nvSpPr>
        <p:spPr>
          <a:xfrm>
            <a:off x="913961" y="5217929"/>
            <a:ext cx="691515" cy="276448"/>
          </a:xfrm>
          <a:prstGeom prst="rect">
            <a:avLst/>
          </a:prstGeom>
          <a:noFill/>
        </p:spPr>
        <p:txBody>
          <a:bodyPr wrap="none" anchor="ctr" lIns="0" rIns="0" tIns="0" bIns="0">
            <a:noAutofit/>
          </a:bodyPr>
          <a:lstStyle/>
          <a:p>
            <a:pPr algn="r"/>
            <a:r>
              <a:rPr sz="800" b="0" i="0">
                <a:solidFill>
                  <a:srgbClr val="4C3F8C"/>
                </a:solidFill>
                <a:latin typeface="Arial"/>
              </a:rPr>
              <a:t>10 M | voxel
hyper 100 M</a:t>
            </a:r>
          </a:p>
        </p:txBody>
      </p:sp>
      <p:sp>
        <p:nvSpPr>
          <p:cNvPr id="190" name="TextBox 189"/>
          <p:cNvSpPr txBox="1"/>
          <p:nvPr/>
        </p:nvSpPr>
        <p:spPr>
          <a:xfrm>
            <a:off x="872813" y="5510247"/>
            <a:ext cx="737235" cy="276448"/>
          </a:xfrm>
          <a:prstGeom prst="rect">
            <a:avLst/>
          </a:prstGeom>
          <a:noFill/>
        </p:spPr>
        <p:txBody>
          <a:bodyPr wrap="none" anchor="ctr" lIns="0" rIns="0" tIns="0" bIns="0">
            <a:noAutofit/>
          </a:bodyPr>
          <a:lstStyle/>
          <a:p>
            <a:pPr algn="r"/>
            <a:r>
              <a:rPr sz="800" b="0" i="0">
                <a:solidFill>
                  <a:srgbClr val="4C3F8C"/>
                </a:solidFill>
                <a:latin typeface="Arial"/>
              </a:rPr>
              <a:t>100 M | voxel
hyper 100 M</a:t>
            </a:r>
          </a:p>
        </p:txBody>
      </p:sp>
      <p:sp>
        <p:nvSpPr>
          <p:cNvPr id="191" name="TextBox 190"/>
          <p:cNvSpPr txBox="1"/>
          <p:nvPr/>
        </p:nvSpPr>
        <p:spPr>
          <a:xfrm>
            <a:off x="913961" y="5802565"/>
            <a:ext cx="691515" cy="276448"/>
          </a:xfrm>
          <a:prstGeom prst="rect">
            <a:avLst/>
          </a:prstGeom>
          <a:noFill/>
        </p:spPr>
        <p:txBody>
          <a:bodyPr wrap="none" anchor="ctr" lIns="0" rIns="0" tIns="0" bIns="0">
            <a:noAutofit/>
          </a:bodyPr>
          <a:lstStyle/>
          <a:p>
            <a:pPr algn="r"/>
            <a:r>
              <a:rPr sz="800" b="0" i="0">
                <a:solidFill>
                  <a:srgbClr val="4C3F8C"/>
                </a:solidFill>
                <a:latin typeface="Arial"/>
              </a:rPr>
              <a:t>1 B | voxel
hyper 100 M</a:t>
            </a:r>
          </a:p>
        </p:txBody>
      </p:sp>
      <p:sp>
        <p:nvSpPr>
          <p:cNvPr id="192" name="TextBox 191"/>
          <p:cNvSpPr txBox="1"/>
          <p:nvPr/>
        </p:nvSpPr>
        <p:spPr>
          <a:xfrm>
            <a:off x="4485311" y="4819372"/>
            <a:ext cx="2848927" cy="314079"/>
          </a:xfrm>
          <a:prstGeom prst="rect">
            <a:avLst/>
          </a:prstGeom>
          <a:noFill/>
        </p:spPr>
        <p:txBody>
          <a:bodyPr wrap="none" anchor="ctr" lIns="0" rIns="0" tIns="0" bIns="0">
            <a:noAutofit/>
          </a:bodyPr>
          <a:lstStyle/>
          <a:p>
            <a:pPr algn="ctr"/>
            <a:r>
              <a:rPr sz="900" b="0" i="0">
                <a:solidFill>
                  <a:srgbClr val="000000"/>
                </a:solidFill>
                <a:latin typeface="Arial"/>
              </a:rPr>
              <a:t>Spearman ρ over the 12 subjects x 12 edges
(144 cells) of the raw NP profile</a:t>
            </a:r>
          </a:p>
        </p:txBody>
      </p:sp>
      <p:sp>
        <p:nvSpPr>
          <p:cNvPr id="193" name="TextBox 192"/>
          <p:cNvSpPr txBox="1"/>
          <p:nvPr/>
        </p:nvSpPr>
        <p:spPr>
          <a:xfrm>
            <a:off x="4866618" y="4718112"/>
            <a:ext cx="214312" cy="119186"/>
          </a:xfrm>
          <a:prstGeom prst="rect">
            <a:avLst/>
          </a:prstGeom>
          <a:noFill/>
        </p:spPr>
        <p:txBody>
          <a:bodyPr wrap="none" anchor="ctr" lIns="0" rIns="0" tIns="0" bIns="0">
            <a:noAutofit/>
          </a:bodyPr>
          <a:lstStyle/>
          <a:p>
            <a:pPr algn="ctr"/>
            <a:r>
              <a:rPr sz="800" b="0" i="0">
                <a:solidFill>
                  <a:srgbClr val="000000"/>
                </a:solidFill>
                <a:latin typeface="Arial"/>
              </a:rPr>
              <a:t>-0.2</a:t>
            </a:r>
          </a:p>
        </p:txBody>
      </p:sp>
      <p:sp>
        <p:nvSpPr>
          <p:cNvPr id="194" name="TextBox 193"/>
          <p:cNvSpPr txBox="1"/>
          <p:nvPr/>
        </p:nvSpPr>
        <p:spPr>
          <a:xfrm>
            <a:off x="5824050" y="4718112"/>
            <a:ext cx="171450" cy="119186"/>
          </a:xfrm>
          <a:prstGeom prst="rect">
            <a:avLst/>
          </a:prstGeom>
          <a:noFill/>
        </p:spPr>
        <p:txBody>
          <a:bodyPr wrap="none" anchor="ctr" lIns="0" rIns="0" tIns="0" bIns="0">
            <a:noAutofit/>
          </a:bodyPr>
          <a:lstStyle/>
          <a:p>
            <a:pPr algn="ctr"/>
            <a:r>
              <a:rPr sz="800" b="0" i="0">
                <a:solidFill>
                  <a:srgbClr val="000000"/>
                </a:solidFill>
                <a:latin typeface="Arial"/>
              </a:rPr>
              <a:t>0.0</a:t>
            </a:r>
          </a:p>
        </p:txBody>
      </p:sp>
      <p:sp>
        <p:nvSpPr>
          <p:cNvPr id="195" name="TextBox 194"/>
          <p:cNvSpPr txBox="1"/>
          <p:nvPr/>
        </p:nvSpPr>
        <p:spPr>
          <a:xfrm>
            <a:off x="6292050" y="4718112"/>
            <a:ext cx="171450" cy="119186"/>
          </a:xfrm>
          <a:prstGeom prst="rect">
            <a:avLst/>
          </a:prstGeom>
          <a:noFill/>
        </p:spPr>
        <p:txBody>
          <a:bodyPr wrap="none" anchor="ctr" lIns="0" rIns="0" tIns="0" bIns="0">
            <a:noAutofit/>
          </a:bodyPr>
          <a:lstStyle/>
          <a:p>
            <a:pPr algn="ctr"/>
            <a:r>
              <a:rPr sz="800" b="0" i="0">
                <a:solidFill>
                  <a:srgbClr val="000000"/>
                </a:solidFill>
                <a:latin typeface="Arial"/>
              </a:rPr>
              <a:t>0.5</a:t>
            </a:r>
          </a:p>
        </p:txBody>
      </p:sp>
      <p:sp>
        <p:nvSpPr>
          <p:cNvPr id="196" name="TextBox 195"/>
          <p:cNvSpPr txBox="1"/>
          <p:nvPr/>
        </p:nvSpPr>
        <p:spPr>
          <a:xfrm>
            <a:off x="6760049" y="4718112"/>
            <a:ext cx="171450" cy="119186"/>
          </a:xfrm>
          <a:prstGeom prst="rect">
            <a:avLst/>
          </a:prstGeom>
          <a:noFill/>
        </p:spPr>
        <p:txBody>
          <a:bodyPr wrap="none" anchor="ctr" lIns="0" rIns="0" tIns="0" bIns="0">
            <a:noAutofit/>
          </a:bodyPr>
          <a:lstStyle/>
          <a:p>
            <a:pPr algn="ctr"/>
            <a:r>
              <a:rPr sz="800" b="0" i="0">
                <a:solidFill>
                  <a:srgbClr val="000000"/>
                </a:solidFill>
                <a:latin typeface="Arial"/>
              </a:rPr>
              <a:t>1.0</a:t>
            </a:r>
          </a:p>
        </p:txBody>
      </p:sp>
      <p:sp>
        <p:nvSpPr>
          <p:cNvPr id="197" name="TextBox 196"/>
          <p:cNvSpPr txBox="1"/>
          <p:nvPr/>
        </p:nvSpPr>
        <p:spPr>
          <a:xfrm>
            <a:off x="640598" y="468106"/>
            <a:ext cx="97155" cy="163881"/>
          </a:xfrm>
          <a:prstGeom prst="rect">
            <a:avLst/>
          </a:prstGeom>
          <a:noFill/>
        </p:spPr>
        <p:txBody>
          <a:bodyPr wrap="none" anchor="ctr" lIns="0" rIns="0" tIns="0" bIns="0">
            <a:noAutofit/>
          </a:bodyPr>
          <a:lstStyle/>
          <a:p>
            <a:pPr algn="l"/>
            <a:r>
              <a:rPr sz="1100" b="1" i="0">
                <a:solidFill>
                  <a:srgbClr val="000000"/>
                </a:solidFill>
                <a:latin typeface="Arial"/>
              </a:rPr>
              <a:t>a</a:t>
            </a:r>
          </a:p>
        </p:txBody>
      </p:sp>
      <p:sp>
        <p:nvSpPr>
          <p:cNvPr id="198" name="TextBox 197"/>
          <p:cNvSpPr txBox="1"/>
          <p:nvPr/>
        </p:nvSpPr>
        <p:spPr>
          <a:xfrm>
            <a:off x="4032741" y="468106"/>
            <a:ext cx="105727" cy="163881"/>
          </a:xfrm>
          <a:prstGeom prst="rect">
            <a:avLst/>
          </a:prstGeom>
          <a:noFill/>
        </p:spPr>
        <p:txBody>
          <a:bodyPr wrap="none" anchor="ctr" lIns="0" rIns="0" tIns="0" bIns="0">
            <a:noAutofit/>
          </a:bodyPr>
          <a:lstStyle/>
          <a:p>
            <a:pPr algn="l"/>
            <a:r>
              <a:rPr sz="1100" b="1" i="0">
                <a:solidFill>
                  <a:srgbClr val="000000"/>
                </a:solidFill>
                <a:latin typeface="Arial"/>
              </a:rPr>
              <a:t>b</a:t>
            </a:r>
          </a:p>
        </p:txBody>
      </p:sp>
      <p:sp>
        <p:nvSpPr>
          <p:cNvPr id="199" name="TextBox 198"/>
          <p:cNvSpPr txBox="1"/>
          <p:nvPr/>
        </p:nvSpPr>
        <p:spPr>
          <a:xfrm>
            <a:off x="640598" y="3846331"/>
            <a:ext cx="97155" cy="163881"/>
          </a:xfrm>
          <a:prstGeom prst="rect">
            <a:avLst/>
          </a:prstGeom>
          <a:noFill/>
        </p:spPr>
        <p:txBody>
          <a:bodyPr wrap="none" anchor="ctr" lIns="0" rIns="0" tIns="0" bIns="0">
            <a:noAutofit/>
          </a:bodyPr>
          <a:lstStyle/>
          <a:p>
            <a:pPr algn="l"/>
            <a:r>
              <a:rPr sz="1100" b="1" i="0">
                <a:solidFill>
                  <a:srgbClr val="000000"/>
                </a:solidFill>
                <a:latin typeface="Arial"/>
              </a:rPr>
              <a:t>c</a:t>
            </a:r>
          </a:p>
        </p:txBody>
      </p:sp>
      <p:sp>
        <p:nvSpPr>
          <p:cNvPr id="200" name="TextBox 199"/>
          <p:cNvSpPr txBox="1"/>
          <p:nvPr/>
        </p:nvSpPr>
        <p:spPr>
          <a:xfrm>
            <a:off x="540000" y="7026450"/>
            <a:ext cx="6480000" cy="2089800"/>
          </a:xfrm>
          <a:prstGeom prst="rect">
            <a:avLst/>
          </a:prstGeom>
          <a:noFill/>
        </p:spPr>
        <p:txBody>
          <a:bodyPr wrap="square" lIns="0" rIns="0" tIns="0" bIns="0">
            <a:spAutoFit/>
          </a:bodyPr>
          <a:lstStyle/>
          <a:p>
            <a:pPr algn="l"/>
            <a:r>
              <a:rPr sz="800" b="1">
                <a:latin typeface="Arial"/>
              </a:rPr>
              <a:t>Supplementary Fig. S5 | Cross-build agreement of the 12-edge NP profile follows the assimilated hyperparameters, and loosens under perturbation. </a:t>
            </a:r>
            <a:r>
              <a:rPr sz="800" b="0">
                <a:latin typeface="Arial"/>
              </a:rPr>
              <a:t>Each matrix is the agreement between every pair of the seven digital-twin-brain builds in the same quantity: one Spearman rho over all 12 subjects x 12 edges = 144 cells of the raw NP profile, with no per-subject averaging, no Fisher transform and no standardisation. Rows and columns give the build (simulated neurons | parcellation) above the hyperparameter set it was assimilated with; regional builds are printed in light purple and voxel builds in dark purple. The colour bar is shared by the three panels and is white at zero, so the negative entries that appear after perturbation are grey rather than clipped; the matrices are symmetric and the diagonal is 1 by construction. Rank correlation is used because the builds have very different tail behaviour: the 10 M voxel build assimilated with its own hyperparameters has excess kurtosis 10.6, and its Pearson agreement with the 100 M hyperparameter voxel builds falls from 0.21 to -0.04 when the five most extreme of the 144 cells are dropped, whereas Spearman moves only from 0.07 to -0.02; over the 21 off-diagonal pairs the two metrics rank almost identically (rho = 0.96, largest shift 0.14) and the Pearson matrix is kept in fig3c_cross_scale_similarity_pearson.csv. Repeat-averaged profiles are used wherever repeats exist (the 3 M, 10 M | 268 and archive voxel builds, five runs each); the 10 M voxel own-hyperparameter build is a single run. </a:t>
            </a:r>
            <a:r>
              <a:rPr sz="800" b="1">
                <a:latin typeface="Arial"/>
              </a:rPr>
              <a:t>a,</a:t>
            </a:r>
            <a:r>
              <a:rPr sz="800" b="0">
                <a:latin typeface="Arial"/>
              </a:rPr>
              <a:t> baseline. Agreement tracks the hyperparameter set, not the model scale: the two builds that share the 3 M hyperparameters agree at rho = 0.89 although one is a 3 M and the other a 10 M model, and the three voxel builds that share the 100 M hyperparameters agree at 0.87-0.93, while agreement across the two families is only 0.40-0.52. The 10 M voxel build assimilated with its own hyperparameters agrees with no other build (+0.06 to +0.15). </a:t>
            </a:r>
            <a:r>
              <a:rPr sz="800" b="1">
                <a:latin typeface="Arial"/>
              </a:rPr>
              <a:t>b,</a:t>
            </a:r>
            <a:r>
              <a:rPr sz="800" b="0">
                <a:latin typeface="Arial"/>
              </a:rPr>
              <a:t> after the AMPA perturbation. The regional block tightens (0.76-0.94 against 0.26-0.89 at baseline) while the voxel block loosens (0.35-0.86 against 0.87-0.93), and the first negative entries appear (minimum -0.07). </a:t>
            </a:r>
            <a:r>
              <a:rPr sz="800" b="1">
                <a:latin typeface="Arial"/>
              </a:rPr>
              <a:t>c,</a:t>
            </a:r>
            <a:r>
              <a:rPr sz="800" b="0">
                <a:latin typeface="Arial"/>
              </a:rPr>
              <a:t> after AMPA plus GABA-A. The two 268-region builds become nearly interchangeable (rho = 0.99), the voxel block stays together (0.70-0.83) but its agreement with the regional builds drops to 0.11-0.44, and the own-hyperparameter build turns negative against every voxel build (-0.19 to -0.15, against +0.07 to +0.10 at baseline). All entries in b and c use the full 144 cells; the counts are tabulated in fig3c_cross_scale_n_cells_ampa.csv and fig3c_cross_scale_n_cells_gaba.csv.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